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4"/>
  </p:sldMasterIdLst>
  <p:notesMasterIdLst>
    <p:notesMasterId r:id="rId25"/>
  </p:notesMasterIdLst>
  <p:handoutMasterIdLst>
    <p:handoutMasterId r:id="rId26"/>
  </p:handoutMasterIdLst>
  <p:sldIdLst>
    <p:sldId id="269" r:id="rId5"/>
    <p:sldId id="257" r:id="rId6"/>
    <p:sldId id="270" r:id="rId7"/>
    <p:sldId id="258" r:id="rId8"/>
    <p:sldId id="273" r:id="rId9"/>
    <p:sldId id="277" r:id="rId10"/>
    <p:sldId id="279" r:id="rId11"/>
    <p:sldId id="281" r:id="rId12"/>
    <p:sldId id="283" r:id="rId13"/>
    <p:sldId id="296" r:id="rId14"/>
    <p:sldId id="271" r:id="rId15"/>
    <p:sldId id="274" r:id="rId16"/>
    <p:sldId id="275" r:id="rId17"/>
    <p:sldId id="276" r:id="rId18"/>
    <p:sldId id="285" r:id="rId19"/>
    <p:sldId id="288" r:id="rId20"/>
    <p:sldId id="290" r:id="rId21"/>
    <p:sldId id="291" r:id="rId22"/>
    <p:sldId id="297" r:id="rId23"/>
    <p:sldId id="29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58"/>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mborn, Reggie" userId="565a8eea-ea34-4c89-8d8f-c64091354c36" providerId="ADAL" clId="{DB8425A5-378F-4619-AF8A-122AF5CFDA53}"/>
    <pc:docChg chg="delSld modSld">
      <pc:chgData name="Lamborn, Reggie" userId="565a8eea-ea34-4c89-8d8f-c64091354c36" providerId="ADAL" clId="{DB8425A5-378F-4619-AF8A-122AF5CFDA53}" dt="2026-02-18T18:27:57.571" v="2" actId="1076"/>
      <pc:docMkLst>
        <pc:docMk/>
      </pc:docMkLst>
      <pc:sldChg chg="modSp mod">
        <pc:chgData name="Lamborn, Reggie" userId="565a8eea-ea34-4c89-8d8f-c64091354c36" providerId="ADAL" clId="{DB8425A5-378F-4619-AF8A-122AF5CFDA53}" dt="2026-02-18T18:27:37.026" v="0" actId="20577"/>
        <pc:sldMkLst>
          <pc:docMk/>
          <pc:sldMk cId="3038548544" sldId="285"/>
        </pc:sldMkLst>
        <pc:spChg chg="mod">
          <ac:chgData name="Lamborn, Reggie" userId="565a8eea-ea34-4c89-8d8f-c64091354c36" providerId="ADAL" clId="{DB8425A5-378F-4619-AF8A-122AF5CFDA53}" dt="2026-02-18T18:27:37.026" v="0" actId="20577"/>
          <ac:spMkLst>
            <pc:docMk/>
            <pc:sldMk cId="3038548544" sldId="285"/>
            <ac:spMk id="3" creationId="{00000000-0000-0000-0000-000000000000}"/>
          </ac:spMkLst>
        </pc:spChg>
      </pc:sldChg>
      <pc:sldChg chg="del">
        <pc:chgData name="Lamborn, Reggie" userId="565a8eea-ea34-4c89-8d8f-c64091354c36" providerId="ADAL" clId="{DB8425A5-378F-4619-AF8A-122AF5CFDA53}" dt="2026-02-18T18:27:40.511" v="1" actId="47"/>
        <pc:sldMkLst>
          <pc:docMk/>
          <pc:sldMk cId="1638822990" sldId="287"/>
        </pc:sldMkLst>
      </pc:sldChg>
      <pc:sldChg chg="modSp mod">
        <pc:chgData name="Lamborn, Reggie" userId="565a8eea-ea34-4c89-8d8f-c64091354c36" providerId="ADAL" clId="{DB8425A5-378F-4619-AF8A-122AF5CFDA53}" dt="2026-02-18T18:27:57.571" v="2" actId="1076"/>
        <pc:sldMkLst>
          <pc:docMk/>
          <pc:sldMk cId="1258436628" sldId="290"/>
        </pc:sldMkLst>
        <pc:spChg chg="mod">
          <ac:chgData name="Lamborn, Reggie" userId="565a8eea-ea34-4c89-8d8f-c64091354c36" providerId="ADAL" clId="{DB8425A5-378F-4619-AF8A-122AF5CFDA53}" dt="2026-02-18T18:27:57.571" v="2" actId="1076"/>
          <ac:spMkLst>
            <pc:docMk/>
            <pc:sldMk cId="1258436628" sldId="290"/>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84A682B-60B7-244F-AF8C-16AA5F067F6C}" type="datetimeFigureOut">
              <a:rPr lang="en-US" smtClean="0"/>
              <a:t>2/18/2026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B285591-F2ED-7B4B-AAEB-54F8DF9914E5}" type="slidenum">
              <a:rPr lang="en-US" smtClean="0"/>
              <a:t>‹#›</a:t>
            </a:fld>
            <a:endParaRPr lang="en-US"/>
          </a:p>
        </p:txBody>
      </p:sp>
    </p:spTree>
    <p:extLst>
      <p:ext uri="{BB962C8B-B14F-4D97-AF65-F5344CB8AC3E}">
        <p14:creationId xmlns:p14="http://schemas.microsoft.com/office/powerpoint/2010/main" val="19199291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2C0177D-0B34-354A-A985-A7708375935C}" type="datetimeFigureOut">
              <a:rPr lang="en-US" smtClean="0"/>
              <a:t>2/18/2026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D3E557-29CA-2942-B5B0-BBAE067F5736}" type="slidenum">
              <a:rPr lang="en-US" smtClean="0"/>
              <a:t>‹#›</a:t>
            </a:fld>
            <a:endParaRPr lang="en-US"/>
          </a:p>
        </p:txBody>
      </p:sp>
    </p:spTree>
    <p:extLst>
      <p:ext uri="{BB962C8B-B14F-4D97-AF65-F5344CB8AC3E}">
        <p14:creationId xmlns:p14="http://schemas.microsoft.com/office/powerpoint/2010/main" val="52516197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Spill on floor, trip</a:t>
            </a:r>
            <a:r>
              <a:rPr lang="en-US" baseline="0" dirty="0"/>
              <a:t> over tubing, broken equipment or furniture relates to environment which causes accidental fall – determine preventability</a:t>
            </a:r>
          </a:p>
          <a:p>
            <a:r>
              <a:rPr lang="en-US" baseline="0" dirty="0"/>
              <a:t>Postural hypotension, weak or impaired gait, loss of balance, confusion, centrally acting medication relates to know intrinsic/extrinsic risk factors which causes anticipated physiological falls – determine preventability</a:t>
            </a:r>
          </a:p>
          <a:p>
            <a:r>
              <a:rPr lang="en-US" baseline="0" dirty="0"/>
              <a:t>Heart attach, seizure, drop attack relate to unknown sudden condition that cannot be predicted before the first occurrence which contributes to unanticipated physiological falls – unpreventable falls</a:t>
            </a:r>
          </a:p>
          <a:p>
            <a:r>
              <a:rPr lang="en-US" baseline="0" dirty="0"/>
              <a:t>Anger, temper tantrum, disruptive behavior contributes to behavioral risk factors which can lead to intentional falls – unpreventable falls</a:t>
            </a:r>
            <a:endParaRPr lang="en-US" dirty="0"/>
          </a:p>
        </p:txBody>
      </p:sp>
      <p:sp>
        <p:nvSpPr>
          <p:cNvPr id="4" name="Slide Number Placeholder 3"/>
          <p:cNvSpPr>
            <a:spLocks noGrp="1"/>
          </p:cNvSpPr>
          <p:nvPr>
            <p:ph type="sldNum" sz="quarter" idx="10"/>
          </p:nvPr>
        </p:nvSpPr>
        <p:spPr/>
        <p:txBody>
          <a:bodyPr/>
          <a:lstStyle/>
          <a:p>
            <a:fld id="{DFD3E557-29CA-2942-B5B0-BBAE067F5736}" type="slidenum">
              <a:rPr lang="en-US" smtClean="0"/>
              <a:t>9</a:t>
            </a:fld>
            <a:endParaRPr lang="en-US"/>
          </a:p>
        </p:txBody>
      </p:sp>
    </p:spTree>
    <p:extLst>
      <p:ext uri="{BB962C8B-B14F-4D97-AF65-F5344CB8AC3E}">
        <p14:creationId xmlns:p14="http://schemas.microsoft.com/office/powerpoint/2010/main" val="36048742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 descr="cover9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userDrawn="1">
            <p:ph type="ctrTitle" hasCustomPrompt="1"/>
          </p:nvPr>
        </p:nvSpPr>
        <p:spPr>
          <a:xfrm>
            <a:off x="338880" y="1586843"/>
            <a:ext cx="7772400" cy="730127"/>
          </a:xfrm>
        </p:spPr>
        <p:txBody>
          <a:bodyPr anchor="b" anchorCtr="0">
            <a:normAutofit/>
          </a:bodyPr>
          <a:lstStyle>
            <a:lvl1pPr algn="l">
              <a:defRPr sz="2000" b="1">
                <a:solidFill>
                  <a:schemeClr val="tx1"/>
                </a:solidFill>
                <a:latin typeface="Georgia" panose="02040502050405020303" pitchFamily="18" charset="0"/>
                <a:cs typeface="Georgia" panose="02040502050405020303" pitchFamily="18" charset="0"/>
              </a:defRPr>
            </a:lvl1pPr>
          </a:lstStyle>
          <a:p>
            <a:r>
              <a:rPr lang="en-US" dirty="0"/>
              <a:t>CLICK TO EDIT MASTER TITLE STYLE</a:t>
            </a:r>
          </a:p>
        </p:txBody>
      </p:sp>
      <p:sp>
        <p:nvSpPr>
          <p:cNvPr id="3" name="Subtitle 2"/>
          <p:cNvSpPr>
            <a:spLocks noGrp="1"/>
          </p:cNvSpPr>
          <p:nvPr userDrawn="1">
            <p:ph type="subTitle" idx="1"/>
          </p:nvPr>
        </p:nvSpPr>
        <p:spPr>
          <a:xfrm>
            <a:off x="357696" y="2413135"/>
            <a:ext cx="7753584" cy="914813"/>
          </a:xfrm>
        </p:spPr>
        <p:txBody>
          <a:bodyPr>
            <a:noAutofit/>
          </a:bodyPr>
          <a:lstStyle>
            <a:lvl1pPr marL="0" indent="0" algn="l">
              <a:buNone/>
              <a:defRPr sz="1600">
                <a:solidFill>
                  <a:schemeClr val="tx1"/>
                </a:solidFill>
                <a:latin typeface="Georgia" panose="02040502050405020303"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009023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935650"/>
            <a:ext cx="8229600" cy="41905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0"/>
          </p:nvPr>
        </p:nvSpPr>
        <p:spPr/>
        <p:txBody>
          <a:bodyPr/>
          <a:lstStyle/>
          <a:p>
            <a:fld id="{9B27D237-6C0D-5549-BE11-2040A22CBC71}" type="slidenum">
              <a:rPr lang="en-US" smtClean="0"/>
              <a:pPr/>
              <a:t>‹#›</a:t>
            </a:fld>
            <a:endParaRPr lang="en-US" dirty="0"/>
          </a:p>
        </p:txBody>
      </p:sp>
    </p:spTree>
    <p:extLst>
      <p:ext uri="{BB962C8B-B14F-4D97-AF65-F5344CB8AC3E}">
        <p14:creationId xmlns:p14="http://schemas.microsoft.com/office/powerpoint/2010/main" val="2229877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7593" y="4406900"/>
            <a:ext cx="7772400" cy="1362075"/>
          </a:xfrm>
        </p:spPr>
        <p:txBody>
          <a:bodyPr anchor="t">
            <a:norm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53759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856225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23322"/>
            <a:ext cx="4038600" cy="4202841"/>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923322"/>
            <a:ext cx="4038600" cy="4202841"/>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a:p>
        </p:txBody>
      </p:sp>
    </p:spTree>
    <p:extLst>
      <p:ext uri="{BB962C8B-B14F-4D97-AF65-F5344CB8AC3E}">
        <p14:creationId xmlns:p14="http://schemas.microsoft.com/office/powerpoint/2010/main" val="1508298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732377"/>
            <a:ext cx="4040188" cy="63976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372139"/>
            <a:ext cx="4040188" cy="3706052"/>
          </a:xfrm>
        </p:spPr>
        <p:txBody>
          <a:bodyPr>
            <a:normAutofit/>
          </a:bodyPr>
          <a:lstStyle>
            <a:lvl1pPr>
              <a:defRPr sz="1600"/>
            </a:lvl1pPr>
            <a:lvl2pPr>
              <a:defRPr sz="1600"/>
            </a:lvl2pPr>
            <a:lvl3pPr>
              <a:defRPr sz="16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p:nvPr>
        </p:nvSpPr>
        <p:spPr>
          <a:xfrm>
            <a:off x="4645025" y="1732377"/>
            <a:ext cx="4041775" cy="63976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372139"/>
            <a:ext cx="4041775" cy="3706052"/>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9" name="Slide Number Placeholder 8"/>
          <p:cNvSpPr>
            <a:spLocks noGrp="1"/>
          </p:cNvSpPr>
          <p:nvPr>
            <p:ph type="sldNum" sz="quarter" idx="12"/>
          </p:nvPr>
        </p:nvSpPr>
        <p:spPr/>
        <p:txBody>
          <a:bodyPr/>
          <a:lstStyle/>
          <a:p>
            <a:fld id="{9B27D237-6C0D-5549-BE11-2040A22CBC71}" type="slidenum">
              <a:rPr lang="en-US" smtClean="0"/>
              <a:t>‹#›</a:t>
            </a:fld>
            <a:endParaRPr lang="en-US"/>
          </a:p>
        </p:txBody>
      </p:sp>
    </p:spTree>
    <p:extLst>
      <p:ext uri="{BB962C8B-B14F-4D97-AF65-F5344CB8AC3E}">
        <p14:creationId xmlns:p14="http://schemas.microsoft.com/office/powerpoint/2010/main" val="1862334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B27D237-6C0D-5549-BE11-2040A22CBC71}" type="slidenum">
              <a:rPr lang="en-US" smtClean="0"/>
              <a:t>‹#›</a:t>
            </a:fld>
            <a:endParaRPr lang="en-US"/>
          </a:p>
        </p:txBody>
      </p:sp>
    </p:spTree>
    <p:extLst>
      <p:ext uri="{BB962C8B-B14F-4D97-AF65-F5344CB8AC3E}">
        <p14:creationId xmlns:p14="http://schemas.microsoft.com/office/powerpoint/2010/main" val="3806173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27D237-6C0D-5549-BE11-2040A22CBC71}" type="slidenum">
              <a:rPr lang="en-US" smtClean="0"/>
              <a:t>‹#›</a:t>
            </a:fld>
            <a:endParaRPr lang="en-US"/>
          </a:p>
        </p:txBody>
      </p:sp>
    </p:spTree>
    <p:extLst>
      <p:ext uri="{BB962C8B-B14F-4D97-AF65-F5344CB8AC3E}">
        <p14:creationId xmlns:p14="http://schemas.microsoft.com/office/powerpoint/2010/main" val="2614254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997295"/>
            <a:ext cx="5111750" cy="4128867"/>
          </a:xfrm>
        </p:spPr>
        <p:txBody>
          <a:bodyPr>
            <a:normAutofit/>
          </a:bodyPr>
          <a:lstStyle>
            <a:lvl1pPr>
              <a:defRPr sz="1800"/>
            </a:lvl1pPr>
            <a:lvl2pPr>
              <a:defRPr sz="18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p:txBody>
      </p:sp>
      <p:sp>
        <p:nvSpPr>
          <p:cNvPr id="4" name="Text Placeholder 3"/>
          <p:cNvSpPr>
            <a:spLocks noGrp="1"/>
          </p:cNvSpPr>
          <p:nvPr>
            <p:ph type="body" sz="half" idx="2"/>
          </p:nvPr>
        </p:nvSpPr>
        <p:spPr>
          <a:xfrm>
            <a:off x="457200" y="1997296"/>
            <a:ext cx="3008313" cy="4128866"/>
          </a:xfrm>
          <a:solidFill>
            <a:srgbClr val="FFFFFF"/>
          </a:solidFill>
          <a:ln>
            <a:solidFill>
              <a:srgbClr val="BFBFBF"/>
            </a:solidFill>
          </a:ln>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891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2391824"/>
            <a:ext cx="5486400" cy="27240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682602"/>
            <a:ext cx="5486400" cy="61356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p>
            <a:fld id="{9B27D237-6C0D-5549-BE11-2040A22CBC71}" type="slidenum">
              <a:rPr lang="en-US" smtClean="0"/>
              <a:t>‹#›</a:t>
            </a:fld>
            <a:endParaRPr lang="en-US"/>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674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9B27D237-6C0D-5549-BE11-2040A22CBC71}" type="slidenum">
              <a:rPr lang="en-US" smtClean="0"/>
              <a:pPr/>
              <a:t>‹#›</a:t>
            </a:fld>
            <a:endParaRPr lang="en-US" dirty="0"/>
          </a:p>
        </p:txBody>
      </p:sp>
    </p:spTree>
    <p:extLst>
      <p:ext uri="{BB962C8B-B14F-4D97-AF65-F5344CB8AC3E}">
        <p14:creationId xmlns:p14="http://schemas.microsoft.com/office/powerpoint/2010/main" val="3669573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descr="background interior.pdf"/>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57200" y="274638"/>
            <a:ext cx="8229600" cy="129114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849348"/>
            <a:ext cx="8229600" cy="42768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4"/>
          </p:nvPr>
        </p:nvSpPr>
        <p:spPr>
          <a:xfrm>
            <a:off x="8490991" y="6249857"/>
            <a:ext cx="490750" cy="365125"/>
          </a:xfrm>
          <a:prstGeom prst="rect">
            <a:avLst/>
          </a:prstGeom>
        </p:spPr>
        <p:txBody>
          <a:bodyPr vert="horz" lIns="91440" tIns="45720" rIns="91440" bIns="45720" rtlCol="0" anchor="ctr"/>
          <a:lstStyle>
            <a:lvl1pPr algn="r">
              <a:defRPr sz="1000">
                <a:solidFill>
                  <a:schemeClr val="tx1"/>
                </a:solidFill>
                <a:latin typeface="Georgia"/>
                <a:cs typeface="Georgia"/>
              </a:defRPr>
            </a:lvl1pPr>
          </a:lstStyle>
          <a:p>
            <a:fld id="{9B27D237-6C0D-5549-BE11-2040A22CBC71}" type="slidenum">
              <a:rPr lang="en-US" smtClean="0"/>
              <a:pPr/>
              <a:t>‹#›</a:t>
            </a:fld>
            <a:endParaRPr lang="en-US" dirty="0"/>
          </a:p>
        </p:txBody>
      </p:sp>
      <p:sp>
        <p:nvSpPr>
          <p:cNvPr id="5" name="TextBox 4"/>
          <p:cNvSpPr txBox="1"/>
          <p:nvPr userDrawn="1"/>
        </p:nvSpPr>
        <p:spPr>
          <a:xfrm>
            <a:off x="457200" y="6284494"/>
            <a:ext cx="4311073" cy="276999"/>
          </a:xfrm>
          <a:prstGeom prst="rect">
            <a:avLst/>
          </a:prstGeom>
          <a:noFill/>
        </p:spPr>
        <p:txBody>
          <a:bodyPr wrap="square" rtlCol="0">
            <a:spAutoFit/>
          </a:bodyPr>
          <a:lstStyle/>
          <a:p>
            <a:r>
              <a:rPr lang="en-US" sz="1200" spc="100" dirty="0">
                <a:solidFill>
                  <a:schemeClr val="bg1">
                    <a:lumMod val="65000"/>
                  </a:schemeClr>
                </a:solidFill>
              </a:rPr>
              <a:t>VETERANS HEALTH</a:t>
            </a:r>
            <a:r>
              <a:rPr lang="en-US" sz="1200" spc="100" baseline="0" dirty="0">
                <a:solidFill>
                  <a:schemeClr val="bg1">
                    <a:lumMod val="65000"/>
                  </a:schemeClr>
                </a:solidFill>
              </a:rPr>
              <a:t> ADMINISTRATION</a:t>
            </a:r>
            <a:endParaRPr lang="en-US" sz="1200" spc="100" dirty="0">
              <a:solidFill>
                <a:schemeClr val="bg1">
                  <a:lumMod val="65000"/>
                </a:schemeClr>
              </a:solidFill>
            </a:endParaRPr>
          </a:p>
        </p:txBody>
      </p:sp>
    </p:spTree>
    <p:extLst>
      <p:ext uri="{BB962C8B-B14F-4D97-AF65-F5344CB8AC3E}">
        <p14:creationId xmlns:p14="http://schemas.microsoft.com/office/powerpoint/2010/main" val="1229106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p:txStyles>
    <p:titleStyle>
      <a:lvl1pPr algn="l" defTabSz="457200" rtl="0" eaLnBrk="1" latinLnBrk="0" hangingPunct="1">
        <a:spcBef>
          <a:spcPct val="0"/>
        </a:spcBef>
        <a:buNone/>
        <a:defRPr sz="2400" kern="1200">
          <a:solidFill>
            <a:schemeClr val="tx1"/>
          </a:solidFill>
          <a:latin typeface="Georgia"/>
          <a:ea typeface="+mj-ea"/>
          <a:cs typeface="Georgia"/>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Georgia" panose="02040502050405020303" pitchFamily="18" charset="0"/>
          <a:ea typeface="+mn-ea"/>
          <a:cs typeface="Georgia" panose="02040502050405020303" pitchFamily="18" charset="0"/>
        </a:defRPr>
      </a:lvl1pPr>
      <a:lvl2pPr marL="742950" indent="-285750" algn="l" defTabSz="457200" rtl="0" eaLnBrk="1" latinLnBrk="0" hangingPunct="1">
        <a:spcBef>
          <a:spcPct val="20000"/>
        </a:spcBef>
        <a:buFont typeface="Arial"/>
        <a:buChar char="–"/>
        <a:defRPr sz="1600" kern="1200">
          <a:solidFill>
            <a:schemeClr val="tx1"/>
          </a:solidFill>
          <a:latin typeface="Georgia" panose="02040502050405020303" pitchFamily="18" charset="0"/>
          <a:ea typeface="+mn-ea"/>
          <a:cs typeface="Georgia" panose="02040502050405020303" pitchFamily="18" charset="0"/>
        </a:defRPr>
      </a:lvl2pPr>
      <a:lvl3pPr marL="1143000" indent="-228600" algn="l" defTabSz="457200" rtl="0" eaLnBrk="1" latinLnBrk="0" hangingPunct="1">
        <a:spcBef>
          <a:spcPct val="20000"/>
        </a:spcBef>
        <a:buFont typeface="Arial"/>
        <a:buChar char="•"/>
        <a:defRPr sz="1400" kern="1200">
          <a:solidFill>
            <a:schemeClr val="tx1"/>
          </a:solidFill>
          <a:latin typeface="Georgia" panose="02040502050405020303" pitchFamily="18" charset="0"/>
          <a:ea typeface="+mn-ea"/>
          <a:cs typeface="Georgia" panose="02040502050405020303" pitchFamily="18" charset="0"/>
        </a:defRPr>
      </a:lvl3pPr>
      <a:lvl4pPr marL="1600200" indent="-228600" algn="l" defTabSz="457200" rtl="0" eaLnBrk="1" latinLnBrk="0" hangingPunct="1">
        <a:spcBef>
          <a:spcPct val="20000"/>
        </a:spcBef>
        <a:buFont typeface="Arial"/>
        <a:buChar char="–"/>
        <a:defRPr sz="1200" kern="1200">
          <a:solidFill>
            <a:schemeClr val="tx1"/>
          </a:solidFill>
          <a:latin typeface="Georgia" panose="02040502050405020303" pitchFamily="18" charset="0"/>
          <a:ea typeface="+mn-ea"/>
          <a:cs typeface="Georgia" panose="02040502050405020303" pitchFamily="18" charset="0"/>
        </a:defRPr>
      </a:lvl4pPr>
      <a:lvl5pPr marL="2057400" indent="-228600" algn="l" defTabSz="457200" rtl="0" eaLnBrk="1" latinLnBrk="0" hangingPunct="1">
        <a:spcBef>
          <a:spcPct val="20000"/>
        </a:spcBef>
        <a:buFont typeface="Arial"/>
        <a:buChar char="»"/>
        <a:defRPr sz="12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38880" y="2421462"/>
            <a:ext cx="8915956" cy="730127"/>
          </a:xfrm>
        </p:spPr>
        <p:txBody>
          <a:bodyPr>
            <a:noAutofit/>
          </a:bodyPr>
          <a:lstStyle/>
          <a:p>
            <a:r>
              <a:rPr lang="en-US" sz="3600">
                <a:latin typeface="+mn-lt"/>
              </a:rPr>
              <a:t>         </a:t>
            </a:r>
            <a:r>
              <a:rPr lang="en-US" sz="3600" dirty="0">
                <a:latin typeface="+mn-lt"/>
              </a:rPr>
              <a:t>Fall Prevention and Management </a:t>
            </a:r>
          </a:p>
        </p:txBody>
      </p:sp>
    </p:spTree>
    <p:extLst>
      <p:ext uri="{BB962C8B-B14F-4D97-AF65-F5344CB8AC3E}">
        <p14:creationId xmlns:p14="http://schemas.microsoft.com/office/powerpoint/2010/main" val="2576542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1836"/>
            <a:ext cx="8229600" cy="87561"/>
          </a:xfrm>
        </p:spPr>
        <p:txBody>
          <a:bodyPr anchor="ctr">
            <a:noAutofit/>
          </a:bodyPr>
          <a:lstStyle/>
          <a:p>
            <a:br>
              <a:rPr lang="en-US" sz="3200" dirty="0">
                <a:latin typeface="+mn-lt"/>
              </a:rPr>
            </a:br>
            <a:br>
              <a:rPr lang="en-US" sz="3200" dirty="0">
                <a:latin typeface="+mn-lt"/>
              </a:rPr>
            </a:br>
            <a:r>
              <a:rPr lang="en-US" sz="3200" dirty="0">
                <a:latin typeface="+mn-lt"/>
              </a:rPr>
              <a:t>Objectives:</a:t>
            </a:r>
          </a:p>
        </p:txBody>
      </p:sp>
      <p:sp>
        <p:nvSpPr>
          <p:cNvPr id="3" name="Content Placeholder 2"/>
          <p:cNvSpPr>
            <a:spLocks noGrp="1"/>
          </p:cNvSpPr>
          <p:nvPr>
            <p:ph idx="1"/>
          </p:nvPr>
        </p:nvSpPr>
        <p:spPr/>
        <p:txBody>
          <a:bodyPr>
            <a:normAutofit/>
          </a:bodyPr>
          <a:lstStyle/>
          <a:p>
            <a:r>
              <a:rPr lang="en-US" sz="2400" dirty="0">
                <a:latin typeface="+mn-lt"/>
              </a:rPr>
              <a:t>Discuss role in preventing patient falls.</a:t>
            </a:r>
          </a:p>
          <a:p>
            <a:r>
              <a:rPr lang="en-US" sz="2400" dirty="0">
                <a:latin typeface="+mn-lt"/>
              </a:rPr>
              <a:t>Implement appropriate interventions for fall risk patients.</a:t>
            </a:r>
          </a:p>
          <a:p>
            <a:r>
              <a:rPr lang="en-US" sz="2400" dirty="0">
                <a:latin typeface="+mn-lt"/>
              </a:rPr>
              <a:t>Describe how to identify a fall risk patient.</a:t>
            </a:r>
          </a:p>
          <a:p>
            <a:pPr marL="0" indent="0">
              <a:buNone/>
            </a:pPr>
            <a:endParaRPr lang="en-US" sz="2400" dirty="0">
              <a:latin typeface="+mn-lt"/>
            </a:endParaRPr>
          </a:p>
          <a:p>
            <a:pPr marL="0" indent="0">
              <a:buNone/>
            </a:pPr>
            <a:r>
              <a:rPr lang="en-US" sz="2400" dirty="0">
                <a:latin typeface="+mn-lt"/>
              </a:rPr>
              <a:t>Purpose:</a:t>
            </a:r>
          </a:p>
          <a:p>
            <a:r>
              <a:rPr lang="en-US" sz="2400" dirty="0">
                <a:latin typeface="+mn-lt"/>
              </a:rPr>
              <a:t>To improve patient safety</a:t>
            </a:r>
          </a:p>
          <a:p>
            <a:r>
              <a:rPr lang="en-US" sz="2400" dirty="0">
                <a:latin typeface="+mn-lt"/>
              </a:rPr>
              <a:t>To reduce the incidence of patient falls</a:t>
            </a:r>
          </a:p>
          <a:p>
            <a:r>
              <a:rPr lang="en-US" sz="2400" dirty="0">
                <a:latin typeface="+mn-lt"/>
              </a:rPr>
              <a:t>To identify potential fall risk</a:t>
            </a:r>
          </a:p>
          <a:p>
            <a:r>
              <a:rPr lang="en-US" sz="2400" dirty="0">
                <a:latin typeface="+mn-lt"/>
              </a:rPr>
              <a:t>To put into place fall prevention interventions</a:t>
            </a:r>
          </a:p>
          <a:p>
            <a:pPr marL="0" indent="0">
              <a:buNone/>
            </a:pPr>
            <a:endParaRPr lang="en-US" sz="2400" dirty="0">
              <a:latin typeface="+mn-lt"/>
            </a:endParaRPr>
          </a:p>
        </p:txBody>
      </p:sp>
    </p:spTree>
    <p:extLst>
      <p:ext uri="{BB962C8B-B14F-4D97-AF65-F5344CB8AC3E}">
        <p14:creationId xmlns:p14="http://schemas.microsoft.com/office/powerpoint/2010/main" val="291552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Definitions:</a:t>
            </a:r>
          </a:p>
        </p:txBody>
      </p:sp>
      <p:sp>
        <p:nvSpPr>
          <p:cNvPr id="3" name="Text Placeholder 2"/>
          <p:cNvSpPr>
            <a:spLocks noGrp="1"/>
          </p:cNvSpPr>
          <p:nvPr>
            <p:ph idx="1"/>
          </p:nvPr>
        </p:nvSpPr>
        <p:spPr/>
        <p:txBody>
          <a:bodyPr>
            <a:noAutofit/>
          </a:bodyPr>
          <a:lstStyle/>
          <a:p>
            <a:pPr>
              <a:buFont typeface="Arial" panose="020B0604020202020204" pitchFamily="34" charset="0"/>
              <a:buChar char="•"/>
            </a:pPr>
            <a:r>
              <a:rPr lang="en-US" sz="2400" b="1" dirty="0">
                <a:latin typeface="+mn-lt"/>
              </a:rPr>
              <a:t>Fall:</a:t>
            </a:r>
            <a:r>
              <a:rPr lang="en-US" sz="2400" dirty="0">
                <a:latin typeface="+mn-lt"/>
              </a:rPr>
              <a:t>  Sudden, uncontrolled, unintentional, non-purposeful, downward displacement of the body to the floor/ground or hitting another object like a chair or stair.</a:t>
            </a:r>
          </a:p>
          <a:p>
            <a:pPr>
              <a:buFont typeface="Arial" panose="020B0604020202020204" pitchFamily="34" charset="0"/>
              <a:buChar char="•"/>
            </a:pPr>
            <a:endParaRPr lang="en-US" sz="2400" dirty="0">
              <a:latin typeface="+mn-lt"/>
            </a:endParaRPr>
          </a:p>
          <a:p>
            <a:pPr>
              <a:buFont typeface="Arial" panose="020B0604020202020204" pitchFamily="34" charset="0"/>
              <a:buChar char="•"/>
            </a:pPr>
            <a:r>
              <a:rPr lang="en-US" sz="2400" b="1" dirty="0">
                <a:latin typeface="+mn-lt"/>
              </a:rPr>
              <a:t>Near Fall:  </a:t>
            </a:r>
            <a:r>
              <a:rPr lang="en-US" sz="2400" dirty="0">
                <a:latin typeface="+mn-lt"/>
              </a:rPr>
              <a:t>sudden loss of balance that does not result in a fall or other injury.  This can include a person who slips, stumbles or trips but is able to gain control prior to falling.  It also includes Medical Personnel that catch the person or assist the person to slide down their legs.</a:t>
            </a:r>
          </a:p>
        </p:txBody>
      </p:sp>
    </p:spTree>
    <p:extLst>
      <p:ext uri="{BB962C8B-B14F-4D97-AF65-F5344CB8AC3E}">
        <p14:creationId xmlns:p14="http://schemas.microsoft.com/office/powerpoint/2010/main" val="1146435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mn-lt"/>
              </a:rPr>
            </a:br>
            <a:br>
              <a:rPr lang="en-US" dirty="0">
                <a:latin typeface="+mn-lt"/>
              </a:rPr>
            </a:br>
            <a:br>
              <a:rPr lang="en-US" dirty="0">
                <a:latin typeface="+mn-lt"/>
              </a:rPr>
            </a:br>
            <a:br>
              <a:rPr lang="en-US" dirty="0">
                <a:latin typeface="+mn-lt"/>
              </a:rPr>
            </a:br>
            <a:br>
              <a:rPr lang="en-US" dirty="0">
                <a:latin typeface="+mn-lt"/>
              </a:rPr>
            </a:br>
            <a:br>
              <a:rPr lang="en-US" dirty="0">
                <a:latin typeface="+mn-lt"/>
              </a:rPr>
            </a:br>
            <a:r>
              <a:rPr lang="en-US" sz="3600" dirty="0">
                <a:latin typeface="+mn-lt"/>
              </a:rPr>
              <a:t>Fall Risk Screening:</a:t>
            </a:r>
          </a:p>
        </p:txBody>
      </p:sp>
      <p:sp>
        <p:nvSpPr>
          <p:cNvPr id="3" name="Text Placeholder 2"/>
          <p:cNvSpPr>
            <a:spLocks noGrp="1"/>
          </p:cNvSpPr>
          <p:nvPr>
            <p:ph idx="1"/>
          </p:nvPr>
        </p:nvSpPr>
        <p:spPr>
          <a:xfrm>
            <a:off x="457200" y="1794132"/>
            <a:ext cx="8229600" cy="4190513"/>
          </a:xfrm>
        </p:spPr>
        <p:txBody>
          <a:bodyPr>
            <a:noAutofit/>
          </a:bodyPr>
          <a:lstStyle/>
          <a:p>
            <a:pPr marL="0" indent="0">
              <a:buNone/>
            </a:pPr>
            <a:r>
              <a:rPr lang="en-US" sz="2200" dirty="0">
                <a:latin typeface="+mn-lt"/>
              </a:rPr>
              <a:t>Nurses complete the </a:t>
            </a:r>
            <a:r>
              <a:rPr lang="en-US" sz="2200" b="1" dirty="0">
                <a:latin typeface="+mn-lt"/>
              </a:rPr>
              <a:t>MORSE Fall Scale</a:t>
            </a:r>
            <a:r>
              <a:rPr lang="en-US" sz="2200" dirty="0">
                <a:latin typeface="+mn-lt"/>
              </a:rPr>
              <a:t> (MFS), a screening tool to calculate  the patient’s potential risk of falling.</a:t>
            </a:r>
          </a:p>
          <a:p>
            <a:pPr marL="0" indent="0">
              <a:buNone/>
            </a:pPr>
            <a:endParaRPr lang="en-US" sz="2200" dirty="0">
              <a:latin typeface="+mn-lt"/>
            </a:endParaRPr>
          </a:p>
          <a:p>
            <a:r>
              <a:rPr lang="en-US" sz="2200" dirty="0">
                <a:latin typeface="+mn-lt"/>
              </a:rPr>
              <a:t>A score of </a:t>
            </a:r>
            <a:r>
              <a:rPr lang="en-US" sz="2200" b="1" dirty="0">
                <a:latin typeface="+mn-lt"/>
              </a:rPr>
              <a:t>0-24</a:t>
            </a:r>
            <a:r>
              <a:rPr lang="en-US" sz="2200" dirty="0">
                <a:latin typeface="+mn-lt"/>
              </a:rPr>
              <a:t> indicates </a:t>
            </a:r>
            <a:r>
              <a:rPr lang="en-US" sz="2200" b="1" dirty="0">
                <a:highlight>
                  <a:srgbClr val="00FF00"/>
                </a:highlight>
                <a:latin typeface="+mn-lt"/>
              </a:rPr>
              <a:t>low</a:t>
            </a:r>
            <a:r>
              <a:rPr lang="en-US" sz="2200" dirty="0">
                <a:latin typeface="+mn-lt"/>
              </a:rPr>
              <a:t> fall risk</a:t>
            </a:r>
          </a:p>
          <a:p>
            <a:r>
              <a:rPr lang="en-US" sz="2200" dirty="0">
                <a:latin typeface="+mn-lt"/>
              </a:rPr>
              <a:t>A score of </a:t>
            </a:r>
            <a:r>
              <a:rPr lang="en-US" sz="2200" b="1" dirty="0">
                <a:latin typeface="+mn-lt"/>
              </a:rPr>
              <a:t>25-44</a:t>
            </a:r>
            <a:r>
              <a:rPr lang="en-US" sz="2200" dirty="0">
                <a:latin typeface="+mn-lt"/>
              </a:rPr>
              <a:t> indicates a </a:t>
            </a:r>
            <a:r>
              <a:rPr lang="en-US" sz="2200" b="1" dirty="0">
                <a:highlight>
                  <a:srgbClr val="FFFF00"/>
                </a:highlight>
                <a:latin typeface="+mn-lt"/>
              </a:rPr>
              <a:t>moderate</a:t>
            </a:r>
            <a:r>
              <a:rPr lang="en-US" sz="2200" dirty="0">
                <a:latin typeface="+mn-lt"/>
              </a:rPr>
              <a:t> fall risk</a:t>
            </a:r>
          </a:p>
          <a:p>
            <a:r>
              <a:rPr lang="en-US" sz="2200" dirty="0">
                <a:latin typeface="+mn-lt"/>
              </a:rPr>
              <a:t>A score </a:t>
            </a:r>
            <a:r>
              <a:rPr lang="en-US" sz="2200" b="1" dirty="0">
                <a:latin typeface="+mn-lt"/>
              </a:rPr>
              <a:t>equal or above 45 </a:t>
            </a:r>
            <a:r>
              <a:rPr lang="en-US" sz="2200" dirty="0">
                <a:latin typeface="+mn-lt"/>
              </a:rPr>
              <a:t>indicates </a:t>
            </a:r>
            <a:r>
              <a:rPr lang="en-US" sz="2200" b="1" dirty="0">
                <a:highlight>
                  <a:srgbClr val="FF0000"/>
                </a:highlight>
                <a:latin typeface="+mn-lt"/>
              </a:rPr>
              <a:t>high</a:t>
            </a:r>
            <a:r>
              <a:rPr lang="en-US" sz="2200" dirty="0">
                <a:latin typeface="+mn-lt"/>
              </a:rPr>
              <a:t> fall risk</a:t>
            </a:r>
          </a:p>
        </p:txBody>
      </p:sp>
    </p:spTree>
    <p:extLst>
      <p:ext uri="{BB962C8B-B14F-4D97-AF65-F5344CB8AC3E}">
        <p14:creationId xmlns:p14="http://schemas.microsoft.com/office/powerpoint/2010/main" val="3552767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Risk Scale:</a:t>
            </a:r>
          </a:p>
        </p:txBody>
      </p:sp>
      <p:pic>
        <p:nvPicPr>
          <p:cNvPr id="5" name="Picture 6" descr="MORSE Fall Risk Assessment Sca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3112" y="1687986"/>
            <a:ext cx="5999356" cy="455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7826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Assessed Low Fall Risk:</a:t>
            </a:r>
          </a:p>
        </p:txBody>
      </p:sp>
      <p:sp>
        <p:nvSpPr>
          <p:cNvPr id="3" name="Text Placeholder 2"/>
          <p:cNvSpPr>
            <a:spLocks noGrp="1"/>
          </p:cNvSpPr>
          <p:nvPr>
            <p:ph idx="1"/>
          </p:nvPr>
        </p:nvSpPr>
        <p:spPr>
          <a:xfrm>
            <a:off x="296883" y="2429807"/>
            <a:ext cx="4180114" cy="3240459"/>
          </a:xfrm>
        </p:spPr>
        <p:txBody>
          <a:bodyPr>
            <a:noAutofit/>
          </a:bodyPr>
          <a:lstStyle/>
          <a:p>
            <a:pPr marL="0" indent="0">
              <a:buNone/>
            </a:pPr>
            <a:endParaRPr lang="en-US" sz="2000" dirty="0">
              <a:latin typeface="+mn-lt"/>
            </a:endParaRPr>
          </a:p>
          <a:p>
            <a:pPr>
              <a:buFont typeface="Arial" panose="020B0604020202020204" pitchFamily="34" charset="0"/>
              <a:buChar char="•"/>
            </a:pPr>
            <a:r>
              <a:rPr lang="en-US" sz="2000" dirty="0">
                <a:latin typeface="+mn-lt"/>
              </a:rPr>
              <a:t>Orient to surroundings (bathroom, call light, etc.)</a:t>
            </a:r>
          </a:p>
          <a:p>
            <a:pPr>
              <a:buFont typeface="Arial" panose="020B0604020202020204" pitchFamily="34" charset="0"/>
              <a:buChar char="•"/>
            </a:pPr>
            <a:r>
              <a:rPr lang="en-US" sz="2000" dirty="0">
                <a:latin typeface="+mn-lt"/>
              </a:rPr>
              <a:t>Place patient’s articles within easy reach</a:t>
            </a:r>
          </a:p>
          <a:p>
            <a:pPr>
              <a:buFont typeface="Arial" panose="020B0604020202020204" pitchFamily="34" charset="0"/>
              <a:buChar char="•"/>
            </a:pPr>
            <a:r>
              <a:rPr lang="en-US" sz="2000" dirty="0">
                <a:latin typeface="+mn-lt"/>
              </a:rPr>
              <a:t>Lock wheelchair wheels (if applicable)</a:t>
            </a:r>
          </a:p>
          <a:p>
            <a:pPr>
              <a:buFont typeface="Arial" panose="020B0604020202020204" pitchFamily="34" charset="0"/>
              <a:buChar char="•"/>
            </a:pPr>
            <a:r>
              <a:rPr lang="en-US" sz="2000" dirty="0">
                <a:latin typeface="+mn-lt"/>
              </a:rPr>
              <a:t>Place bed in low position and lock bed wheels</a:t>
            </a:r>
          </a:p>
        </p:txBody>
      </p:sp>
      <p:sp>
        <p:nvSpPr>
          <p:cNvPr id="4" name="TextBox 3">
            <a:extLst>
              <a:ext uri="{FF2B5EF4-FFF2-40B4-BE49-F238E27FC236}">
                <a16:creationId xmlns:a16="http://schemas.microsoft.com/office/drawing/2014/main" id="{4B04E501-4189-490E-A466-6BB7C7A13076}"/>
              </a:ext>
            </a:extLst>
          </p:cNvPr>
          <p:cNvSpPr txBox="1"/>
          <p:nvPr/>
        </p:nvSpPr>
        <p:spPr>
          <a:xfrm>
            <a:off x="457200" y="1816925"/>
            <a:ext cx="7677397" cy="769441"/>
          </a:xfrm>
          <a:prstGeom prst="rect">
            <a:avLst/>
          </a:prstGeom>
          <a:noFill/>
        </p:spPr>
        <p:txBody>
          <a:bodyPr wrap="square" rtlCol="0">
            <a:spAutoFit/>
          </a:bodyPr>
          <a:lstStyle/>
          <a:p>
            <a:r>
              <a:rPr lang="en-US" sz="2200" dirty="0"/>
              <a:t>A patient assessed as </a:t>
            </a:r>
            <a:r>
              <a:rPr lang="en-US" sz="2200" b="1" dirty="0">
                <a:highlight>
                  <a:srgbClr val="00FF00"/>
                </a:highlight>
              </a:rPr>
              <a:t>Low</a:t>
            </a:r>
            <a:r>
              <a:rPr lang="en-US" sz="2200" dirty="0"/>
              <a:t> Fall Risk (Universal Fall Precautions)  </a:t>
            </a:r>
          </a:p>
          <a:p>
            <a:r>
              <a:rPr lang="en-US" sz="2200" b="1" dirty="0"/>
              <a:t>Score of 0-24</a:t>
            </a:r>
            <a:endParaRPr lang="en-US" sz="2200" dirty="0"/>
          </a:p>
        </p:txBody>
      </p:sp>
      <p:sp>
        <p:nvSpPr>
          <p:cNvPr id="5" name="Text Placeholder 2">
            <a:extLst>
              <a:ext uri="{FF2B5EF4-FFF2-40B4-BE49-F238E27FC236}">
                <a16:creationId xmlns:a16="http://schemas.microsoft.com/office/drawing/2014/main" id="{4BF03600-7B8F-443C-817F-B34D78BD5521}"/>
              </a:ext>
            </a:extLst>
          </p:cNvPr>
          <p:cNvSpPr txBox="1">
            <a:spLocks/>
          </p:cNvSpPr>
          <p:nvPr/>
        </p:nvSpPr>
        <p:spPr>
          <a:xfrm>
            <a:off x="4572000" y="2775954"/>
            <a:ext cx="4275117" cy="298931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1800" kern="1200">
                <a:solidFill>
                  <a:schemeClr val="tx1"/>
                </a:solidFill>
                <a:latin typeface="Georgia" panose="02040502050405020303" pitchFamily="18" charset="0"/>
                <a:ea typeface="+mn-ea"/>
                <a:cs typeface="Georgia" panose="02040502050405020303" pitchFamily="18" charset="0"/>
              </a:defRPr>
            </a:lvl1pPr>
            <a:lvl2pPr marL="742950" indent="-285750" algn="l" defTabSz="457200" rtl="0" eaLnBrk="1" latinLnBrk="0" hangingPunct="1">
              <a:spcBef>
                <a:spcPct val="20000"/>
              </a:spcBef>
              <a:buFont typeface="Arial"/>
              <a:buChar char="–"/>
              <a:defRPr sz="1600" kern="1200">
                <a:solidFill>
                  <a:schemeClr val="tx1"/>
                </a:solidFill>
                <a:latin typeface="Georgia" panose="02040502050405020303" pitchFamily="18" charset="0"/>
                <a:ea typeface="+mn-ea"/>
                <a:cs typeface="Georgia" panose="02040502050405020303" pitchFamily="18" charset="0"/>
              </a:defRPr>
            </a:lvl2pPr>
            <a:lvl3pPr marL="1143000" indent="-228600" algn="l" defTabSz="457200" rtl="0" eaLnBrk="1" latinLnBrk="0" hangingPunct="1">
              <a:spcBef>
                <a:spcPct val="20000"/>
              </a:spcBef>
              <a:buFont typeface="Arial"/>
              <a:buChar char="•"/>
              <a:defRPr sz="1400" kern="1200">
                <a:solidFill>
                  <a:schemeClr val="tx1"/>
                </a:solidFill>
                <a:latin typeface="Georgia" panose="02040502050405020303" pitchFamily="18" charset="0"/>
                <a:ea typeface="+mn-ea"/>
                <a:cs typeface="Georgia" panose="02040502050405020303" pitchFamily="18" charset="0"/>
              </a:defRPr>
            </a:lvl3pPr>
            <a:lvl4pPr marL="1600200" indent="-228600" algn="l" defTabSz="457200" rtl="0" eaLnBrk="1" latinLnBrk="0" hangingPunct="1">
              <a:spcBef>
                <a:spcPct val="20000"/>
              </a:spcBef>
              <a:buFont typeface="Arial"/>
              <a:buChar char="–"/>
              <a:defRPr sz="1200" kern="1200">
                <a:solidFill>
                  <a:schemeClr val="tx1"/>
                </a:solidFill>
                <a:latin typeface="Georgia" panose="02040502050405020303" pitchFamily="18" charset="0"/>
                <a:ea typeface="+mn-ea"/>
                <a:cs typeface="Georgia" panose="02040502050405020303" pitchFamily="18" charset="0"/>
              </a:defRPr>
            </a:lvl4pPr>
            <a:lvl5pPr marL="2057400" indent="-228600" algn="l" defTabSz="457200" rtl="0" eaLnBrk="1" latinLnBrk="0" hangingPunct="1">
              <a:spcBef>
                <a:spcPct val="20000"/>
              </a:spcBef>
              <a:buFont typeface="Arial"/>
              <a:buChar char="»"/>
              <a:defRPr sz="12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r>
              <a:rPr lang="en-US" sz="2000" dirty="0">
                <a:latin typeface="+mn-lt"/>
              </a:rPr>
              <a:t>Use non-slip footwear when ambulating</a:t>
            </a:r>
          </a:p>
          <a:p>
            <a:pPr>
              <a:buFont typeface="Arial" panose="020B0604020202020204" pitchFamily="34" charset="0"/>
              <a:buChar char="•"/>
            </a:pPr>
            <a:r>
              <a:rPr lang="en-US" sz="2000" dirty="0">
                <a:latin typeface="+mn-lt"/>
              </a:rPr>
              <a:t>Provide proper lighting  (night or bathroom light)</a:t>
            </a:r>
          </a:p>
          <a:p>
            <a:pPr>
              <a:buFont typeface="Arial" panose="020B0604020202020204" pitchFamily="34" charset="0"/>
              <a:buChar char="•"/>
            </a:pPr>
            <a:r>
              <a:rPr lang="en-US" sz="2000" dirty="0">
                <a:latin typeface="+mn-lt"/>
              </a:rPr>
              <a:t>Keep floor free of clutter</a:t>
            </a:r>
          </a:p>
          <a:p>
            <a:pPr>
              <a:buFont typeface="Arial" panose="020B0604020202020204" pitchFamily="34" charset="0"/>
              <a:buChar char="•"/>
            </a:pPr>
            <a:r>
              <a:rPr lang="en-US" sz="2000" dirty="0">
                <a:latin typeface="+mn-lt"/>
              </a:rPr>
              <a:t>Clean up spills immediately</a:t>
            </a:r>
          </a:p>
        </p:txBody>
      </p:sp>
    </p:spTree>
    <p:extLst>
      <p:ext uri="{BB962C8B-B14F-4D97-AF65-F5344CB8AC3E}">
        <p14:creationId xmlns:p14="http://schemas.microsoft.com/office/powerpoint/2010/main" val="3485644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Assessed Moderate Fall Risk:</a:t>
            </a:r>
          </a:p>
        </p:txBody>
      </p:sp>
      <p:sp>
        <p:nvSpPr>
          <p:cNvPr id="3" name="Text Placeholder 2"/>
          <p:cNvSpPr>
            <a:spLocks noGrp="1"/>
          </p:cNvSpPr>
          <p:nvPr>
            <p:ph idx="1"/>
          </p:nvPr>
        </p:nvSpPr>
        <p:spPr>
          <a:xfrm>
            <a:off x="457200" y="2868214"/>
            <a:ext cx="3817917" cy="2958161"/>
          </a:xfrm>
        </p:spPr>
        <p:txBody>
          <a:bodyPr>
            <a:noAutofit/>
          </a:bodyPr>
          <a:lstStyle/>
          <a:p>
            <a:r>
              <a:rPr lang="en-US" sz="2000" dirty="0">
                <a:latin typeface="+mn-lt"/>
              </a:rPr>
              <a:t>Use Applicable Universal Precautions + moderate interventions that are appropriate for the veteran</a:t>
            </a:r>
          </a:p>
          <a:p>
            <a:r>
              <a:rPr lang="en-US" sz="2000" dirty="0">
                <a:latin typeface="+mn-lt"/>
              </a:rPr>
              <a:t>Check elimination needs every 2 hours</a:t>
            </a:r>
          </a:p>
          <a:p>
            <a:r>
              <a:rPr lang="en-US" sz="2000" dirty="0">
                <a:latin typeface="+mn-lt"/>
              </a:rPr>
              <a:t>Keep wheelchairs in locked position</a:t>
            </a:r>
            <a:endParaRPr lang="en-US" sz="2800" dirty="0">
              <a:latin typeface="+mn-lt"/>
            </a:endParaRPr>
          </a:p>
          <a:p>
            <a:pPr marL="0" indent="0">
              <a:buNone/>
            </a:pPr>
            <a:endParaRPr lang="en-US" sz="2800" dirty="0">
              <a:latin typeface="+mn-lt"/>
            </a:endParaRPr>
          </a:p>
        </p:txBody>
      </p:sp>
      <p:sp>
        <p:nvSpPr>
          <p:cNvPr id="4" name="TextBox 3">
            <a:extLst>
              <a:ext uri="{FF2B5EF4-FFF2-40B4-BE49-F238E27FC236}">
                <a16:creationId xmlns:a16="http://schemas.microsoft.com/office/drawing/2014/main" id="{CB765EFD-4164-48B8-93BB-8E5AF7F2EE29}"/>
              </a:ext>
            </a:extLst>
          </p:cNvPr>
          <p:cNvSpPr txBox="1"/>
          <p:nvPr/>
        </p:nvSpPr>
        <p:spPr>
          <a:xfrm>
            <a:off x="581890" y="1852551"/>
            <a:ext cx="8104909" cy="1107996"/>
          </a:xfrm>
          <a:prstGeom prst="rect">
            <a:avLst/>
          </a:prstGeom>
          <a:noFill/>
        </p:spPr>
        <p:txBody>
          <a:bodyPr wrap="square" rtlCol="0">
            <a:spAutoFit/>
          </a:bodyPr>
          <a:lstStyle/>
          <a:p>
            <a:r>
              <a:rPr lang="en-US" sz="2200" dirty="0"/>
              <a:t>A patient assessed as </a:t>
            </a:r>
            <a:r>
              <a:rPr lang="en-US" sz="2200" b="1" dirty="0">
                <a:highlight>
                  <a:srgbClr val="FFFF00"/>
                </a:highlight>
              </a:rPr>
              <a:t>Moderate </a:t>
            </a:r>
            <a:r>
              <a:rPr lang="en-US" sz="2200" dirty="0"/>
              <a:t>Fall Risk (Universal Fall Precautions)  </a:t>
            </a:r>
          </a:p>
          <a:p>
            <a:r>
              <a:rPr lang="en-US" sz="2200" b="1" dirty="0"/>
              <a:t>Score of 25-44</a:t>
            </a:r>
          </a:p>
          <a:p>
            <a:endParaRPr lang="en-US" sz="2200" dirty="0"/>
          </a:p>
        </p:txBody>
      </p:sp>
      <p:sp>
        <p:nvSpPr>
          <p:cNvPr id="5" name="Text Placeholder 2">
            <a:extLst>
              <a:ext uri="{FF2B5EF4-FFF2-40B4-BE49-F238E27FC236}">
                <a16:creationId xmlns:a16="http://schemas.microsoft.com/office/drawing/2014/main" id="{FFFCD9A0-9487-48BA-8896-11631EC0AA79}"/>
              </a:ext>
            </a:extLst>
          </p:cNvPr>
          <p:cNvSpPr txBox="1">
            <a:spLocks/>
          </p:cNvSpPr>
          <p:nvPr/>
        </p:nvSpPr>
        <p:spPr>
          <a:xfrm>
            <a:off x="4292930" y="2868214"/>
            <a:ext cx="4542312" cy="230942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1800" kern="1200">
                <a:solidFill>
                  <a:schemeClr val="tx1"/>
                </a:solidFill>
                <a:latin typeface="Georgia" panose="02040502050405020303" pitchFamily="18" charset="0"/>
                <a:ea typeface="+mn-ea"/>
                <a:cs typeface="Georgia" panose="02040502050405020303" pitchFamily="18" charset="0"/>
              </a:defRPr>
            </a:lvl1pPr>
            <a:lvl2pPr marL="742950" indent="-285750" algn="l" defTabSz="457200" rtl="0" eaLnBrk="1" latinLnBrk="0" hangingPunct="1">
              <a:spcBef>
                <a:spcPct val="20000"/>
              </a:spcBef>
              <a:buFont typeface="Arial"/>
              <a:buChar char="–"/>
              <a:defRPr sz="1600" kern="1200">
                <a:solidFill>
                  <a:schemeClr val="tx1"/>
                </a:solidFill>
                <a:latin typeface="Georgia" panose="02040502050405020303" pitchFamily="18" charset="0"/>
                <a:ea typeface="+mn-ea"/>
                <a:cs typeface="Georgia" panose="02040502050405020303" pitchFamily="18" charset="0"/>
              </a:defRPr>
            </a:lvl2pPr>
            <a:lvl3pPr marL="1143000" indent="-228600" algn="l" defTabSz="457200" rtl="0" eaLnBrk="1" latinLnBrk="0" hangingPunct="1">
              <a:spcBef>
                <a:spcPct val="20000"/>
              </a:spcBef>
              <a:buFont typeface="Arial"/>
              <a:buChar char="•"/>
              <a:defRPr sz="1400" kern="1200">
                <a:solidFill>
                  <a:schemeClr val="tx1"/>
                </a:solidFill>
                <a:latin typeface="Georgia" panose="02040502050405020303" pitchFamily="18" charset="0"/>
                <a:ea typeface="+mn-ea"/>
                <a:cs typeface="Georgia" panose="02040502050405020303" pitchFamily="18" charset="0"/>
              </a:defRPr>
            </a:lvl3pPr>
            <a:lvl4pPr marL="1600200" indent="-228600" algn="l" defTabSz="457200" rtl="0" eaLnBrk="1" latinLnBrk="0" hangingPunct="1">
              <a:spcBef>
                <a:spcPct val="20000"/>
              </a:spcBef>
              <a:buFont typeface="Arial"/>
              <a:buChar char="–"/>
              <a:defRPr sz="1200" kern="1200">
                <a:solidFill>
                  <a:schemeClr val="tx1"/>
                </a:solidFill>
                <a:latin typeface="Georgia" panose="02040502050405020303" pitchFamily="18" charset="0"/>
                <a:ea typeface="+mn-ea"/>
                <a:cs typeface="Georgia" panose="02040502050405020303" pitchFamily="18" charset="0"/>
              </a:defRPr>
            </a:lvl4pPr>
            <a:lvl5pPr marL="2057400" indent="-228600" algn="l" defTabSz="457200" rtl="0" eaLnBrk="1" latinLnBrk="0" hangingPunct="1">
              <a:spcBef>
                <a:spcPct val="20000"/>
              </a:spcBef>
              <a:buFont typeface="Arial"/>
              <a:buChar char="»"/>
              <a:defRPr sz="12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r>
              <a:rPr lang="en-US" sz="2000">
                <a:latin typeface="+mn-lt"/>
              </a:rPr>
              <a:t> Ambulate with assistance</a:t>
            </a:r>
          </a:p>
          <a:p>
            <a:pPr>
              <a:buFont typeface="Arial" panose="020B0604020202020204" pitchFamily="34" charset="0"/>
              <a:buChar char="•"/>
            </a:pPr>
            <a:r>
              <a:rPr lang="en-US" sz="2000">
                <a:latin typeface="+mn-lt"/>
              </a:rPr>
              <a:t> Check elimination needs every 2 hours</a:t>
            </a:r>
          </a:p>
          <a:p>
            <a:pPr>
              <a:buFont typeface="Arial" panose="020B0604020202020204" pitchFamily="34" charset="0"/>
              <a:buChar char="•"/>
            </a:pPr>
            <a:r>
              <a:rPr lang="en-US" sz="2000">
                <a:latin typeface="+mn-lt"/>
              </a:rPr>
              <a:t> Use walker or assistive device (if ordered)</a:t>
            </a:r>
            <a:endParaRPr lang="en-US" sz="2800">
              <a:latin typeface="+mn-lt"/>
            </a:endParaRPr>
          </a:p>
          <a:p>
            <a:pPr>
              <a:buFont typeface="Courier New" panose="02070309020205020404" pitchFamily="49" charset="0"/>
              <a:buChar char="o"/>
            </a:pPr>
            <a:endParaRPr lang="en-US" sz="2800">
              <a:latin typeface="+mn-lt"/>
            </a:endParaRPr>
          </a:p>
          <a:p>
            <a:pPr>
              <a:buFont typeface="Courier New" panose="02070309020205020404" pitchFamily="49" charset="0"/>
              <a:buChar char="o"/>
            </a:pPr>
            <a:endParaRPr lang="en-US" sz="2800">
              <a:latin typeface="+mn-lt"/>
            </a:endParaRPr>
          </a:p>
          <a:p>
            <a:pPr marL="0" indent="0">
              <a:buFont typeface="Arial"/>
              <a:buNone/>
            </a:pPr>
            <a:endParaRPr lang="en-US" sz="2800" dirty="0">
              <a:latin typeface="+mn-lt"/>
            </a:endParaRPr>
          </a:p>
        </p:txBody>
      </p:sp>
    </p:spTree>
    <p:extLst>
      <p:ext uri="{BB962C8B-B14F-4D97-AF65-F5344CB8AC3E}">
        <p14:creationId xmlns:p14="http://schemas.microsoft.com/office/powerpoint/2010/main" val="1853736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Assess High Fall Risk:</a:t>
            </a:r>
          </a:p>
        </p:txBody>
      </p:sp>
      <p:sp>
        <p:nvSpPr>
          <p:cNvPr id="3" name="Text Placeholder 2"/>
          <p:cNvSpPr>
            <a:spLocks noGrp="1"/>
          </p:cNvSpPr>
          <p:nvPr>
            <p:ph idx="1"/>
          </p:nvPr>
        </p:nvSpPr>
        <p:spPr>
          <a:xfrm>
            <a:off x="457200" y="2803874"/>
            <a:ext cx="3960421" cy="2198140"/>
          </a:xfrm>
        </p:spPr>
        <p:txBody>
          <a:bodyPr>
            <a:noAutofit/>
          </a:bodyPr>
          <a:lstStyle/>
          <a:p>
            <a:pPr>
              <a:buFont typeface="Arial" panose="020B0604020202020204" pitchFamily="34" charset="0"/>
              <a:buChar char="•"/>
            </a:pPr>
            <a:r>
              <a:rPr lang="en-US" sz="2000" dirty="0">
                <a:latin typeface="+mn-lt"/>
              </a:rPr>
              <a:t>Patient will wear a yellow arm band</a:t>
            </a:r>
          </a:p>
          <a:p>
            <a:pPr>
              <a:buFont typeface="Arial" panose="020B0604020202020204" pitchFamily="34" charset="0"/>
              <a:buChar char="•"/>
            </a:pPr>
            <a:r>
              <a:rPr lang="en-US" sz="2000" dirty="0">
                <a:latin typeface="+mn-lt"/>
              </a:rPr>
              <a:t>Patient will have a fall risk sign placed outside of the patient’s room or over/on their bed.</a:t>
            </a:r>
            <a:endParaRPr lang="en-US" sz="2800" dirty="0">
              <a:latin typeface="+mn-lt"/>
            </a:endParaRPr>
          </a:p>
          <a:p>
            <a:pPr>
              <a:buFont typeface="Courier New" panose="02070309020205020404" pitchFamily="49" charset="0"/>
              <a:buChar char="o"/>
            </a:pPr>
            <a:endParaRPr lang="en-US" sz="2800" dirty="0">
              <a:latin typeface="+mn-lt"/>
            </a:endParaRPr>
          </a:p>
          <a:p>
            <a:pPr>
              <a:buFont typeface="Courier New" panose="02070309020205020404" pitchFamily="49" charset="0"/>
              <a:buChar char="o"/>
            </a:pPr>
            <a:endParaRPr lang="en-US" sz="2800" dirty="0">
              <a:latin typeface="+mn-lt"/>
            </a:endParaRPr>
          </a:p>
          <a:p>
            <a:pPr marL="0" indent="0">
              <a:buNone/>
            </a:pPr>
            <a:endParaRPr lang="en-US" sz="2800" dirty="0">
              <a:latin typeface="+mn-lt"/>
            </a:endParaRPr>
          </a:p>
        </p:txBody>
      </p:sp>
      <p:sp>
        <p:nvSpPr>
          <p:cNvPr id="4" name="TextBox 3">
            <a:extLst>
              <a:ext uri="{FF2B5EF4-FFF2-40B4-BE49-F238E27FC236}">
                <a16:creationId xmlns:a16="http://schemas.microsoft.com/office/drawing/2014/main" id="{1A0539F0-1FD4-48EC-A8F7-7F410773C459}"/>
              </a:ext>
            </a:extLst>
          </p:cNvPr>
          <p:cNvSpPr txBox="1"/>
          <p:nvPr/>
        </p:nvSpPr>
        <p:spPr>
          <a:xfrm>
            <a:off x="457200" y="1818989"/>
            <a:ext cx="7386452" cy="1107996"/>
          </a:xfrm>
          <a:prstGeom prst="rect">
            <a:avLst/>
          </a:prstGeom>
          <a:noFill/>
        </p:spPr>
        <p:txBody>
          <a:bodyPr wrap="square" rtlCol="0">
            <a:spAutoFit/>
          </a:bodyPr>
          <a:lstStyle/>
          <a:p>
            <a:r>
              <a:rPr lang="en-US" sz="2200" dirty="0"/>
              <a:t>A patient assessed as </a:t>
            </a:r>
            <a:r>
              <a:rPr lang="en-US" sz="2200" b="1" dirty="0">
                <a:highlight>
                  <a:srgbClr val="FF0000"/>
                </a:highlight>
              </a:rPr>
              <a:t>High</a:t>
            </a:r>
            <a:r>
              <a:rPr lang="en-US" sz="2200" dirty="0"/>
              <a:t> Fall Risk (Universal Fall Precautions)  </a:t>
            </a:r>
          </a:p>
          <a:p>
            <a:r>
              <a:rPr lang="en-US" sz="2200" b="1" dirty="0"/>
              <a:t>Score of 45 or above</a:t>
            </a:r>
          </a:p>
          <a:p>
            <a:endParaRPr lang="en-US" sz="2200" dirty="0"/>
          </a:p>
        </p:txBody>
      </p:sp>
      <p:sp>
        <p:nvSpPr>
          <p:cNvPr id="5" name="Text Placeholder 2">
            <a:extLst>
              <a:ext uri="{FF2B5EF4-FFF2-40B4-BE49-F238E27FC236}">
                <a16:creationId xmlns:a16="http://schemas.microsoft.com/office/drawing/2014/main" id="{A34CDC2D-D6A1-45F2-BE0B-E495525D3416}"/>
              </a:ext>
            </a:extLst>
          </p:cNvPr>
          <p:cNvSpPr txBox="1">
            <a:spLocks/>
          </p:cNvSpPr>
          <p:nvPr/>
        </p:nvSpPr>
        <p:spPr>
          <a:xfrm>
            <a:off x="4417621" y="2803874"/>
            <a:ext cx="4417621" cy="347678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1800" kern="1200">
                <a:solidFill>
                  <a:schemeClr val="tx1"/>
                </a:solidFill>
                <a:latin typeface="Georgia" panose="02040502050405020303" pitchFamily="18" charset="0"/>
                <a:ea typeface="+mn-ea"/>
                <a:cs typeface="Georgia" panose="02040502050405020303" pitchFamily="18" charset="0"/>
              </a:defRPr>
            </a:lvl1pPr>
            <a:lvl2pPr marL="742950" indent="-285750" algn="l" defTabSz="457200" rtl="0" eaLnBrk="1" latinLnBrk="0" hangingPunct="1">
              <a:spcBef>
                <a:spcPct val="20000"/>
              </a:spcBef>
              <a:buFont typeface="Arial"/>
              <a:buChar char="–"/>
              <a:defRPr sz="1600" kern="1200">
                <a:solidFill>
                  <a:schemeClr val="tx1"/>
                </a:solidFill>
                <a:latin typeface="Georgia" panose="02040502050405020303" pitchFamily="18" charset="0"/>
                <a:ea typeface="+mn-ea"/>
                <a:cs typeface="Georgia" panose="02040502050405020303" pitchFamily="18" charset="0"/>
              </a:defRPr>
            </a:lvl2pPr>
            <a:lvl3pPr marL="1143000" indent="-228600" algn="l" defTabSz="457200" rtl="0" eaLnBrk="1" latinLnBrk="0" hangingPunct="1">
              <a:spcBef>
                <a:spcPct val="20000"/>
              </a:spcBef>
              <a:buFont typeface="Arial"/>
              <a:buChar char="•"/>
              <a:defRPr sz="1400" kern="1200">
                <a:solidFill>
                  <a:schemeClr val="tx1"/>
                </a:solidFill>
                <a:latin typeface="Georgia" panose="02040502050405020303" pitchFamily="18" charset="0"/>
                <a:ea typeface="+mn-ea"/>
                <a:cs typeface="Georgia" panose="02040502050405020303" pitchFamily="18" charset="0"/>
              </a:defRPr>
            </a:lvl3pPr>
            <a:lvl4pPr marL="1600200" indent="-228600" algn="l" defTabSz="457200" rtl="0" eaLnBrk="1" latinLnBrk="0" hangingPunct="1">
              <a:spcBef>
                <a:spcPct val="20000"/>
              </a:spcBef>
              <a:buFont typeface="Arial"/>
              <a:buChar char="–"/>
              <a:defRPr sz="1200" kern="1200">
                <a:solidFill>
                  <a:schemeClr val="tx1"/>
                </a:solidFill>
                <a:latin typeface="Georgia" panose="02040502050405020303" pitchFamily="18" charset="0"/>
                <a:ea typeface="+mn-ea"/>
                <a:cs typeface="Georgia" panose="02040502050405020303" pitchFamily="18" charset="0"/>
              </a:defRPr>
            </a:lvl4pPr>
            <a:lvl5pPr marL="2057400" indent="-228600" algn="l" defTabSz="457200" rtl="0" eaLnBrk="1" latinLnBrk="0" hangingPunct="1">
              <a:spcBef>
                <a:spcPct val="20000"/>
              </a:spcBef>
              <a:buFont typeface="Arial"/>
              <a:buChar char="»"/>
              <a:defRPr sz="12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mn-lt"/>
              </a:rPr>
              <a:t>All high fall risk patients with medical issues or cognitive impairment where being unattended places them at risk must be escorted when leaving the unit.</a:t>
            </a:r>
          </a:p>
          <a:p>
            <a:r>
              <a:rPr lang="en-US" sz="2000" dirty="0">
                <a:latin typeface="+mn-lt"/>
              </a:rPr>
              <a:t>All high-risk patients must have assistance when ambulating with a gait belt if indicated.</a:t>
            </a:r>
          </a:p>
          <a:p>
            <a:pPr marL="0" indent="0">
              <a:buFont typeface="Arial"/>
              <a:buNone/>
            </a:pPr>
            <a:endParaRPr lang="en-US" sz="2800" dirty="0">
              <a:latin typeface="+mn-lt"/>
            </a:endParaRPr>
          </a:p>
        </p:txBody>
      </p:sp>
    </p:spTree>
    <p:extLst>
      <p:ext uri="{BB962C8B-B14F-4D97-AF65-F5344CB8AC3E}">
        <p14:creationId xmlns:p14="http://schemas.microsoft.com/office/powerpoint/2010/main" val="3192736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latin typeface="+mn-lt"/>
              </a:rPr>
              <a:t>ABCS</a:t>
            </a:r>
          </a:p>
        </p:txBody>
      </p:sp>
      <p:sp>
        <p:nvSpPr>
          <p:cNvPr id="3" name="Text Placeholder 2"/>
          <p:cNvSpPr>
            <a:spLocks noGrp="1"/>
          </p:cNvSpPr>
          <p:nvPr>
            <p:ph idx="1"/>
          </p:nvPr>
        </p:nvSpPr>
        <p:spPr>
          <a:xfrm>
            <a:off x="457200" y="1754370"/>
            <a:ext cx="8229600" cy="4190513"/>
          </a:xfrm>
        </p:spPr>
        <p:txBody>
          <a:bodyPr>
            <a:noAutofit/>
          </a:bodyPr>
          <a:lstStyle/>
          <a:p>
            <a:pPr marL="0" indent="0">
              <a:buNone/>
            </a:pPr>
            <a:r>
              <a:rPr lang="en-US" sz="2200" dirty="0">
                <a:latin typeface="+mn-lt"/>
              </a:rPr>
              <a:t>Which Patients are at the highest risk for injury if they fall? (ABCS)</a:t>
            </a:r>
            <a:br>
              <a:rPr lang="en-US" sz="2200" dirty="0">
                <a:latin typeface="+mn-lt"/>
              </a:rPr>
            </a:br>
            <a:endParaRPr lang="en-US" sz="2200" dirty="0">
              <a:latin typeface="+mn-lt"/>
            </a:endParaRPr>
          </a:p>
          <a:p>
            <a:pPr>
              <a:spcAft>
                <a:spcPts val="1200"/>
              </a:spcAft>
              <a:buFont typeface="Arial" panose="020B0604020202020204" pitchFamily="34" charset="0"/>
              <a:buChar char="•"/>
            </a:pPr>
            <a:r>
              <a:rPr lang="en-US" sz="2200" b="1" dirty="0">
                <a:latin typeface="+mn-lt"/>
              </a:rPr>
              <a:t>A</a:t>
            </a:r>
            <a:r>
              <a:rPr lang="en-US" sz="2200" dirty="0">
                <a:latin typeface="+mn-lt"/>
              </a:rPr>
              <a:t> (Age) – greater than 85</a:t>
            </a:r>
          </a:p>
          <a:p>
            <a:pPr>
              <a:spcAft>
                <a:spcPts val="1200"/>
              </a:spcAft>
              <a:buFont typeface="Arial" panose="020B0604020202020204" pitchFamily="34" charset="0"/>
              <a:buChar char="•"/>
            </a:pPr>
            <a:r>
              <a:rPr lang="en-US" sz="2200" b="1" dirty="0">
                <a:latin typeface="+mn-lt"/>
              </a:rPr>
              <a:t>B</a:t>
            </a:r>
            <a:r>
              <a:rPr lang="en-US" sz="2200" dirty="0">
                <a:latin typeface="+mn-lt"/>
              </a:rPr>
              <a:t> (Bones) – History of falls with fractures, osteoporosis, prolonged steroid use, or metastatic bone cancer</a:t>
            </a:r>
          </a:p>
          <a:p>
            <a:pPr>
              <a:spcAft>
                <a:spcPts val="1200"/>
              </a:spcAft>
              <a:buFont typeface="Arial" panose="020B0604020202020204" pitchFamily="34" charset="0"/>
              <a:buChar char="•"/>
            </a:pPr>
            <a:r>
              <a:rPr lang="en-US" sz="2200" b="1" dirty="0">
                <a:latin typeface="+mn-lt"/>
              </a:rPr>
              <a:t>C</a:t>
            </a:r>
            <a:r>
              <a:rPr lang="en-US" sz="2200" dirty="0">
                <a:latin typeface="+mn-lt"/>
              </a:rPr>
              <a:t> (Coagulation) – Anti-coagulation therapy (at risk for bleeding if fall occurs) or bleeding disorder</a:t>
            </a:r>
          </a:p>
          <a:p>
            <a:pPr>
              <a:spcAft>
                <a:spcPts val="1200"/>
              </a:spcAft>
              <a:buFont typeface="Arial" panose="020B0604020202020204" pitchFamily="34" charset="0"/>
              <a:buChar char="•"/>
            </a:pPr>
            <a:r>
              <a:rPr lang="en-US" sz="2200" b="1" dirty="0">
                <a:latin typeface="+mn-lt"/>
              </a:rPr>
              <a:t>S</a:t>
            </a:r>
            <a:r>
              <a:rPr lang="en-US" sz="2200" dirty="0">
                <a:latin typeface="+mn-lt"/>
              </a:rPr>
              <a:t> (Surgery) Recent surgery during episode of care (especially recent lower limb amputation and major  abdominal or thoracic surgery)</a:t>
            </a:r>
          </a:p>
          <a:p>
            <a:pPr>
              <a:buFont typeface="Arial" panose="020B0604020202020204" pitchFamily="34" charset="0"/>
              <a:buChar char="•"/>
            </a:pPr>
            <a:endParaRPr lang="en-US" sz="2200" dirty="0">
              <a:latin typeface="+mn-lt"/>
            </a:endParaRPr>
          </a:p>
        </p:txBody>
      </p:sp>
    </p:spTree>
    <p:extLst>
      <p:ext uri="{BB962C8B-B14F-4D97-AF65-F5344CB8AC3E}">
        <p14:creationId xmlns:p14="http://schemas.microsoft.com/office/powerpoint/2010/main" val="3187750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Examples of immediate causes related to types of falls. More information located in the Notes sectio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0650" y="1598612"/>
            <a:ext cx="6362700"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normAutofit/>
          </a:bodyPr>
          <a:lstStyle/>
          <a:p>
            <a:r>
              <a:rPr lang="en-US" sz="3200" dirty="0">
                <a:latin typeface="+mn-lt"/>
              </a:rPr>
              <a:t>Examples of Immediate Causes Related to Types of Falls</a:t>
            </a:r>
          </a:p>
        </p:txBody>
      </p:sp>
    </p:spTree>
    <p:extLst>
      <p:ext uri="{BB962C8B-B14F-4D97-AF65-F5344CB8AC3E}">
        <p14:creationId xmlns:p14="http://schemas.microsoft.com/office/powerpoint/2010/main" val="1519259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Policy:</a:t>
            </a:r>
          </a:p>
        </p:txBody>
      </p:sp>
      <p:sp>
        <p:nvSpPr>
          <p:cNvPr id="3" name="Text Placeholder 2"/>
          <p:cNvSpPr>
            <a:spLocks noGrp="1"/>
          </p:cNvSpPr>
          <p:nvPr>
            <p:ph idx="1"/>
          </p:nvPr>
        </p:nvSpPr>
        <p:spPr/>
        <p:txBody>
          <a:bodyPr>
            <a:noAutofit/>
          </a:bodyPr>
          <a:lstStyle/>
          <a:p>
            <a:r>
              <a:rPr lang="en-US" sz="2400" dirty="0">
                <a:latin typeface="+mn-lt"/>
              </a:rPr>
              <a:t>Ensure a safe environment</a:t>
            </a:r>
          </a:p>
          <a:p>
            <a:r>
              <a:rPr lang="en-US" sz="2400" dirty="0">
                <a:latin typeface="+mn-lt"/>
              </a:rPr>
              <a:t>Assess for risk of falls</a:t>
            </a:r>
          </a:p>
          <a:p>
            <a:r>
              <a:rPr lang="en-US" sz="2400" dirty="0">
                <a:latin typeface="+mn-lt"/>
              </a:rPr>
              <a:t>Implement prevention strategies</a:t>
            </a:r>
          </a:p>
          <a:p>
            <a:r>
              <a:rPr lang="en-US" sz="2400" dirty="0">
                <a:latin typeface="+mn-lt"/>
              </a:rPr>
              <a:t>Clinical management of the patient following a fall</a:t>
            </a:r>
          </a:p>
          <a:p>
            <a:r>
              <a:rPr lang="en-US" sz="2400" dirty="0">
                <a:latin typeface="+mn-lt"/>
              </a:rPr>
              <a:t>High fall risk will be documented in the medical record for clinical warning. </a:t>
            </a:r>
          </a:p>
        </p:txBody>
      </p:sp>
    </p:spTree>
    <p:extLst>
      <p:ext uri="{BB962C8B-B14F-4D97-AF65-F5344CB8AC3E}">
        <p14:creationId xmlns:p14="http://schemas.microsoft.com/office/powerpoint/2010/main" val="3502036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Prevention and Management:</a:t>
            </a:r>
          </a:p>
        </p:txBody>
      </p:sp>
      <p:sp>
        <p:nvSpPr>
          <p:cNvPr id="3" name="Text Placeholder 2"/>
          <p:cNvSpPr>
            <a:spLocks noGrp="1"/>
          </p:cNvSpPr>
          <p:nvPr>
            <p:ph idx="1"/>
          </p:nvPr>
        </p:nvSpPr>
        <p:spPr>
          <a:xfrm>
            <a:off x="457200" y="1783250"/>
            <a:ext cx="8229600" cy="4190513"/>
          </a:xfrm>
        </p:spPr>
        <p:txBody>
          <a:bodyPr>
            <a:noAutofit/>
          </a:bodyPr>
          <a:lstStyle/>
          <a:p>
            <a:pPr marL="0" indent="0">
              <a:buNone/>
            </a:pPr>
            <a:r>
              <a:rPr lang="en-US" sz="2200" dirty="0">
                <a:latin typeface="+mn-lt"/>
              </a:rPr>
              <a:t>Complete the Morse Fall Risk Scale for the following:</a:t>
            </a:r>
          </a:p>
          <a:p>
            <a:pPr marL="0" indent="0">
              <a:buNone/>
            </a:pPr>
            <a:r>
              <a:rPr lang="en-US" sz="2200" b="1" dirty="0">
                <a:latin typeface="+mn-lt"/>
              </a:rPr>
              <a:t>All admitted patients</a:t>
            </a:r>
          </a:p>
          <a:p>
            <a:r>
              <a:rPr lang="en-US" sz="2200" dirty="0">
                <a:latin typeface="+mn-lt"/>
              </a:rPr>
              <a:t>Upon admissions</a:t>
            </a:r>
          </a:p>
          <a:p>
            <a:r>
              <a:rPr lang="en-US" sz="2200" dirty="0">
                <a:latin typeface="+mn-lt"/>
              </a:rPr>
              <a:t>Upon transfer</a:t>
            </a:r>
          </a:p>
          <a:p>
            <a:r>
              <a:rPr lang="en-US" sz="2200" dirty="0">
                <a:latin typeface="+mn-lt"/>
              </a:rPr>
              <a:t>Upon change in patient condition</a:t>
            </a:r>
          </a:p>
          <a:p>
            <a:r>
              <a:rPr lang="en-US" sz="2200" dirty="0">
                <a:latin typeface="+mn-lt"/>
              </a:rPr>
              <a:t>After a fall</a:t>
            </a:r>
          </a:p>
          <a:p>
            <a:pPr>
              <a:spcAft>
                <a:spcPts val="1200"/>
              </a:spcAft>
            </a:pPr>
            <a:r>
              <a:rPr lang="en-US" sz="2200" dirty="0">
                <a:latin typeface="+mn-lt"/>
              </a:rPr>
              <a:t>At least every 30 days</a:t>
            </a:r>
          </a:p>
          <a:p>
            <a:pPr marL="0" indent="0">
              <a:buNone/>
            </a:pPr>
            <a:r>
              <a:rPr lang="en-US" sz="2200" b="1" dirty="0">
                <a:latin typeface="+mn-lt"/>
              </a:rPr>
              <a:t>Emergency/Urgent Care</a:t>
            </a:r>
          </a:p>
          <a:p>
            <a:r>
              <a:rPr lang="en-US" sz="2200" dirty="0">
                <a:latin typeface="+mn-lt"/>
              </a:rPr>
              <a:t> Upon every visit</a:t>
            </a:r>
          </a:p>
        </p:txBody>
      </p:sp>
    </p:spTree>
    <p:extLst>
      <p:ext uri="{BB962C8B-B14F-4D97-AF65-F5344CB8AC3E}">
        <p14:creationId xmlns:p14="http://schemas.microsoft.com/office/powerpoint/2010/main" val="2824970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Prevention and Management:</a:t>
            </a:r>
          </a:p>
        </p:txBody>
      </p:sp>
      <p:sp>
        <p:nvSpPr>
          <p:cNvPr id="3" name="Text Placeholder 2"/>
          <p:cNvSpPr>
            <a:spLocks noGrp="1"/>
          </p:cNvSpPr>
          <p:nvPr>
            <p:ph idx="1"/>
          </p:nvPr>
        </p:nvSpPr>
        <p:spPr>
          <a:xfrm>
            <a:off x="457200" y="1870334"/>
            <a:ext cx="8229600" cy="4190513"/>
          </a:xfrm>
        </p:spPr>
        <p:txBody>
          <a:bodyPr>
            <a:noAutofit/>
          </a:bodyPr>
          <a:lstStyle/>
          <a:p>
            <a:pPr marL="0" indent="0">
              <a:buNone/>
            </a:pPr>
            <a:r>
              <a:rPr lang="en-US" sz="2200" dirty="0">
                <a:latin typeface="+mn-lt"/>
              </a:rPr>
              <a:t>Complete the Morse Fall Risk Scale for the following:</a:t>
            </a:r>
          </a:p>
          <a:p>
            <a:pPr marL="0" indent="0">
              <a:buNone/>
            </a:pPr>
            <a:r>
              <a:rPr lang="en-US" sz="2200" b="1" dirty="0">
                <a:latin typeface="+mn-lt"/>
              </a:rPr>
              <a:t>Outpatients</a:t>
            </a:r>
          </a:p>
          <a:p>
            <a:r>
              <a:rPr lang="en-US" sz="2200" dirty="0">
                <a:latin typeface="+mn-lt"/>
              </a:rPr>
              <a:t>During primary care visit</a:t>
            </a:r>
          </a:p>
          <a:p>
            <a:r>
              <a:rPr lang="en-US" sz="2200" dirty="0">
                <a:latin typeface="+mn-lt"/>
              </a:rPr>
              <a:t>All patients undergoing procedures are considered  high risk for falls as a result of medications given</a:t>
            </a:r>
          </a:p>
          <a:p>
            <a:r>
              <a:rPr lang="en-US" sz="2200" dirty="0">
                <a:latin typeface="+mn-lt"/>
              </a:rPr>
              <a:t>All patients receiving moderate sedation will have designated adult driver</a:t>
            </a:r>
          </a:p>
          <a:p>
            <a:r>
              <a:rPr lang="en-US" sz="2200" dirty="0">
                <a:latin typeface="+mn-lt"/>
              </a:rPr>
              <a:t>All patients undergoing procedures are considered  high risk for falls as a result of medications given</a:t>
            </a:r>
          </a:p>
          <a:p>
            <a:r>
              <a:rPr lang="en-US" sz="2200" dirty="0">
                <a:latin typeface="+mn-lt"/>
              </a:rPr>
              <a:t>Annually in all other outpatient settings</a:t>
            </a:r>
          </a:p>
        </p:txBody>
      </p:sp>
    </p:spTree>
    <p:extLst>
      <p:ext uri="{BB962C8B-B14F-4D97-AF65-F5344CB8AC3E}">
        <p14:creationId xmlns:p14="http://schemas.microsoft.com/office/powerpoint/2010/main" val="1031269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Prevention and Management:</a:t>
            </a:r>
          </a:p>
        </p:txBody>
      </p:sp>
      <p:sp>
        <p:nvSpPr>
          <p:cNvPr id="3" name="Text Placeholder 2"/>
          <p:cNvSpPr>
            <a:spLocks noGrp="1"/>
          </p:cNvSpPr>
          <p:nvPr>
            <p:ph idx="1"/>
          </p:nvPr>
        </p:nvSpPr>
        <p:spPr/>
        <p:txBody>
          <a:bodyPr>
            <a:noAutofit/>
          </a:bodyPr>
          <a:lstStyle/>
          <a:p>
            <a:pPr marL="0" indent="0">
              <a:buNone/>
            </a:pPr>
            <a:r>
              <a:rPr lang="en-US" sz="2200" dirty="0">
                <a:latin typeface="+mn-lt"/>
              </a:rPr>
              <a:t>Complete the Morse Fall Risk Scale for the following:</a:t>
            </a:r>
          </a:p>
          <a:p>
            <a:pPr marL="0" indent="0">
              <a:buNone/>
            </a:pPr>
            <a:r>
              <a:rPr lang="en-US" sz="2200" b="1" dirty="0">
                <a:latin typeface="+mn-lt"/>
              </a:rPr>
              <a:t>Home Based Primary Care</a:t>
            </a:r>
          </a:p>
          <a:p>
            <a:r>
              <a:rPr lang="en-US" sz="2200" dirty="0">
                <a:latin typeface="+mn-lt"/>
              </a:rPr>
              <a:t>Upon admission</a:t>
            </a:r>
          </a:p>
          <a:p>
            <a:r>
              <a:rPr lang="en-US" sz="2200" dirty="0">
                <a:latin typeface="+mn-lt"/>
              </a:rPr>
              <a:t>After a fall</a:t>
            </a:r>
          </a:p>
          <a:p>
            <a:r>
              <a:rPr lang="en-US" sz="2200" dirty="0">
                <a:latin typeface="+mn-lt"/>
              </a:rPr>
              <a:t>After a change in condition</a:t>
            </a:r>
          </a:p>
          <a:p>
            <a:r>
              <a:rPr lang="en-US" sz="2200" dirty="0">
                <a:latin typeface="+mn-lt"/>
              </a:rPr>
              <a:t>Annually</a:t>
            </a:r>
          </a:p>
        </p:txBody>
      </p:sp>
    </p:spTree>
    <p:extLst>
      <p:ext uri="{BB962C8B-B14F-4D97-AF65-F5344CB8AC3E}">
        <p14:creationId xmlns:p14="http://schemas.microsoft.com/office/powerpoint/2010/main" val="1199892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Patient and Family Education:</a:t>
            </a:r>
          </a:p>
        </p:txBody>
      </p:sp>
      <p:sp>
        <p:nvSpPr>
          <p:cNvPr id="3" name="Text Placeholder 2"/>
          <p:cNvSpPr>
            <a:spLocks noGrp="1"/>
          </p:cNvSpPr>
          <p:nvPr>
            <p:ph idx="1"/>
          </p:nvPr>
        </p:nvSpPr>
        <p:spPr>
          <a:xfrm>
            <a:off x="457200" y="1731176"/>
            <a:ext cx="8229600" cy="4190513"/>
          </a:xfrm>
        </p:spPr>
        <p:txBody>
          <a:bodyPr>
            <a:noAutofit/>
          </a:bodyPr>
          <a:lstStyle/>
          <a:p>
            <a:pPr marL="0" indent="0">
              <a:buNone/>
            </a:pPr>
            <a:r>
              <a:rPr lang="en-US" sz="2400" dirty="0">
                <a:latin typeface="+mn-lt"/>
              </a:rPr>
              <a:t>Patient and Family Education</a:t>
            </a:r>
          </a:p>
          <a:p>
            <a:r>
              <a:rPr lang="en-US" sz="2400" dirty="0">
                <a:latin typeface="+mn-lt"/>
              </a:rPr>
              <a:t>Evidence suggests that patient are more likely to understand their fall risk when engaged by their nurses in the risk assessment AND patients are more likely to follow the intervention plan when involved in developing it.</a:t>
            </a:r>
          </a:p>
          <a:p>
            <a:pPr>
              <a:buFont typeface="Arial" panose="020B0604020202020204" pitchFamily="34" charset="0"/>
              <a:buChar char="•"/>
            </a:pPr>
            <a:r>
              <a:rPr lang="en-US" sz="2400" dirty="0">
                <a:latin typeface="+mn-lt"/>
              </a:rPr>
              <a:t>Educate patient and family about fall prevention in the home prior to discharge.</a:t>
            </a:r>
          </a:p>
          <a:p>
            <a:pPr>
              <a:buFont typeface="Arial" panose="020B0604020202020204" pitchFamily="34" charset="0"/>
              <a:buChar char="•"/>
            </a:pPr>
            <a:endParaRPr lang="en-US" sz="2400" dirty="0">
              <a:latin typeface="+mn-lt"/>
            </a:endParaRPr>
          </a:p>
        </p:txBody>
      </p:sp>
    </p:spTree>
    <p:extLst>
      <p:ext uri="{BB962C8B-B14F-4D97-AF65-F5344CB8AC3E}">
        <p14:creationId xmlns:p14="http://schemas.microsoft.com/office/powerpoint/2010/main" val="3038548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Responsibilities</a:t>
            </a:r>
          </a:p>
        </p:txBody>
      </p:sp>
      <p:sp>
        <p:nvSpPr>
          <p:cNvPr id="3" name="Text Placeholder 2"/>
          <p:cNvSpPr>
            <a:spLocks noGrp="1"/>
          </p:cNvSpPr>
          <p:nvPr>
            <p:ph idx="1"/>
          </p:nvPr>
        </p:nvSpPr>
        <p:spPr>
          <a:xfrm>
            <a:off x="457200" y="1926484"/>
            <a:ext cx="8229600" cy="4190513"/>
          </a:xfrm>
        </p:spPr>
        <p:txBody>
          <a:bodyPr>
            <a:noAutofit/>
          </a:bodyPr>
          <a:lstStyle/>
          <a:p>
            <a:pPr marL="0" indent="0">
              <a:buNone/>
            </a:pPr>
            <a:r>
              <a:rPr lang="en-US" sz="2400" b="1" u="sng" dirty="0">
                <a:latin typeface="+mn-lt"/>
              </a:rPr>
              <a:t>Every employee providing direct/indirect patient care is responsible for:</a:t>
            </a:r>
          </a:p>
          <a:p>
            <a:pPr marL="0" indent="0">
              <a:buNone/>
            </a:pPr>
            <a:r>
              <a:rPr lang="en-US" sz="2400" dirty="0">
                <a:latin typeface="+mn-lt"/>
              </a:rPr>
              <a:t>      1.  Recognizing, correcting or minimizing potential   </a:t>
            </a:r>
          </a:p>
          <a:p>
            <a:pPr marL="0" indent="0">
              <a:buNone/>
            </a:pPr>
            <a:r>
              <a:rPr lang="en-US" sz="2400" dirty="0">
                <a:latin typeface="+mn-lt"/>
              </a:rPr>
              <a:t>           hazards that might contribute to patient falls.</a:t>
            </a:r>
          </a:p>
          <a:p>
            <a:pPr marL="0" indent="0">
              <a:buNone/>
            </a:pPr>
            <a:r>
              <a:rPr lang="en-US" sz="2400" dirty="0">
                <a:latin typeface="+mn-lt"/>
              </a:rPr>
              <a:t>      2.  Reporting uncorrectable hazards to the employee’s </a:t>
            </a:r>
          </a:p>
          <a:p>
            <a:pPr marL="0" indent="0">
              <a:buNone/>
            </a:pPr>
            <a:r>
              <a:rPr lang="en-US" sz="2400" dirty="0">
                <a:latin typeface="+mn-lt"/>
              </a:rPr>
              <a:t>            immediate supervisor for appropriate action (e.g., </a:t>
            </a:r>
          </a:p>
          <a:p>
            <a:pPr marL="0" indent="0">
              <a:buNone/>
            </a:pPr>
            <a:r>
              <a:rPr lang="en-US" sz="2400" dirty="0">
                <a:latin typeface="+mn-lt"/>
              </a:rPr>
              <a:t>            electronic work order, phone call)</a:t>
            </a:r>
          </a:p>
          <a:p>
            <a:pPr marL="0" indent="0">
              <a:buNone/>
            </a:pPr>
            <a:r>
              <a:rPr lang="en-US" sz="2400" dirty="0">
                <a:latin typeface="+mn-lt"/>
              </a:rPr>
              <a:t> 	3.  Recognizing patients identified as at risk for falls by</a:t>
            </a:r>
          </a:p>
          <a:p>
            <a:pPr marL="0" indent="0">
              <a:buNone/>
            </a:pPr>
            <a:r>
              <a:rPr lang="en-US" sz="2400" dirty="0">
                <a:latin typeface="+mn-lt"/>
              </a:rPr>
              <a:t>            the yellow patient wrist band and signage.</a:t>
            </a:r>
          </a:p>
        </p:txBody>
      </p:sp>
    </p:spTree>
    <p:extLst>
      <p:ext uri="{BB962C8B-B14F-4D97-AF65-F5344CB8AC3E}">
        <p14:creationId xmlns:p14="http://schemas.microsoft.com/office/powerpoint/2010/main" val="1665136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Responsibilities:</a:t>
            </a:r>
          </a:p>
        </p:txBody>
      </p:sp>
      <p:sp>
        <p:nvSpPr>
          <p:cNvPr id="3" name="Text Placeholder 2"/>
          <p:cNvSpPr>
            <a:spLocks noGrp="1"/>
          </p:cNvSpPr>
          <p:nvPr>
            <p:ph idx="1"/>
          </p:nvPr>
        </p:nvSpPr>
        <p:spPr>
          <a:xfrm>
            <a:off x="457200" y="1926484"/>
            <a:ext cx="8229600" cy="4190513"/>
          </a:xfrm>
        </p:spPr>
        <p:txBody>
          <a:bodyPr>
            <a:noAutofit/>
          </a:bodyPr>
          <a:lstStyle/>
          <a:p>
            <a:pPr marL="0" indent="0" algn="ctr">
              <a:buNone/>
            </a:pPr>
            <a:endParaRPr lang="en-US" sz="3600" dirty="0">
              <a:latin typeface="+mn-lt"/>
            </a:endParaRPr>
          </a:p>
          <a:p>
            <a:pPr marL="0" indent="0" algn="ctr">
              <a:buNone/>
            </a:pPr>
            <a:r>
              <a:rPr lang="en-US" sz="3600" dirty="0">
                <a:latin typeface="+mn-lt"/>
              </a:rPr>
              <a:t>It is up to all employees to observe for potential fall hazards in the workplace that could cause accidental falls.</a:t>
            </a:r>
          </a:p>
          <a:p>
            <a:pPr marL="0" indent="0">
              <a:buNone/>
            </a:pPr>
            <a:r>
              <a:rPr lang="en-US" sz="3600" dirty="0">
                <a:latin typeface="+mn-lt"/>
              </a:rPr>
              <a:t>           </a:t>
            </a:r>
          </a:p>
        </p:txBody>
      </p:sp>
    </p:spTree>
    <p:extLst>
      <p:ext uri="{BB962C8B-B14F-4D97-AF65-F5344CB8AC3E}">
        <p14:creationId xmlns:p14="http://schemas.microsoft.com/office/powerpoint/2010/main" val="1258436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When a Fall Occurs:</a:t>
            </a:r>
          </a:p>
        </p:txBody>
      </p:sp>
      <p:sp>
        <p:nvSpPr>
          <p:cNvPr id="3" name="Text Placeholder 2"/>
          <p:cNvSpPr>
            <a:spLocks noGrp="1"/>
          </p:cNvSpPr>
          <p:nvPr>
            <p:ph idx="1"/>
          </p:nvPr>
        </p:nvSpPr>
        <p:spPr>
          <a:xfrm>
            <a:off x="272473" y="1690473"/>
            <a:ext cx="8640618" cy="5167527"/>
          </a:xfrm>
        </p:spPr>
        <p:txBody>
          <a:bodyPr>
            <a:noAutofit/>
          </a:bodyPr>
          <a:lstStyle/>
          <a:p>
            <a:pPr>
              <a:buFont typeface="Arial" panose="020B0604020202020204" pitchFamily="34" charset="0"/>
              <a:buChar char="•"/>
            </a:pPr>
            <a:r>
              <a:rPr lang="en-US" sz="2200" dirty="0">
                <a:latin typeface="+mn-lt"/>
              </a:rPr>
              <a:t>Make the situation safe</a:t>
            </a:r>
          </a:p>
          <a:p>
            <a:pPr>
              <a:buFont typeface="Arial" panose="020B0604020202020204" pitchFamily="34" charset="0"/>
              <a:buChar char="•"/>
            </a:pPr>
            <a:r>
              <a:rPr lang="en-US" sz="2200" dirty="0">
                <a:latin typeface="+mn-lt"/>
              </a:rPr>
              <a:t>Preserve evidence and relevant information </a:t>
            </a:r>
          </a:p>
          <a:p>
            <a:pPr>
              <a:spcAft>
                <a:spcPts val="1200"/>
              </a:spcAft>
              <a:buFont typeface="Arial" panose="020B0604020202020204" pitchFamily="34" charset="0"/>
              <a:buChar char="•"/>
            </a:pPr>
            <a:r>
              <a:rPr lang="en-US" sz="2200" dirty="0">
                <a:latin typeface="+mn-lt"/>
              </a:rPr>
              <a:t>Notify the provider or other appropriate staff member</a:t>
            </a:r>
          </a:p>
          <a:p>
            <a:pPr marL="0" indent="0">
              <a:buNone/>
            </a:pPr>
            <a:r>
              <a:rPr lang="en-US" sz="2200" dirty="0">
                <a:latin typeface="+mn-lt"/>
              </a:rPr>
              <a:t>The Nurse:</a:t>
            </a:r>
          </a:p>
          <a:p>
            <a:pPr>
              <a:buFont typeface="Arial" panose="020B0604020202020204" pitchFamily="34" charset="0"/>
              <a:buChar char="•"/>
            </a:pPr>
            <a:r>
              <a:rPr lang="en-US" sz="2200" dirty="0">
                <a:latin typeface="+mn-lt"/>
              </a:rPr>
              <a:t>Assesses the patient, takes vital signs and blood glucose (if applicable)</a:t>
            </a:r>
          </a:p>
          <a:p>
            <a:pPr>
              <a:buFont typeface="Arial" panose="020B0604020202020204" pitchFamily="34" charset="0"/>
              <a:buChar char="•"/>
            </a:pPr>
            <a:r>
              <a:rPr lang="en-US" sz="2200" dirty="0">
                <a:latin typeface="+mn-lt"/>
              </a:rPr>
              <a:t>Completes “EK-High Fall Risk” progress note (if applicable), which initiates a clinical posting.</a:t>
            </a:r>
          </a:p>
          <a:p>
            <a:pPr>
              <a:buFont typeface="Arial" panose="020B0604020202020204" pitchFamily="34" charset="0"/>
              <a:buChar char="•"/>
            </a:pPr>
            <a:r>
              <a:rPr lang="en-US" sz="2200" dirty="0">
                <a:latin typeface="+mn-lt"/>
              </a:rPr>
              <a:t>Utilize post-fall huddles on your unit or work area to guide post-fall actions.</a:t>
            </a:r>
          </a:p>
          <a:p>
            <a:pPr>
              <a:buFont typeface="Arial" panose="020B0604020202020204" pitchFamily="34" charset="0"/>
              <a:buChar char="•"/>
            </a:pPr>
            <a:r>
              <a:rPr lang="en-US" sz="2200" dirty="0">
                <a:latin typeface="+mn-lt"/>
              </a:rPr>
              <a:t>Enters an electronic note in CPRS titled, “EK-Post Fall/Near Fall” and enters a Patient Safety Report</a:t>
            </a:r>
          </a:p>
          <a:p>
            <a:pPr>
              <a:buFont typeface="Courier New" panose="02070309020205020404" pitchFamily="49" charset="0"/>
              <a:buChar char="o"/>
            </a:pPr>
            <a:endParaRPr lang="en-US" sz="2200" dirty="0">
              <a:latin typeface="+mn-lt"/>
            </a:endParaRPr>
          </a:p>
          <a:p>
            <a:pPr marL="0" indent="0">
              <a:buNone/>
            </a:pPr>
            <a:r>
              <a:rPr lang="en-US" sz="2200" dirty="0">
                <a:latin typeface="+mn-lt"/>
              </a:rPr>
              <a:t>           </a:t>
            </a:r>
          </a:p>
        </p:txBody>
      </p:sp>
    </p:spTree>
    <p:extLst>
      <p:ext uri="{BB962C8B-B14F-4D97-AF65-F5344CB8AC3E}">
        <p14:creationId xmlns:p14="http://schemas.microsoft.com/office/powerpoint/2010/main" val="573330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Falls as Sentinel Events:</a:t>
            </a:r>
          </a:p>
        </p:txBody>
      </p:sp>
      <p:sp>
        <p:nvSpPr>
          <p:cNvPr id="3" name="Text Placeholder 2"/>
          <p:cNvSpPr>
            <a:spLocks noGrp="1"/>
          </p:cNvSpPr>
          <p:nvPr>
            <p:ph idx="1"/>
          </p:nvPr>
        </p:nvSpPr>
        <p:spPr>
          <a:xfrm>
            <a:off x="225631" y="1603141"/>
            <a:ext cx="8680863" cy="5011415"/>
          </a:xfrm>
        </p:spPr>
        <p:txBody>
          <a:bodyPr>
            <a:noAutofit/>
          </a:bodyPr>
          <a:lstStyle/>
          <a:p>
            <a:pPr marL="0" indent="0">
              <a:spcAft>
                <a:spcPts val="600"/>
              </a:spcAft>
              <a:buNone/>
            </a:pPr>
            <a:r>
              <a:rPr lang="en-US" sz="2400" dirty="0">
                <a:latin typeface="+mn-lt"/>
              </a:rPr>
              <a:t>As of January 2021, The Joint Commission has updated their Sentinel Event Policy to include </a:t>
            </a:r>
            <a:r>
              <a:rPr lang="en-US" sz="2400" b="1" dirty="0">
                <a:latin typeface="+mn-lt"/>
              </a:rPr>
              <a:t>Fall Events</a:t>
            </a:r>
            <a:r>
              <a:rPr lang="en-US" sz="2400" dirty="0">
                <a:latin typeface="+mn-lt"/>
              </a:rPr>
              <a:t>!</a:t>
            </a:r>
          </a:p>
          <a:p>
            <a:pPr>
              <a:spcAft>
                <a:spcPts val="600"/>
              </a:spcAft>
            </a:pPr>
            <a:r>
              <a:rPr lang="en-US" sz="2200" dirty="0">
                <a:latin typeface="+mn-lt"/>
              </a:rPr>
              <a:t>A </a:t>
            </a:r>
            <a:r>
              <a:rPr lang="en-US" sz="2200" b="1" dirty="0">
                <a:latin typeface="+mn-lt"/>
              </a:rPr>
              <a:t>Sentinel Event</a:t>
            </a:r>
            <a:r>
              <a:rPr lang="en-US" sz="2200" dirty="0">
                <a:latin typeface="+mn-lt"/>
              </a:rPr>
              <a:t> is a patient safety event (not primarily related to the natural course of the patient’s illness or underlying condition) that reaches a patient and results in death, permanent harm, or severe temporary harm. </a:t>
            </a:r>
          </a:p>
          <a:p>
            <a:r>
              <a:rPr lang="en-US" sz="2400" b="1" dirty="0">
                <a:latin typeface="+mn-lt"/>
              </a:rPr>
              <a:t>NEW Definition of Sentinel Fall Event in Joint Commission Policy:  </a:t>
            </a:r>
          </a:p>
          <a:p>
            <a:pPr lvl="1"/>
            <a:r>
              <a:rPr lang="en-US" sz="1800" b="1" i="1" dirty="0">
                <a:latin typeface="+mn-lt"/>
              </a:rPr>
              <a:t>Sentinel Fall Event: </a:t>
            </a:r>
            <a:r>
              <a:rPr lang="en-US" sz="1800" i="1" dirty="0">
                <a:latin typeface="+mn-lt"/>
              </a:rPr>
              <a:t>Fall resulting in any of the following: any fracture; surgery, casting, or traction; required consult/management or comfort care for a neurological (for example, skull fracture, subdural or intracranial hemorrhage) or internal (for</a:t>
            </a:r>
            <a:r>
              <a:rPr lang="en-US" sz="1800" dirty="0">
                <a:latin typeface="+mn-lt"/>
              </a:rPr>
              <a:t> </a:t>
            </a:r>
            <a:r>
              <a:rPr lang="en-US" sz="1800" i="1" dirty="0">
                <a:latin typeface="+mn-lt"/>
              </a:rPr>
              <a:t>example, rib fracture, small liver laceration) injury; or a patient with coagulopathy who receives blood products as a result of the fall; death or permanent harm as a result of injuries sustained from the fall (not from physiologic events causing the fall).</a:t>
            </a:r>
            <a:endParaRPr lang="en-US" sz="1800" dirty="0">
              <a:latin typeface="+mn-lt"/>
            </a:endParaRPr>
          </a:p>
          <a:p>
            <a:pPr marL="0" indent="0">
              <a:buNone/>
            </a:pPr>
            <a:endParaRPr lang="en-US" sz="2400" b="1" dirty="0">
              <a:latin typeface="+mn-lt"/>
            </a:endParaRPr>
          </a:p>
        </p:txBody>
      </p:sp>
    </p:spTree>
    <p:extLst>
      <p:ext uri="{BB962C8B-B14F-4D97-AF65-F5344CB8AC3E}">
        <p14:creationId xmlns:p14="http://schemas.microsoft.com/office/powerpoint/2010/main" val="549720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mn-lt"/>
              </a:rPr>
              <a:t>Falls as Sentinel Events:</a:t>
            </a:r>
          </a:p>
        </p:txBody>
      </p:sp>
      <p:sp>
        <p:nvSpPr>
          <p:cNvPr id="3" name="Text Placeholder 2"/>
          <p:cNvSpPr>
            <a:spLocks noGrp="1"/>
          </p:cNvSpPr>
          <p:nvPr>
            <p:ph idx="1"/>
          </p:nvPr>
        </p:nvSpPr>
        <p:spPr>
          <a:xfrm>
            <a:off x="457200" y="1542004"/>
            <a:ext cx="8120743" cy="5011415"/>
          </a:xfrm>
        </p:spPr>
        <p:txBody>
          <a:bodyPr>
            <a:noAutofit/>
          </a:bodyPr>
          <a:lstStyle/>
          <a:p>
            <a:pPr marL="0" indent="0">
              <a:buNone/>
            </a:pPr>
            <a:endParaRPr lang="en-US" sz="2400" b="1" dirty="0">
              <a:latin typeface="+mn-lt"/>
            </a:endParaRPr>
          </a:p>
          <a:p>
            <a:pPr marL="0" indent="0">
              <a:buNone/>
            </a:pPr>
            <a:r>
              <a:rPr lang="en-US" sz="2400" b="1" dirty="0">
                <a:latin typeface="+mn-lt"/>
              </a:rPr>
              <a:t>What does the addition of Fall Events to the Joint Commission Sentinel Event policy mean for us?  </a:t>
            </a:r>
          </a:p>
          <a:p>
            <a:r>
              <a:rPr lang="en-US" sz="2400" dirty="0">
                <a:latin typeface="+mn-lt"/>
              </a:rPr>
              <a:t>Fall Events that meet the new </a:t>
            </a:r>
            <a:r>
              <a:rPr lang="en-US" sz="2400" dirty="0">
                <a:solidFill>
                  <a:prstClr val="black"/>
                </a:solidFill>
                <a:latin typeface="Calibri"/>
              </a:rPr>
              <a:t>Joint Commission definition of a Sentinel Event will now follow the facility policy for reporting Sentinel Events – </a:t>
            </a:r>
            <a:r>
              <a:rPr lang="en-US" sz="2400" i="1" dirty="0">
                <a:solidFill>
                  <a:prstClr val="black"/>
                </a:solidFill>
                <a:latin typeface="Calibri"/>
              </a:rPr>
              <a:t>see Quality Manager for more information on this.  </a:t>
            </a:r>
            <a:endParaRPr lang="en-US" sz="2400" i="1" dirty="0">
              <a:latin typeface="+mn-lt"/>
            </a:endParaRPr>
          </a:p>
          <a:p>
            <a:r>
              <a:rPr lang="en-US" sz="2400" dirty="0">
                <a:latin typeface="+mn-lt"/>
              </a:rPr>
              <a:t>We will do an in-depth review of any fall that meets the new Joint Commission definition of a Sentinel Event – this is no change from our current practice, we regularly review all fall events! </a:t>
            </a:r>
          </a:p>
        </p:txBody>
      </p:sp>
    </p:spTree>
    <p:extLst>
      <p:ext uri="{BB962C8B-B14F-4D97-AF65-F5344CB8AC3E}">
        <p14:creationId xmlns:p14="http://schemas.microsoft.com/office/powerpoint/2010/main" val="1707343427"/>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FFFFFE"/>
      </a:dk2>
      <a:lt2>
        <a:srgbClr val="FFFFFE"/>
      </a:lt2>
      <a:accent1>
        <a:srgbClr val="0083BE"/>
      </a:accent1>
      <a:accent2>
        <a:srgbClr val="78BE20"/>
      </a:accent2>
      <a:accent3>
        <a:srgbClr val="C4262E"/>
      </a:accent3>
      <a:accent4>
        <a:srgbClr val="FF7F32"/>
      </a:accent4>
      <a:accent5>
        <a:srgbClr val="F3CF45"/>
      </a:accent5>
      <a:accent6>
        <a:srgbClr val="FFFFF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20A88AAD769F46BA9259C7AF774084" ma:contentTypeVersion="11" ma:contentTypeDescription="Create a new document." ma:contentTypeScope="" ma:versionID="12eb6e72c5bf740b7d1dde819cfb3f17">
  <xsd:schema xmlns:xsd="http://www.w3.org/2001/XMLSchema" xmlns:xs="http://www.w3.org/2001/XMLSchema" xmlns:p="http://schemas.microsoft.com/office/2006/metadata/properties" xmlns:ns2="f6dc1158-d181-477e-9263-a33c56a92867" xmlns:ns3="6c7cbfae-09b3-446b-8042-326ae5c03660" targetNamespace="http://schemas.microsoft.com/office/2006/metadata/properties" ma:root="true" ma:fieldsID="884a033bb0220696376806dbe668fa1c" ns2:_="" ns3:_="">
    <xsd:import namespace="f6dc1158-d181-477e-9263-a33c56a92867"/>
    <xsd:import namespace="6c7cbfae-09b3-446b-8042-326ae5c03660"/>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dc1158-d181-477e-9263-a33c56a928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7cbfae-09b3-446b-8042-326ae5c03660"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4e14c6b6-553d-4e61-ba7b-07b53f689497}" ma:internalName="TaxCatchAll" ma:showField="CatchAllData" ma:web="6c7cbfae-09b3-446b-8042-326ae5c036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c7cbfae-09b3-446b-8042-326ae5c03660" xsi:nil="true"/>
    <lcf76f155ced4ddcb4097134ff3c332f xmlns="f6dc1158-d181-477e-9263-a33c56a9286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8527178-084D-493F-93BA-7E7BBD52A6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dc1158-d181-477e-9263-a33c56a92867"/>
    <ds:schemaRef ds:uri="6c7cbfae-09b3-446b-8042-326ae5c036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E50FB2-2938-4C6C-BDED-6F3B30025863}">
  <ds:schemaRefs>
    <ds:schemaRef ds:uri="http://schemas.microsoft.com/sharepoint/v3/contenttype/forms"/>
  </ds:schemaRefs>
</ds:datastoreItem>
</file>

<file path=customXml/itemProps3.xml><?xml version="1.0" encoding="utf-8"?>
<ds:datastoreItem xmlns:ds="http://schemas.openxmlformats.org/officeDocument/2006/customXml" ds:itemID="{483F6365-1DC1-461C-80A7-45ABD62DC502}">
  <ds:schemaRefs>
    <ds:schemaRef ds:uri="http://purl.org/dc/elements/1.1/"/>
    <ds:schemaRef ds:uri="http://schemas.microsoft.com/office/2006/metadata/properties"/>
    <ds:schemaRef ds:uri="8dd4b5e2-142b-453f-b573-0b3068c69ff3"/>
    <ds:schemaRef ds:uri="http://schemas.microsoft.com/sharepoint/v4"/>
    <ds:schemaRef ds:uri="9f96ae26-9004-41a3-99cb-83880e93c058"/>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http://www.w3.org/XML/1998/namespace"/>
    <ds:schemaRef ds:uri="http://purl.org/dc/terms/"/>
    <ds:schemaRef ds:uri="6c7cbfae-09b3-446b-8042-326ae5c03660"/>
    <ds:schemaRef ds:uri="f6dc1158-d181-477e-9263-a33c56a92867"/>
  </ds:schemaRefs>
</ds:datastoreItem>
</file>

<file path=docProps/app.xml><?xml version="1.0" encoding="utf-8"?>
<Properties xmlns="http://schemas.openxmlformats.org/officeDocument/2006/extended-properties" xmlns:vt="http://schemas.openxmlformats.org/officeDocument/2006/docPropsVTypes">
  <TotalTime>1149</TotalTime>
  <Words>1342</Words>
  <Application>Microsoft Office PowerPoint</Application>
  <PresentationFormat>On-screen Show (4:3)</PresentationFormat>
  <Paragraphs>133</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Courier New</vt:lpstr>
      <vt:lpstr>Georgia</vt:lpstr>
      <vt:lpstr>Office Theme</vt:lpstr>
      <vt:lpstr>         Fall Prevention and Management </vt:lpstr>
      <vt:lpstr>  Objectives:</vt:lpstr>
      <vt:lpstr>Definitions:</vt:lpstr>
      <vt:lpstr>      Fall Risk Screening:</vt:lpstr>
      <vt:lpstr>Risk Scale:</vt:lpstr>
      <vt:lpstr>Assessed Low Fall Risk:</vt:lpstr>
      <vt:lpstr>Assessed Moderate Fall Risk:</vt:lpstr>
      <vt:lpstr>Assess High Fall Risk:</vt:lpstr>
      <vt:lpstr>ABCS</vt:lpstr>
      <vt:lpstr>Examples of Immediate Causes Related to Types of Falls</vt:lpstr>
      <vt:lpstr>Policy:</vt:lpstr>
      <vt:lpstr>Prevention and Management:</vt:lpstr>
      <vt:lpstr>Prevention and Management:</vt:lpstr>
      <vt:lpstr>Prevention and Management:</vt:lpstr>
      <vt:lpstr>Patient and Family Education:</vt:lpstr>
      <vt:lpstr>Responsibilities</vt:lpstr>
      <vt:lpstr>Responsibilities:</vt:lpstr>
      <vt:lpstr>When a Fall Occurs:</vt:lpstr>
      <vt:lpstr>Falls as Sentinel Events:</vt:lpstr>
      <vt:lpstr>Falls as Sentinel Events: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Fall Prevention</dc:title>
  <dc:creator>Janis.Holiwell@va.gov</dc:creator>
  <cp:lastModifiedBy>Lamborn, Reggie</cp:lastModifiedBy>
  <cp:revision>99</cp:revision>
  <cp:lastPrinted>2011-05-13T15:25:22Z</cp:lastPrinted>
  <dcterms:created xsi:type="dcterms:W3CDTF">2011-05-12T19:56:03Z</dcterms:created>
  <dcterms:modified xsi:type="dcterms:W3CDTF">2026-02-18T18:27:57Z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0x0101002B20A88AAD769F46BA9259C7AF774084</vt:lpwstr>
  </property>
  <property fmtid="{D5CDD505-2E9C-101B-9397-08002B2CF9AE}" pid="3" name="_dlc_DocIdItemGuid">
    <vt:lpwstr>78e6d823-de4a-4251-ad22-12cd7fce01d8</vt:lpwstr>
  </property>
  <property fmtid="{D5CDD505-2E9C-101B-9397-08002B2CF9AE}" pid="4" name="Order">
    <vt:r8>11100</vt:r8>
  </property>
  <property fmtid="{D5CDD505-2E9C-101B-9397-08002B2CF9AE}" pid="5" name="TemplateUrl">
    <vt:lpwstr/>
  </property>
  <property fmtid="{D5CDD505-2E9C-101B-9397-08002B2CF9AE}" pid="6" name="xd_Signature">
    <vt:bool>false</vt:bool>
  </property>
  <property fmtid="{D5CDD505-2E9C-101B-9397-08002B2CF9AE}" pid="7" name="xd_ProgID">
    <vt:lpwstr/>
  </property>
</Properties>
</file>