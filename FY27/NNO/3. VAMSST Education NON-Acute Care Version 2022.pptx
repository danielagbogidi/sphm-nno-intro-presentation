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800" r:id="rId6"/>
    <p:sldId id="804" r:id="rId7"/>
    <p:sldId id="805" r:id="rId8"/>
    <p:sldId id="806" r:id="rId9"/>
    <p:sldId id="803" r:id="rId10"/>
    <p:sldId id="801" r:id="rId11"/>
    <p:sldId id="802" r:id="rId12"/>
    <p:sldId id="784" r:id="rId13"/>
    <p:sldId id="789" r:id="rId14"/>
    <p:sldId id="783" r:id="rId15"/>
    <p:sldId id="790" r:id="rId16"/>
    <p:sldId id="791" r:id="rId17"/>
    <p:sldId id="794" r:id="rId18"/>
    <p:sldId id="792" r:id="rId19"/>
    <p:sldId id="793" r:id="rId20"/>
    <p:sldId id="80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arwood, Jill A." initials="EJA" lastIdx="1" clrIdx="0">
    <p:extLst>
      <p:ext uri="{19B8F6BF-5375-455C-9EA6-DF929625EA0E}">
        <p15:presenceInfo xmlns:p15="http://schemas.microsoft.com/office/powerpoint/2012/main" userId="S::Jill.Earwood@va.gov::31e30a91-7793-43e8-9fc4-d9eea5a3915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B9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410A44-9388-44E1-AFE2-D1ACD947FEA9}" v="10" dt="2022-01-25T20:27:27.5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5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25D6F4-B31E-904E-B67B-83AADCDFE1FC}" type="datetimeFigureOut">
              <a:rPr lang="en-US" smtClean="0"/>
              <a:t>2/11/2026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68866-4D05-8443-AFE3-DAAD589F80D8}" type="slidenum">
              <a:rPr lang="en-US" smtClean="0"/>
              <a:t>‹#›</a:t>
            </a:fld>
            <a:endParaRPr lang="en-US"/>
          </a:p>
        </p:txBody>
      </p:sp>
    </p:spTree>
    <p:extLst>
      <p:ext uri="{BB962C8B-B14F-4D97-AF65-F5344CB8AC3E}">
        <p14:creationId xmlns:p14="http://schemas.microsoft.com/office/powerpoint/2010/main" val="280267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68866-4D05-8443-AFE3-DAAD589F80D8}" type="slidenum">
              <a:rPr lang="en-US" smtClean="0"/>
              <a:t>1</a:t>
            </a:fld>
            <a:endParaRPr lang="en-US"/>
          </a:p>
        </p:txBody>
      </p:sp>
    </p:spTree>
    <p:extLst>
      <p:ext uri="{BB962C8B-B14F-4D97-AF65-F5344CB8AC3E}">
        <p14:creationId xmlns:p14="http://schemas.microsoft.com/office/powerpoint/2010/main" val="2648034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68866-4D05-8443-AFE3-DAAD589F80D8}" type="slidenum">
              <a:rPr lang="en-US" smtClean="0"/>
              <a:t>11</a:t>
            </a:fld>
            <a:endParaRPr lang="en-US"/>
          </a:p>
        </p:txBody>
      </p:sp>
    </p:spTree>
    <p:extLst>
      <p:ext uri="{BB962C8B-B14F-4D97-AF65-F5344CB8AC3E}">
        <p14:creationId xmlns:p14="http://schemas.microsoft.com/office/powerpoint/2010/main" val="2098519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goal is to keep everyone safe. There may be sometimes where the patient can clear their buttocks and stand but are a little unsteady. In this case the patient should have power to keep them safe.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Remember that the MSST is for ALL disciplines, including unlicensed staff to ensure everyone is safe. If it was designed for one discipline only, it would have looked different. There may be sometimes when this patient may not be using power, but the intent of the tool is to keep all safe and if in doubt, defaulting to power keeps everyone safe.  </a:t>
            </a:r>
          </a:p>
          <a:p>
            <a:endParaRPr lang="en-US"/>
          </a:p>
        </p:txBody>
      </p:sp>
      <p:sp>
        <p:nvSpPr>
          <p:cNvPr id="4" name="Slide Number Placeholder 3"/>
          <p:cNvSpPr>
            <a:spLocks noGrp="1"/>
          </p:cNvSpPr>
          <p:nvPr>
            <p:ph type="sldNum" sz="quarter" idx="5"/>
          </p:nvPr>
        </p:nvSpPr>
        <p:spPr/>
        <p:txBody>
          <a:bodyPr/>
          <a:lstStyle/>
          <a:p>
            <a:fld id="{09568866-4D05-8443-AFE3-DAAD589F80D8}" type="slidenum">
              <a:rPr lang="en-US" smtClean="0"/>
              <a:t>12</a:t>
            </a:fld>
            <a:endParaRPr lang="en-US"/>
          </a:p>
        </p:txBody>
      </p:sp>
    </p:spTree>
    <p:extLst>
      <p:ext uri="{BB962C8B-B14F-4D97-AF65-F5344CB8AC3E}">
        <p14:creationId xmlns:p14="http://schemas.microsoft.com/office/powerpoint/2010/main" val="291543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Remember that the MSST is for ALL disciplines, including unlicensed staff to ensure everyone is safe. If it was designed for one discipline only, it would have looked different. There may be sometimes when this patient may not be using power, but the intent of the tool is to keep all safe and if in doubt, defaulting to power keeps everyone safe.  </a:t>
            </a:r>
          </a:p>
        </p:txBody>
      </p:sp>
      <p:sp>
        <p:nvSpPr>
          <p:cNvPr id="4" name="Slide Number Placeholder 3"/>
          <p:cNvSpPr>
            <a:spLocks noGrp="1"/>
          </p:cNvSpPr>
          <p:nvPr>
            <p:ph type="sldNum" sz="quarter" idx="5"/>
          </p:nvPr>
        </p:nvSpPr>
        <p:spPr/>
        <p:txBody>
          <a:bodyPr/>
          <a:lstStyle/>
          <a:p>
            <a:fld id="{09568866-4D05-8443-AFE3-DAAD589F80D8}" type="slidenum">
              <a:rPr lang="en-US" smtClean="0"/>
              <a:t>13</a:t>
            </a:fld>
            <a:endParaRPr lang="en-US"/>
          </a:p>
        </p:txBody>
      </p:sp>
    </p:spTree>
    <p:extLst>
      <p:ext uri="{BB962C8B-B14F-4D97-AF65-F5344CB8AC3E}">
        <p14:creationId xmlns:p14="http://schemas.microsoft.com/office/powerpoint/2010/main" val="860316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7B25F-E9D2-8645-AE39-F6A7144E39EE}"/>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DDB395-DD16-D342-9592-91410AEAF3E5}"/>
              </a:ext>
            </a:extLst>
          </p:cNvPr>
          <p:cNvSpPr>
            <a:spLocks noGrp="1"/>
          </p:cNvSpPr>
          <p:nvPr>
            <p:ph type="subTitle" idx="1"/>
          </p:nvPr>
        </p:nvSpPr>
        <p:spPr>
          <a:xfrm>
            <a:off x="1143000" y="3602038"/>
            <a:ext cx="6858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AE662-1F17-5043-908E-B32FC197EE88}"/>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5" name="Footer Placeholder 4">
            <a:extLst>
              <a:ext uri="{FF2B5EF4-FFF2-40B4-BE49-F238E27FC236}">
                <a16:creationId xmlns:a16="http://schemas.microsoft.com/office/drawing/2014/main" id="{738623DC-322C-E14B-B275-AE01ABB51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8E05F-E447-FF4B-ABC1-3F201D2447B0}"/>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3775388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5DF2-1440-7248-A4CF-2D694FF49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33DFD7-2BFC-8F47-A416-7411A48373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9E408-B623-3E45-812C-EC33D7DF5FCF}"/>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5" name="Footer Placeholder 4">
            <a:extLst>
              <a:ext uri="{FF2B5EF4-FFF2-40B4-BE49-F238E27FC236}">
                <a16:creationId xmlns:a16="http://schemas.microsoft.com/office/drawing/2014/main" id="{24E3191C-92CA-8C41-9853-5AEE79D09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C861C-ACFA-9E40-BD04-3549643F8AB9}"/>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279980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F6C88-EF21-2844-80B6-D019DFDFA00D}"/>
              </a:ext>
            </a:extLst>
          </p:cNvPr>
          <p:cNvSpPr>
            <a:spLocks noGrp="1"/>
          </p:cNvSpPr>
          <p:nvPr>
            <p:ph type="title"/>
          </p:nvPr>
        </p:nvSpPr>
        <p:spPr>
          <a:xfrm>
            <a:off x="623888" y="1709743"/>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C45CE0-1F7F-554A-AF1C-3D59ED13AA3B}"/>
              </a:ext>
            </a:extLst>
          </p:cNvPr>
          <p:cNvSpPr>
            <a:spLocks noGrp="1"/>
          </p:cNvSpPr>
          <p:nvPr>
            <p:ph type="body" idx="1"/>
          </p:nvPr>
        </p:nvSpPr>
        <p:spPr>
          <a:xfrm>
            <a:off x="623888" y="4589468"/>
            <a:ext cx="78867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67044-A4B3-AB4E-81A9-CFFC2A35E04E}"/>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5" name="Footer Placeholder 4">
            <a:extLst>
              <a:ext uri="{FF2B5EF4-FFF2-40B4-BE49-F238E27FC236}">
                <a16:creationId xmlns:a16="http://schemas.microsoft.com/office/drawing/2014/main" id="{1063B41F-E5D8-8843-BD1A-EFBA81B57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43A3B-882F-A040-A702-BCABAD9A4D26}"/>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4102514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F111-08F3-2249-9C4A-84F82580D9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576B6E-0A07-A644-8649-EAE000BD494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709986-8B76-FC42-B08F-2B73BBB86BA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420CF9-8AF6-5044-AD7B-A5124CFEAEE1}"/>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6" name="Footer Placeholder 5">
            <a:extLst>
              <a:ext uri="{FF2B5EF4-FFF2-40B4-BE49-F238E27FC236}">
                <a16:creationId xmlns:a16="http://schemas.microsoft.com/office/drawing/2014/main" id="{11E4FBD6-645C-B94C-84D9-3CCC7B5605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B56184-67AD-2949-9863-6020453427C0}"/>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3421206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30EF-785E-AC4A-B890-B39C98297ACC}"/>
              </a:ext>
            </a:extLst>
          </p:cNvPr>
          <p:cNvSpPr>
            <a:spLocks noGrp="1"/>
          </p:cNvSpPr>
          <p:nvPr>
            <p:ph type="title"/>
          </p:nvPr>
        </p:nvSpPr>
        <p:spPr>
          <a:xfrm>
            <a:off x="629841" y="365129"/>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46CAA0-8198-714A-B74B-36401CA710AA}"/>
              </a:ext>
            </a:extLst>
          </p:cNvPr>
          <p:cNvSpPr>
            <a:spLocks noGrp="1"/>
          </p:cNvSpPr>
          <p:nvPr>
            <p:ph type="body" idx="1"/>
          </p:nvPr>
        </p:nvSpPr>
        <p:spPr>
          <a:xfrm>
            <a:off x="629842" y="1681163"/>
            <a:ext cx="3868340"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0BFDCF-4D81-5547-A04B-BA8117C5ECA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92A666-262E-F447-B2EE-5E8E11D09557}"/>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74556F-043E-DE47-B34B-839D560E354B}"/>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35780E-2C5D-B049-9002-5F736DA0E481}"/>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8" name="Footer Placeholder 7">
            <a:extLst>
              <a:ext uri="{FF2B5EF4-FFF2-40B4-BE49-F238E27FC236}">
                <a16:creationId xmlns:a16="http://schemas.microsoft.com/office/drawing/2014/main" id="{4B7EB162-BFE4-2940-B3B2-B048D42DE2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29D4C4-A90B-BB47-9B29-B2153B532DE6}"/>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4206394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C592-1BF3-B440-BF05-EBBDB8CEC6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922AE2-E375-A446-8E5A-C68E976F2F95}"/>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4" name="Footer Placeholder 3">
            <a:extLst>
              <a:ext uri="{FF2B5EF4-FFF2-40B4-BE49-F238E27FC236}">
                <a16:creationId xmlns:a16="http://schemas.microsoft.com/office/drawing/2014/main" id="{73A4DEBE-4997-FD44-8B0C-EA448DA7C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5BE160-D7EE-604D-A1E0-44E34C1593BC}"/>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2965760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9B3599-A95D-DF4A-BFB1-72C388B61FAC}"/>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3" name="Footer Placeholder 2">
            <a:extLst>
              <a:ext uri="{FF2B5EF4-FFF2-40B4-BE49-F238E27FC236}">
                <a16:creationId xmlns:a16="http://schemas.microsoft.com/office/drawing/2014/main" id="{518AADBC-91F1-0948-96C7-5F3CAFB9A4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149960-A3E4-694C-800E-6595F0197AA4}"/>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2830603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4DF48-DA40-4944-9BE4-6EA1B58FF5E8}"/>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F2BA65-BA7C-A445-B507-3B91C7092661}"/>
              </a:ext>
            </a:extLst>
          </p:cNvPr>
          <p:cNvSpPr>
            <a:spLocks noGrp="1"/>
          </p:cNvSpPr>
          <p:nvPr>
            <p:ph idx="1"/>
          </p:nvPr>
        </p:nvSpPr>
        <p:spPr>
          <a:xfrm>
            <a:off x="3887391" y="987430"/>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7DF395-EC8E-E04A-9EB4-C29279B631F1}"/>
              </a:ext>
            </a:extLst>
          </p:cNvPr>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ACBA09-2BA7-3D47-AF30-9196647F94D3}"/>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6" name="Footer Placeholder 5">
            <a:extLst>
              <a:ext uri="{FF2B5EF4-FFF2-40B4-BE49-F238E27FC236}">
                <a16:creationId xmlns:a16="http://schemas.microsoft.com/office/drawing/2014/main" id="{5F08FE95-DD8B-6E45-8CFB-214C3919D0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D90D7C-AE14-F54D-A787-54A5EB1E8B7E}"/>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4134965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38F8-570D-D64B-A491-56064DF922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F3F540-8BDF-724E-B530-E96900500A48}"/>
              </a:ext>
            </a:extLst>
          </p:cNvPr>
          <p:cNvSpPr>
            <a:spLocks noGrp="1"/>
          </p:cNvSpPr>
          <p:nvPr>
            <p:ph type="pic" idx="1"/>
          </p:nvPr>
        </p:nvSpPr>
        <p:spPr>
          <a:xfrm>
            <a:off x="3887391" y="987430"/>
            <a:ext cx="462915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3ACDA2CA-73B7-324B-ADA5-FD24FFD882C3}"/>
              </a:ext>
            </a:extLst>
          </p:cNvPr>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07E49-ECA7-154F-9F1E-BC26503AA097}"/>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6" name="Footer Placeholder 5">
            <a:extLst>
              <a:ext uri="{FF2B5EF4-FFF2-40B4-BE49-F238E27FC236}">
                <a16:creationId xmlns:a16="http://schemas.microsoft.com/office/drawing/2014/main" id="{DDA1BB06-A423-D846-AC67-4557407EF9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7363C5-5986-A445-8831-8F77377EFD6E}"/>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177408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CC067-A215-C04C-AF7F-5DD67EEF1A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377C5C-0B0A-7847-B0E7-6071D1EC36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4A7808-B7F2-134E-A7F9-6323218B7E37}"/>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5" name="Footer Placeholder 4">
            <a:extLst>
              <a:ext uri="{FF2B5EF4-FFF2-40B4-BE49-F238E27FC236}">
                <a16:creationId xmlns:a16="http://schemas.microsoft.com/office/drawing/2014/main" id="{7A811CDC-DB5D-5542-B54E-7554F44B1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2E1ED-33D1-7A49-A5AC-05386D682826}"/>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1524683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0E33DE-9259-4646-B69B-87BD877D81B0}"/>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ACFBC6-27F1-1447-BB7C-310FC0D25A7E}"/>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874AD-DD40-AE4E-A98A-0B4C8779A0B9}"/>
              </a:ext>
            </a:extLst>
          </p:cNvPr>
          <p:cNvSpPr>
            <a:spLocks noGrp="1"/>
          </p:cNvSpPr>
          <p:nvPr>
            <p:ph type="dt" sz="half" idx="10"/>
          </p:nvPr>
        </p:nvSpPr>
        <p:spPr/>
        <p:txBody>
          <a:bodyPr/>
          <a:lstStyle/>
          <a:p>
            <a:fld id="{01543848-E094-BC4A-949C-560D34A96927}" type="datetimeFigureOut">
              <a:rPr lang="en-US" smtClean="0"/>
              <a:t>2/11/2026</a:t>
            </a:fld>
            <a:endParaRPr lang="en-US"/>
          </a:p>
        </p:txBody>
      </p:sp>
      <p:sp>
        <p:nvSpPr>
          <p:cNvPr id="5" name="Footer Placeholder 4">
            <a:extLst>
              <a:ext uri="{FF2B5EF4-FFF2-40B4-BE49-F238E27FC236}">
                <a16:creationId xmlns:a16="http://schemas.microsoft.com/office/drawing/2014/main" id="{7A18865E-8BAA-5740-B6A8-033796167A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8EB68F-D0D0-1047-803E-62889E1D21BA}"/>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32621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37C20-DFEC-F449-8088-3D9E778C3B9F}"/>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F27506-9EB8-BA47-8178-4784E6FEF0F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79DB2-1007-1243-A6C2-3B6BF42F3254}"/>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43848-E094-BC4A-949C-560D34A96927}" type="datetimeFigureOut">
              <a:rPr lang="en-US" smtClean="0"/>
              <a:t>2/11/2026</a:t>
            </a:fld>
            <a:endParaRPr lang="en-US"/>
          </a:p>
        </p:txBody>
      </p:sp>
      <p:sp>
        <p:nvSpPr>
          <p:cNvPr id="5" name="Footer Placeholder 4">
            <a:extLst>
              <a:ext uri="{FF2B5EF4-FFF2-40B4-BE49-F238E27FC236}">
                <a16:creationId xmlns:a16="http://schemas.microsoft.com/office/drawing/2014/main" id="{AF9AA538-E882-784B-A066-36C8C1FF9FE0}"/>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541D07-0EAC-B345-8A0E-B6802A782DFC}"/>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4FAC2-3BE3-194B-914B-91C58923D978}" type="slidenum">
              <a:rPr lang="en-US" smtClean="0"/>
              <a:t>‹#›</a:t>
            </a:fld>
            <a:endParaRPr lang="en-US"/>
          </a:p>
        </p:txBody>
      </p:sp>
    </p:spTree>
    <p:extLst>
      <p:ext uri="{BB962C8B-B14F-4D97-AF65-F5344CB8AC3E}">
        <p14:creationId xmlns:p14="http://schemas.microsoft.com/office/powerpoint/2010/main" val="719282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HASPHM@va.gov"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wVcRbeWv-rQ" TargetMode="External"/><Relationship Id="rId2" Type="http://schemas.openxmlformats.org/officeDocument/2006/relationships/hyperlink" Target="https://youtu.be/I9PPs2SB7z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5F9-A33C-804C-B009-FF16A7170204}"/>
              </a:ext>
            </a:extLst>
          </p:cNvPr>
          <p:cNvSpPr>
            <a:spLocks noGrp="1"/>
          </p:cNvSpPr>
          <p:nvPr>
            <p:ph type="ctrTitle"/>
          </p:nvPr>
        </p:nvSpPr>
        <p:spPr>
          <a:xfrm>
            <a:off x="330925" y="950876"/>
            <a:ext cx="8456024" cy="2284763"/>
          </a:xfrm>
        </p:spPr>
        <p:txBody>
          <a:bodyPr>
            <a:normAutofit fontScale="90000"/>
          </a:bodyPr>
          <a:lstStyle/>
          <a:p>
            <a:r>
              <a:rPr lang="en-US" b="1"/>
              <a:t>VA Mobility Screening and Solutions Tool (VAMSST) Training for NON-Acute Care Areas</a:t>
            </a:r>
          </a:p>
        </p:txBody>
      </p:sp>
      <p:sp>
        <p:nvSpPr>
          <p:cNvPr id="6" name="Subtitle 5">
            <a:extLst>
              <a:ext uri="{FF2B5EF4-FFF2-40B4-BE49-F238E27FC236}">
                <a16:creationId xmlns:a16="http://schemas.microsoft.com/office/drawing/2014/main" id="{074F56EE-F626-4C74-87DD-57A485CF4D56}"/>
              </a:ext>
            </a:extLst>
          </p:cNvPr>
          <p:cNvSpPr>
            <a:spLocks noGrp="1"/>
          </p:cNvSpPr>
          <p:nvPr>
            <p:ph type="subTitle" idx="1"/>
          </p:nvPr>
        </p:nvSpPr>
        <p:spPr/>
        <p:txBody>
          <a:bodyPr/>
          <a:lstStyle/>
          <a:p>
            <a:r>
              <a:rPr lang="en-US"/>
              <a:t>VHA Safe Patient Handling and Mobility </a:t>
            </a:r>
            <a:r>
              <a:rPr lang="en-US">
                <a:hlinkClick r:id="rId3"/>
              </a:rPr>
              <a:t>VHASPHM@va.gov</a:t>
            </a:r>
            <a:endParaRPr lang="en-US"/>
          </a:p>
          <a:p>
            <a:endParaRPr lang="en-US"/>
          </a:p>
        </p:txBody>
      </p:sp>
    </p:spTree>
    <p:extLst>
      <p:ext uri="{BB962C8B-B14F-4D97-AF65-F5344CB8AC3E}">
        <p14:creationId xmlns:p14="http://schemas.microsoft.com/office/powerpoint/2010/main" val="3099781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A7736-42E9-DD4E-97C1-D2D07848B774}"/>
              </a:ext>
            </a:extLst>
          </p:cNvPr>
          <p:cNvSpPr>
            <a:spLocks noGrp="1"/>
          </p:cNvSpPr>
          <p:nvPr>
            <p:ph type="title"/>
          </p:nvPr>
        </p:nvSpPr>
        <p:spPr/>
        <p:txBody>
          <a:bodyPr/>
          <a:lstStyle/>
          <a:p>
            <a:r>
              <a:rPr lang="en-US" b="1"/>
              <a:t>History and Background</a:t>
            </a:r>
          </a:p>
        </p:txBody>
      </p:sp>
      <p:sp>
        <p:nvSpPr>
          <p:cNvPr id="3" name="Content Placeholder 2">
            <a:extLst>
              <a:ext uri="{FF2B5EF4-FFF2-40B4-BE49-F238E27FC236}">
                <a16:creationId xmlns:a16="http://schemas.microsoft.com/office/drawing/2014/main" id="{1FE249A0-B03F-5D4A-AD98-C0F445008689}"/>
              </a:ext>
            </a:extLst>
          </p:cNvPr>
          <p:cNvSpPr>
            <a:spLocks noGrp="1"/>
          </p:cNvSpPr>
          <p:nvPr>
            <p:ph idx="1"/>
          </p:nvPr>
        </p:nvSpPr>
        <p:spPr>
          <a:xfrm>
            <a:off x="413965" y="1496443"/>
            <a:ext cx="7886700" cy="4758055"/>
          </a:xfrm>
        </p:spPr>
        <p:txBody>
          <a:bodyPr vert="horz" lIns="91440" tIns="45720" rIns="91440" bIns="45720" rtlCol="0" anchor="t">
            <a:normAutofit fontScale="77500" lnSpcReduction="20000"/>
          </a:bodyPr>
          <a:lstStyle/>
          <a:p>
            <a:r>
              <a:rPr lang="en-US"/>
              <a:t>SPHM leaders identified the need for a mobility screening tool that could be used by all healthcare and lay persons to screen mobility for appropriate equipment selection to keep everyone safe.</a:t>
            </a:r>
          </a:p>
          <a:p>
            <a:r>
              <a:rPr lang="en-US"/>
              <a:t>The VHA Nursing Innovations Center for Evaluation (NICE) accepted the quality improvement project to develop a new tool, using BMAT as a framework.  </a:t>
            </a:r>
            <a:endParaRPr lang="en-US" i="1"/>
          </a:p>
          <a:p>
            <a:r>
              <a:rPr lang="en-US"/>
              <a:t>The VA MSST is the product of this 2-year interdisciplinary QI project and is validated and approved for use internal to VHA until published to the public.</a:t>
            </a:r>
          </a:p>
          <a:p>
            <a:r>
              <a:rPr lang="en-US"/>
              <a:t>VA MSST inter-rater reliability was excellent and statistically significant across all caregivers (both licensed and unlicensed).</a:t>
            </a:r>
          </a:p>
          <a:p>
            <a:r>
              <a:rPr lang="en-US"/>
              <a:t>As a result, we are working toward switching to VA MSST for screening mobility status. </a:t>
            </a:r>
          </a:p>
          <a:p>
            <a:pPr marL="227965" indent="-227965"/>
            <a:r>
              <a:rPr lang="en-US"/>
              <a:t>VA MSST is being used to promote a culture of early and progressive mobility to inform the safest way to mobilize patients no matter their location/care environment.</a:t>
            </a:r>
            <a:endParaRPr lang="en-US">
              <a:cs typeface="Calibri"/>
            </a:endParaRPr>
          </a:p>
          <a:p>
            <a:endParaRPr lang="en-US"/>
          </a:p>
          <a:p>
            <a:endParaRPr lang="en-US"/>
          </a:p>
          <a:p>
            <a:endParaRPr lang="en-US"/>
          </a:p>
        </p:txBody>
      </p:sp>
    </p:spTree>
    <p:extLst>
      <p:ext uri="{BB962C8B-B14F-4D97-AF65-F5344CB8AC3E}">
        <p14:creationId xmlns:p14="http://schemas.microsoft.com/office/powerpoint/2010/main" val="4100479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E84B2C-BCC1-4C0D-AD83-52C4DBC2FA2D}"/>
              </a:ext>
            </a:extLst>
          </p:cNvPr>
          <p:cNvPicPr>
            <a:picLocks noChangeAspect="1"/>
          </p:cNvPicPr>
          <p:nvPr/>
        </p:nvPicPr>
        <p:blipFill>
          <a:blip r:embed="rId2"/>
          <a:stretch>
            <a:fillRect/>
          </a:stretch>
        </p:blipFill>
        <p:spPr>
          <a:xfrm>
            <a:off x="693682" y="172928"/>
            <a:ext cx="7662041" cy="6391275"/>
          </a:xfrm>
          <a:prstGeom prst="rect">
            <a:avLst/>
          </a:prstGeom>
        </p:spPr>
      </p:pic>
    </p:spTree>
    <p:extLst>
      <p:ext uri="{BB962C8B-B14F-4D97-AF65-F5344CB8AC3E}">
        <p14:creationId xmlns:p14="http://schemas.microsoft.com/office/powerpoint/2010/main" val="315580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E84B2C-BCC1-4C0D-AD83-52C4DBC2FA2D}"/>
              </a:ext>
            </a:extLst>
          </p:cNvPr>
          <p:cNvPicPr>
            <a:picLocks noChangeAspect="1"/>
          </p:cNvPicPr>
          <p:nvPr/>
        </p:nvPicPr>
        <p:blipFill>
          <a:blip r:embed="rId2"/>
          <a:stretch>
            <a:fillRect/>
          </a:stretch>
        </p:blipFill>
        <p:spPr>
          <a:xfrm>
            <a:off x="-381252" y="-1169234"/>
            <a:ext cx="10218934" cy="11724659"/>
          </a:xfrm>
          <a:prstGeom prst="rect">
            <a:avLst/>
          </a:prstGeom>
        </p:spPr>
      </p:pic>
    </p:spTree>
    <p:extLst>
      <p:ext uri="{BB962C8B-B14F-4D97-AF65-F5344CB8AC3E}">
        <p14:creationId xmlns:p14="http://schemas.microsoft.com/office/powerpoint/2010/main" val="411313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E84B2C-BCC1-4C0D-AD83-52C4DBC2FA2D}"/>
              </a:ext>
            </a:extLst>
          </p:cNvPr>
          <p:cNvPicPr>
            <a:picLocks noChangeAspect="1"/>
          </p:cNvPicPr>
          <p:nvPr/>
        </p:nvPicPr>
        <p:blipFill>
          <a:blip r:embed="rId2"/>
          <a:stretch>
            <a:fillRect/>
          </a:stretch>
        </p:blipFill>
        <p:spPr>
          <a:xfrm>
            <a:off x="-473686" y="-4582780"/>
            <a:ext cx="10112392" cy="11602419"/>
          </a:xfrm>
          <a:prstGeom prst="rect">
            <a:avLst/>
          </a:prstGeom>
        </p:spPr>
      </p:pic>
    </p:spTree>
    <p:extLst>
      <p:ext uri="{BB962C8B-B14F-4D97-AF65-F5344CB8AC3E}">
        <p14:creationId xmlns:p14="http://schemas.microsoft.com/office/powerpoint/2010/main" val="2608352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3BDC24D-43EC-4B3A-9CE9-21C45E9F1CCF}"/>
              </a:ext>
            </a:extLst>
          </p:cNvPr>
          <p:cNvSpPr>
            <a:spLocks noGrp="1"/>
          </p:cNvSpPr>
          <p:nvPr>
            <p:ph type="title"/>
          </p:nvPr>
        </p:nvSpPr>
        <p:spPr>
          <a:xfrm>
            <a:off x="306433" y="34203"/>
            <a:ext cx="7886700" cy="1325563"/>
          </a:xfrm>
        </p:spPr>
        <p:txBody>
          <a:bodyPr/>
          <a:lstStyle/>
          <a:p>
            <a:r>
              <a:rPr lang="en-US" b="1"/>
              <a:t>Using the Tool</a:t>
            </a:r>
          </a:p>
        </p:txBody>
      </p:sp>
      <p:sp>
        <p:nvSpPr>
          <p:cNvPr id="10" name="Content Placeholder 9">
            <a:extLst>
              <a:ext uri="{FF2B5EF4-FFF2-40B4-BE49-F238E27FC236}">
                <a16:creationId xmlns:a16="http://schemas.microsoft.com/office/drawing/2014/main" id="{10244AB3-FDD1-4633-969F-577569728440}"/>
              </a:ext>
            </a:extLst>
          </p:cNvPr>
          <p:cNvSpPr>
            <a:spLocks noGrp="1"/>
          </p:cNvSpPr>
          <p:nvPr>
            <p:ph idx="1"/>
          </p:nvPr>
        </p:nvSpPr>
        <p:spPr>
          <a:xfrm>
            <a:off x="336486" y="1192371"/>
            <a:ext cx="8535878" cy="5166388"/>
          </a:xfrm>
        </p:spPr>
        <p:txBody>
          <a:bodyPr>
            <a:normAutofit lnSpcReduction="10000"/>
          </a:bodyPr>
          <a:lstStyle/>
          <a:p>
            <a:pPr marL="285750" indent="-285750"/>
            <a:r>
              <a:rPr lang="en-US" sz="2800"/>
              <a:t>Use VA MSST with every mobility encounter to ensure patient and staff safety. This includes all care areas (e.g. acute care, CLC, therapy, imaging, dental, HBPC, ED, etc).</a:t>
            </a:r>
          </a:p>
          <a:p>
            <a:pPr marL="285750" indent="-285750">
              <a:buFont typeface="Arial" panose="020B0604020202020204" pitchFamily="34" charset="0"/>
              <a:buChar char="•"/>
            </a:pPr>
            <a:r>
              <a:rPr lang="en-US"/>
              <a:t>Always default to the safest choice for equipment. Consider factors</a:t>
            </a:r>
            <a:r>
              <a:rPr lang="en-US" sz="2800"/>
              <a:t> that may affect screening (e.g. </a:t>
            </a:r>
            <a:r>
              <a:rPr lang="en-US"/>
              <a:t>patient’s ability to </a:t>
            </a:r>
            <a:r>
              <a:rPr lang="en-US" sz="2800"/>
              <a:t>follow commands, sleep deprivation, low O2, medications, orthostatic hypotension, hypoglycemia, hypovolemia).</a:t>
            </a:r>
          </a:p>
          <a:p>
            <a:pPr marL="285750" indent="-285750">
              <a:buFont typeface="Arial" panose="020B0604020202020204" pitchFamily="34" charset="0"/>
              <a:buChar char="•"/>
            </a:pPr>
            <a:r>
              <a:rPr lang="en-US" sz="2800"/>
              <a:t>Remember if the answer to the 1</a:t>
            </a:r>
            <a:r>
              <a:rPr lang="en-US" sz="2800" baseline="30000"/>
              <a:t>st</a:t>
            </a:r>
            <a:r>
              <a:rPr lang="en-US" sz="2800"/>
              <a:t> question is “yes”, follow blue line to Level 4. </a:t>
            </a:r>
          </a:p>
          <a:p>
            <a:pPr marL="285750" indent="-285750">
              <a:buFont typeface="Arial" panose="020B0604020202020204" pitchFamily="34" charset="0"/>
              <a:buChar char="•"/>
            </a:pPr>
            <a:r>
              <a:rPr lang="en-US"/>
              <a:t>Document level in local notes per facility policy/decision. </a:t>
            </a:r>
            <a:endParaRPr lang="en-US" sz="2800"/>
          </a:p>
          <a:p>
            <a:pPr marL="285750" indent="-285750">
              <a:buFont typeface="Arial" panose="020B0604020202020204" pitchFamily="34" charset="0"/>
              <a:buChar char="•"/>
            </a:pPr>
            <a:endParaRPr lang="en-US" sz="2800"/>
          </a:p>
          <a:p>
            <a:endParaRPr lang="en-US"/>
          </a:p>
        </p:txBody>
      </p:sp>
    </p:spTree>
    <p:extLst>
      <p:ext uri="{BB962C8B-B14F-4D97-AF65-F5344CB8AC3E}">
        <p14:creationId xmlns:p14="http://schemas.microsoft.com/office/powerpoint/2010/main" val="1358055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17CC-9CA9-264A-9718-252638100B88}"/>
              </a:ext>
            </a:extLst>
          </p:cNvPr>
          <p:cNvSpPr>
            <a:spLocks noGrp="1"/>
          </p:cNvSpPr>
          <p:nvPr>
            <p:ph type="title"/>
          </p:nvPr>
        </p:nvSpPr>
        <p:spPr/>
        <p:txBody>
          <a:bodyPr/>
          <a:lstStyle/>
          <a:p>
            <a:r>
              <a:rPr lang="en-US" b="1"/>
              <a:t>Patient Education</a:t>
            </a:r>
          </a:p>
        </p:txBody>
      </p:sp>
      <p:sp>
        <p:nvSpPr>
          <p:cNvPr id="3" name="Content Placeholder 2">
            <a:extLst>
              <a:ext uri="{FF2B5EF4-FFF2-40B4-BE49-F238E27FC236}">
                <a16:creationId xmlns:a16="http://schemas.microsoft.com/office/drawing/2014/main" id="{49F1139C-59CB-2746-AAD2-647CB24E73DF}"/>
              </a:ext>
            </a:extLst>
          </p:cNvPr>
          <p:cNvSpPr>
            <a:spLocks noGrp="1"/>
          </p:cNvSpPr>
          <p:nvPr>
            <p:ph idx="1"/>
          </p:nvPr>
        </p:nvSpPr>
        <p:spPr/>
        <p:txBody>
          <a:bodyPr>
            <a:normAutofit/>
          </a:bodyPr>
          <a:lstStyle/>
          <a:p>
            <a:r>
              <a:rPr lang="en-US"/>
              <a:t>Your safety is our important concern. In order to keep you and us safe, we will screen your mobility every time we go to get you up.</a:t>
            </a:r>
          </a:p>
          <a:p>
            <a:r>
              <a:rPr lang="en-US"/>
              <a:t>This helps us decide the most appropriate equipment to use, so that we can safely mobilize you. </a:t>
            </a:r>
          </a:p>
          <a:p>
            <a:r>
              <a:rPr lang="en-US"/>
              <a:t>Safe mobility keeps you doing the things you want to do.</a:t>
            </a:r>
          </a:p>
        </p:txBody>
      </p:sp>
    </p:spTree>
    <p:extLst>
      <p:ext uri="{BB962C8B-B14F-4D97-AF65-F5344CB8AC3E}">
        <p14:creationId xmlns:p14="http://schemas.microsoft.com/office/powerpoint/2010/main" val="514584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E0D634-25FE-4F10-A36A-58AFFF88F37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B32BDC0-57CA-4AD6-A294-E718BBBE2E80}"/>
              </a:ext>
            </a:extLst>
          </p:cNvPr>
          <p:cNvPicPr>
            <a:picLocks noChangeAspect="1"/>
          </p:cNvPicPr>
          <p:nvPr/>
        </p:nvPicPr>
        <p:blipFill>
          <a:blip r:embed="rId2"/>
          <a:stretch>
            <a:fillRect/>
          </a:stretch>
        </p:blipFill>
        <p:spPr>
          <a:xfrm>
            <a:off x="0" y="467515"/>
            <a:ext cx="9144000" cy="5922969"/>
          </a:xfrm>
          <a:prstGeom prst="rect">
            <a:avLst/>
          </a:prstGeom>
        </p:spPr>
      </p:pic>
    </p:spTree>
    <p:extLst>
      <p:ext uri="{BB962C8B-B14F-4D97-AF65-F5344CB8AC3E}">
        <p14:creationId xmlns:p14="http://schemas.microsoft.com/office/powerpoint/2010/main" val="170388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48FA08-0E01-4240-9C6E-1AF26F967874}"/>
              </a:ext>
            </a:extLst>
          </p:cNvPr>
          <p:cNvSpPr txBox="1"/>
          <p:nvPr/>
        </p:nvSpPr>
        <p:spPr>
          <a:xfrm>
            <a:off x="134112" y="2701721"/>
            <a:ext cx="4852416" cy="3970318"/>
          </a:xfrm>
          <a:prstGeom prst="rect">
            <a:avLst/>
          </a:prstGeom>
          <a:noFill/>
        </p:spPr>
        <p:txBody>
          <a:bodyPr wrap="square" rtlCol="0">
            <a:spAutoFit/>
          </a:bodyPr>
          <a:lstStyle/>
          <a:p>
            <a:pPr marL="285750" indent="-285750">
              <a:buFont typeface="Arial" panose="020B0604020202020204" pitchFamily="34" charset="0"/>
              <a:buChar char="•"/>
            </a:pPr>
            <a:r>
              <a:rPr lang="en-US"/>
              <a:t>If the patient is unable to sit up independently, they require total assistance/VA MSST Level 1. This means they need help with sitting up, standing and walking. </a:t>
            </a:r>
          </a:p>
          <a:p>
            <a:pPr marL="285750" indent="-285750">
              <a:buFont typeface="Arial" panose="020B0604020202020204" pitchFamily="34" charset="0"/>
              <a:buChar char="•"/>
            </a:pPr>
            <a:r>
              <a:rPr lang="en-US"/>
              <a:t>It does NOT mean they CANNOT sit up, stand up or walk. It means they need a mechanical lift to assist them for their own safety and for the caregiver safety. </a:t>
            </a:r>
          </a:p>
          <a:p>
            <a:pPr marL="285750" indent="-285750">
              <a:buFont typeface="Arial" panose="020B0604020202020204" pitchFamily="34" charset="0"/>
              <a:buChar char="•"/>
            </a:pPr>
            <a:r>
              <a:rPr lang="en-US"/>
              <a:t>You will see that a total assistance patient can use an ambulation harness or other appropriate equipment. Imagine a patient who had a total knee replacement yesterday and needs to walk but is just a little unsteady and needs a steadying hand to sit up.</a:t>
            </a:r>
          </a:p>
        </p:txBody>
      </p:sp>
      <p:sp>
        <p:nvSpPr>
          <p:cNvPr id="6" name="TextBox 5">
            <a:extLst>
              <a:ext uri="{FF2B5EF4-FFF2-40B4-BE49-F238E27FC236}">
                <a16:creationId xmlns:a16="http://schemas.microsoft.com/office/drawing/2014/main" id="{958CDFE1-F87A-413B-8E84-D0AB80EA3CE1}"/>
              </a:ext>
            </a:extLst>
          </p:cNvPr>
          <p:cNvSpPr txBox="1"/>
          <p:nvPr/>
        </p:nvSpPr>
        <p:spPr>
          <a:xfrm>
            <a:off x="2560320" y="185961"/>
            <a:ext cx="4609784" cy="400110"/>
          </a:xfrm>
          <a:prstGeom prst="rect">
            <a:avLst/>
          </a:prstGeom>
          <a:noFill/>
        </p:spPr>
        <p:txBody>
          <a:bodyPr wrap="square">
            <a:spAutoFit/>
          </a:bodyPr>
          <a:lstStyle/>
          <a:p>
            <a:r>
              <a:rPr lang="en-US" sz="2000" b="1"/>
              <a:t>VA MSST LEVEL 1:  TOTAL ASSIST</a:t>
            </a:r>
          </a:p>
        </p:txBody>
      </p:sp>
      <p:sp>
        <p:nvSpPr>
          <p:cNvPr id="10" name="Frame 9">
            <a:extLst>
              <a:ext uri="{FF2B5EF4-FFF2-40B4-BE49-F238E27FC236}">
                <a16:creationId xmlns:a16="http://schemas.microsoft.com/office/drawing/2014/main" id="{3CCAFE55-3DF8-1A4E-B727-2029ED3C1F26}"/>
              </a:ext>
            </a:extLst>
          </p:cNvPr>
          <p:cNvSpPr/>
          <p:nvPr/>
        </p:nvSpPr>
        <p:spPr>
          <a:xfrm>
            <a:off x="0" y="703385"/>
            <a:ext cx="9144000" cy="1788024"/>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a:extLst>
              <a:ext uri="{FF2B5EF4-FFF2-40B4-BE49-F238E27FC236}">
                <a16:creationId xmlns:a16="http://schemas.microsoft.com/office/drawing/2014/main" id="{87A12A6F-D13F-46D2-B895-F1401E7E875F}"/>
              </a:ext>
            </a:extLst>
          </p:cNvPr>
          <p:cNvPicPr>
            <a:picLocks noChangeAspect="1"/>
          </p:cNvPicPr>
          <p:nvPr/>
        </p:nvPicPr>
        <p:blipFill>
          <a:blip r:embed="rId2"/>
          <a:stretch>
            <a:fillRect/>
          </a:stretch>
        </p:blipFill>
        <p:spPr>
          <a:xfrm>
            <a:off x="64656" y="1376687"/>
            <a:ext cx="9014690" cy="868048"/>
          </a:xfrm>
          <a:prstGeom prst="rect">
            <a:avLst/>
          </a:prstGeom>
        </p:spPr>
      </p:pic>
      <p:sp>
        <p:nvSpPr>
          <p:cNvPr id="12" name="TextBox 11">
            <a:extLst>
              <a:ext uri="{FF2B5EF4-FFF2-40B4-BE49-F238E27FC236}">
                <a16:creationId xmlns:a16="http://schemas.microsoft.com/office/drawing/2014/main" id="{47278FDF-5BC2-47CA-AD49-2E2E3E492BE7}"/>
              </a:ext>
            </a:extLst>
          </p:cNvPr>
          <p:cNvSpPr txBox="1"/>
          <p:nvPr/>
        </p:nvSpPr>
        <p:spPr>
          <a:xfrm>
            <a:off x="0" y="2244735"/>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21" name="Picture 20">
            <a:extLst>
              <a:ext uri="{FF2B5EF4-FFF2-40B4-BE49-F238E27FC236}">
                <a16:creationId xmlns:a16="http://schemas.microsoft.com/office/drawing/2014/main" id="{9390BACC-CC5B-47B1-80EB-BE484069904F}"/>
              </a:ext>
            </a:extLst>
          </p:cNvPr>
          <p:cNvPicPr>
            <a:picLocks noChangeAspect="1"/>
          </p:cNvPicPr>
          <p:nvPr/>
        </p:nvPicPr>
        <p:blipFill>
          <a:blip r:embed="rId3"/>
          <a:stretch>
            <a:fillRect/>
          </a:stretch>
        </p:blipFill>
        <p:spPr>
          <a:xfrm>
            <a:off x="5025687" y="3075256"/>
            <a:ext cx="4118313" cy="2316551"/>
          </a:xfrm>
          <a:prstGeom prst="rect">
            <a:avLst/>
          </a:prstGeom>
        </p:spPr>
      </p:pic>
      <p:pic>
        <p:nvPicPr>
          <p:cNvPr id="9" name="Picture 8">
            <a:extLst>
              <a:ext uri="{FF2B5EF4-FFF2-40B4-BE49-F238E27FC236}">
                <a16:creationId xmlns:a16="http://schemas.microsoft.com/office/drawing/2014/main" id="{779CFBA6-A3B8-4267-A57F-7502D085C9EE}"/>
              </a:ext>
            </a:extLst>
          </p:cNvPr>
          <p:cNvPicPr>
            <a:picLocks noChangeAspect="1"/>
          </p:cNvPicPr>
          <p:nvPr/>
        </p:nvPicPr>
        <p:blipFill>
          <a:blip r:embed="rId4"/>
          <a:stretch>
            <a:fillRect/>
          </a:stretch>
        </p:blipFill>
        <p:spPr>
          <a:xfrm>
            <a:off x="64655" y="725143"/>
            <a:ext cx="9014690" cy="727615"/>
          </a:xfrm>
          <a:prstGeom prst="rect">
            <a:avLst/>
          </a:prstGeom>
        </p:spPr>
      </p:pic>
    </p:spTree>
    <p:extLst>
      <p:ext uri="{BB962C8B-B14F-4D97-AF65-F5344CB8AC3E}">
        <p14:creationId xmlns:p14="http://schemas.microsoft.com/office/powerpoint/2010/main" val="3480899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48FA08-0E01-4240-9C6E-1AF26F967874}"/>
              </a:ext>
            </a:extLst>
          </p:cNvPr>
          <p:cNvSpPr txBox="1"/>
          <p:nvPr/>
        </p:nvSpPr>
        <p:spPr>
          <a:xfrm>
            <a:off x="134112" y="2567609"/>
            <a:ext cx="5028438" cy="3754874"/>
          </a:xfrm>
          <a:prstGeom prst="rect">
            <a:avLst/>
          </a:prstGeom>
          <a:noFill/>
        </p:spPr>
        <p:txBody>
          <a:bodyPr wrap="square" rtlCol="0">
            <a:spAutoFit/>
          </a:bodyPr>
          <a:lstStyle/>
          <a:p>
            <a:pPr marL="285750" indent="-285750">
              <a:buFont typeface="Arial" panose="020B0604020202020204" pitchFamily="34" charset="0"/>
              <a:buChar char="•"/>
            </a:pPr>
            <a:r>
              <a:rPr lang="en-US" sz="1400"/>
              <a:t>Your patient is groggy from receiving medications in Emergency Department. They are extremely weak and cannot even begin to sit up by themselves. </a:t>
            </a:r>
          </a:p>
          <a:p>
            <a:pPr marL="742950" lvl="1" indent="-285750">
              <a:buFont typeface="Arial" panose="020B0604020202020204" pitchFamily="34" charset="0"/>
              <a:buChar char="•"/>
            </a:pPr>
            <a:r>
              <a:rPr lang="en-US" sz="1400"/>
              <a:t>They may be able to sit with assistance of a seated sling.</a:t>
            </a:r>
          </a:p>
          <a:p>
            <a:pPr marL="742950" lvl="1" indent="-285750">
              <a:buFont typeface="Arial" panose="020B0604020202020204" pitchFamily="34" charset="0"/>
              <a:buChar char="•"/>
            </a:pPr>
            <a:r>
              <a:rPr lang="en-US" sz="1400"/>
              <a:t>They will require total assistance. </a:t>
            </a:r>
          </a:p>
          <a:p>
            <a:pPr marL="742950" lvl="1" indent="-285750">
              <a:buFont typeface="Arial" panose="020B0604020202020204" pitchFamily="34" charset="0"/>
              <a:buChar char="•"/>
            </a:pPr>
            <a:r>
              <a:rPr lang="en-US" sz="1400"/>
              <a:t>VA MSST Level 1.</a:t>
            </a:r>
          </a:p>
          <a:p>
            <a:pPr marL="285750" indent="-285750">
              <a:buFont typeface="Arial" panose="020B0604020202020204" pitchFamily="34" charset="0"/>
              <a:buChar char="•"/>
            </a:pPr>
            <a:r>
              <a:rPr lang="en-US" sz="1400"/>
              <a:t>Your patient in CLC has pneumonia and was walking yesterday but they feel lousy because they were allergic to the antibiotic given. They are dizzy at the edge of the bed. You do not feel it is safe to let them sit by themselves. </a:t>
            </a:r>
          </a:p>
          <a:p>
            <a:pPr marL="742950" lvl="1" indent="-285750">
              <a:buFont typeface="Arial" panose="020B0604020202020204" pitchFamily="34" charset="0"/>
              <a:buChar char="•"/>
            </a:pPr>
            <a:r>
              <a:rPr lang="en-US" sz="1400"/>
              <a:t>They should be walking today but need a device in case of dizziness or falling.</a:t>
            </a:r>
          </a:p>
          <a:p>
            <a:pPr marL="742950" lvl="1" indent="-285750">
              <a:buFont typeface="Arial" panose="020B0604020202020204" pitchFamily="34" charset="0"/>
              <a:buChar char="•"/>
            </a:pPr>
            <a:r>
              <a:rPr lang="en-US" sz="1400"/>
              <a:t>They require total assistance.</a:t>
            </a:r>
          </a:p>
          <a:p>
            <a:pPr marL="742950" lvl="1" indent="-285750">
              <a:buFont typeface="Arial" panose="020B0604020202020204" pitchFamily="34" charset="0"/>
              <a:buChar char="•"/>
            </a:pPr>
            <a:r>
              <a:rPr lang="en-US" sz="1400"/>
              <a:t>VA MSST level 1.</a:t>
            </a:r>
          </a:p>
          <a:p>
            <a:pPr marL="285750" indent="-285750">
              <a:buFont typeface="Arial" panose="020B0604020202020204" pitchFamily="34" charset="0"/>
              <a:buChar char="•"/>
            </a:pPr>
            <a:r>
              <a:rPr lang="en-US" sz="1400"/>
              <a:t>Your patient has been placed on strict bedrest orders. </a:t>
            </a:r>
          </a:p>
          <a:p>
            <a:pPr marL="742950" lvl="1" indent="-285750">
              <a:buFont typeface="Arial" panose="020B0604020202020204" pitchFamily="34" charset="0"/>
              <a:buChar char="•"/>
            </a:pPr>
            <a:r>
              <a:rPr lang="en-US" sz="1400"/>
              <a:t>They require total assistance and should not get out of bed.</a:t>
            </a:r>
          </a:p>
        </p:txBody>
      </p:sp>
      <p:sp>
        <p:nvSpPr>
          <p:cNvPr id="6" name="TextBox 5">
            <a:extLst>
              <a:ext uri="{FF2B5EF4-FFF2-40B4-BE49-F238E27FC236}">
                <a16:creationId xmlns:a16="http://schemas.microsoft.com/office/drawing/2014/main" id="{B319733B-1B13-4F25-BA93-50C4482E7088}"/>
              </a:ext>
            </a:extLst>
          </p:cNvPr>
          <p:cNvSpPr txBox="1"/>
          <p:nvPr/>
        </p:nvSpPr>
        <p:spPr>
          <a:xfrm>
            <a:off x="2715324" y="205404"/>
            <a:ext cx="4572000" cy="400110"/>
          </a:xfrm>
          <a:prstGeom prst="rect">
            <a:avLst/>
          </a:prstGeom>
          <a:noFill/>
        </p:spPr>
        <p:txBody>
          <a:bodyPr wrap="square">
            <a:spAutoFit/>
          </a:bodyPr>
          <a:lstStyle/>
          <a:p>
            <a:r>
              <a:rPr lang="en-US" sz="2000" b="1"/>
              <a:t>VA MSST LEVEL 1:  TOTAL ASSIST</a:t>
            </a:r>
          </a:p>
        </p:txBody>
      </p:sp>
      <p:sp>
        <p:nvSpPr>
          <p:cNvPr id="3" name="Frame 2">
            <a:extLst>
              <a:ext uri="{FF2B5EF4-FFF2-40B4-BE49-F238E27FC236}">
                <a16:creationId xmlns:a16="http://schemas.microsoft.com/office/drawing/2014/main" id="{2BDAE171-873D-4F45-BF0C-67E566DE8964}"/>
              </a:ext>
            </a:extLst>
          </p:cNvPr>
          <p:cNvSpPr/>
          <p:nvPr/>
        </p:nvSpPr>
        <p:spPr>
          <a:xfrm>
            <a:off x="0" y="703384"/>
            <a:ext cx="9144000" cy="1782961"/>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Picture 12">
            <a:extLst>
              <a:ext uri="{FF2B5EF4-FFF2-40B4-BE49-F238E27FC236}">
                <a16:creationId xmlns:a16="http://schemas.microsoft.com/office/drawing/2014/main" id="{F8547CBA-56FF-41AF-B32E-AD4E6E271AC7}"/>
              </a:ext>
            </a:extLst>
          </p:cNvPr>
          <p:cNvPicPr>
            <a:picLocks noChangeAspect="1"/>
          </p:cNvPicPr>
          <p:nvPr/>
        </p:nvPicPr>
        <p:blipFill>
          <a:blip r:embed="rId2"/>
          <a:stretch>
            <a:fillRect/>
          </a:stretch>
        </p:blipFill>
        <p:spPr>
          <a:xfrm>
            <a:off x="64655" y="1378047"/>
            <a:ext cx="9014690" cy="868048"/>
          </a:xfrm>
          <a:prstGeom prst="rect">
            <a:avLst/>
          </a:prstGeom>
        </p:spPr>
      </p:pic>
      <p:sp>
        <p:nvSpPr>
          <p:cNvPr id="14" name="TextBox 13">
            <a:extLst>
              <a:ext uri="{FF2B5EF4-FFF2-40B4-BE49-F238E27FC236}">
                <a16:creationId xmlns:a16="http://schemas.microsoft.com/office/drawing/2014/main" id="{8FB57C76-673D-44BC-AFF1-2E279E9F591F}"/>
              </a:ext>
            </a:extLst>
          </p:cNvPr>
          <p:cNvSpPr txBox="1"/>
          <p:nvPr/>
        </p:nvSpPr>
        <p:spPr>
          <a:xfrm>
            <a:off x="0" y="2244735"/>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10" name="Picture 9">
            <a:extLst>
              <a:ext uri="{FF2B5EF4-FFF2-40B4-BE49-F238E27FC236}">
                <a16:creationId xmlns:a16="http://schemas.microsoft.com/office/drawing/2014/main" id="{F1A0A8A2-F279-445A-B22F-07BECB0CED43}"/>
              </a:ext>
            </a:extLst>
          </p:cNvPr>
          <p:cNvPicPr>
            <a:picLocks noChangeAspect="1"/>
          </p:cNvPicPr>
          <p:nvPr/>
        </p:nvPicPr>
        <p:blipFill>
          <a:blip r:embed="rId3"/>
          <a:stretch>
            <a:fillRect/>
          </a:stretch>
        </p:blipFill>
        <p:spPr>
          <a:xfrm>
            <a:off x="5162550" y="3858747"/>
            <a:ext cx="3981450" cy="2897329"/>
          </a:xfrm>
          <a:prstGeom prst="rect">
            <a:avLst/>
          </a:prstGeom>
        </p:spPr>
      </p:pic>
      <p:pic>
        <p:nvPicPr>
          <p:cNvPr id="11" name="Picture 10">
            <a:extLst>
              <a:ext uri="{FF2B5EF4-FFF2-40B4-BE49-F238E27FC236}">
                <a16:creationId xmlns:a16="http://schemas.microsoft.com/office/drawing/2014/main" id="{F68D31E1-4E56-440B-A973-A8072739C83D}"/>
              </a:ext>
            </a:extLst>
          </p:cNvPr>
          <p:cNvPicPr>
            <a:picLocks noChangeAspect="1"/>
          </p:cNvPicPr>
          <p:nvPr/>
        </p:nvPicPr>
        <p:blipFill>
          <a:blip r:embed="rId4"/>
          <a:stretch>
            <a:fillRect/>
          </a:stretch>
        </p:blipFill>
        <p:spPr>
          <a:xfrm>
            <a:off x="64655" y="725143"/>
            <a:ext cx="9014690" cy="727615"/>
          </a:xfrm>
          <a:prstGeom prst="rect">
            <a:avLst/>
          </a:prstGeom>
        </p:spPr>
      </p:pic>
    </p:spTree>
    <p:extLst>
      <p:ext uri="{BB962C8B-B14F-4D97-AF65-F5344CB8AC3E}">
        <p14:creationId xmlns:p14="http://schemas.microsoft.com/office/powerpoint/2010/main" val="384475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BC022F1-7D96-3A46-87D4-78A45A69DEAB}"/>
              </a:ext>
            </a:extLst>
          </p:cNvPr>
          <p:cNvSpPr txBox="1"/>
          <p:nvPr/>
        </p:nvSpPr>
        <p:spPr>
          <a:xfrm>
            <a:off x="168168" y="2471430"/>
            <a:ext cx="5108024" cy="4278094"/>
          </a:xfrm>
          <a:prstGeom prst="rect">
            <a:avLst/>
          </a:prstGeom>
          <a:noFill/>
        </p:spPr>
        <p:txBody>
          <a:bodyPr wrap="square" rtlCol="0">
            <a:spAutoFit/>
          </a:bodyPr>
          <a:lstStyle/>
          <a:p>
            <a:pPr marL="285750" indent="-285750">
              <a:buFont typeface="Arial" panose="020B0604020202020204" pitchFamily="34" charset="0"/>
              <a:buChar char="•"/>
            </a:pPr>
            <a:r>
              <a:rPr lang="en-US" sz="1600"/>
              <a:t>If the patient CAN sit up independently, the next question is if they have the strength to try and stand up.</a:t>
            </a:r>
          </a:p>
          <a:p>
            <a:pPr marL="285750" indent="-285750">
              <a:buFont typeface="Arial" panose="020B0604020202020204" pitchFamily="34" charset="0"/>
              <a:buChar char="•"/>
            </a:pPr>
            <a:r>
              <a:rPr lang="en-US" sz="1600"/>
              <a:t>The Stretch and Point step is a very important step which is why it has its own whole category in the screen.</a:t>
            </a:r>
          </a:p>
          <a:p>
            <a:pPr marL="285750" indent="-285750">
              <a:buFont typeface="Arial" panose="020B0604020202020204" pitchFamily="34" charset="0"/>
              <a:buChar char="•"/>
            </a:pPr>
            <a:r>
              <a:rPr lang="en-US" sz="1600"/>
              <a:t>Traditionally, staff would try to have a patient stand up without doing this step and many staff injuries and falls occur with patient knees buckling. </a:t>
            </a:r>
          </a:p>
          <a:p>
            <a:pPr marL="285750" indent="-285750">
              <a:buFont typeface="Arial" panose="020B0604020202020204" pitchFamily="34" charset="0"/>
              <a:buChar char="•"/>
            </a:pPr>
            <a:r>
              <a:rPr lang="en-US" sz="1600"/>
              <a:t>If they are unable to stretch </a:t>
            </a:r>
            <a:r>
              <a:rPr lang="en-US" sz="1600" b="1"/>
              <a:t>at least one leg </a:t>
            </a:r>
            <a:r>
              <a:rPr lang="en-US" sz="1600"/>
              <a:t>to almost straight and point their toes, they are moderate assistance, level 2. </a:t>
            </a:r>
          </a:p>
          <a:p>
            <a:pPr marL="285750" indent="-285750">
              <a:buFont typeface="Arial" panose="020B0604020202020204" pitchFamily="34" charset="0"/>
              <a:buChar char="•"/>
            </a:pPr>
            <a:r>
              <a:rPr lang="en-US" sz="1600"/>
              <a:t>This means they require power to even try and stand up because they lack the strength in their legs to safely try to stand without a device. </a:t>
            </a:r>
          </a:p>
          <a:p>
            <a:pPr marL="285750" indent="-285750">
              <a:buFont typeface="Arial" panose="020B0604020202020204" pitchFamily="34" charset="0"/>
              <a:buChar char="•"/>
            </a:pPr>
            <a:r>
              <a:rPr lang="en-US" sz="1600"/>
              <a:t>It does NOT mean they CANNOT stand up or walk. It means they need a mechanical lift to assist them for their own safety and for caregiver safety. </a:t>
            </a:r>
          </a:p>
        </p:txBody>
      </p:sp>
      <p:sp>
        <p:nvSpPr>
          <p:cNvPr id="7" name="TextBox 6">
            <a:extLst>
              <a:ext uri="{FF2B5EF4-FFF2-40B4-BE49-F238E27FC236}">
                <a16:creationId xmlns:a16="http://schemas.microsoft.com/office/drawing/2014/main" id="{4EA5C21E-FC5E-46D1-BD5A-F00B4FCE85DA}"/>
              </a:ext>
            </a:extLst>
          </p:cNvPr>
          <p:cNvSpPr txBox="1"/>
          <p:nvPr/>
        </p:nvSpPr>
        <p:spPr>
          <a:xfrm>
            <a:off x="2238375" y="69508"/>
            <a:ext cx="5240411" cy="400110"/>
          </a:xfrm>
          <a:prstGeom prst="rect">
            <a:avLst/>
          </a:prstGeom>
          <a:noFill/>
        </p:spPr>
        <p:txBody>
          <a:bodyPr wrap="square">
            <a:spAutoFit/>
          </a:bodyPr>
          <a:lstStyle/>
          <a:p>
            <a:r>
              <a:rPr lang="en-US" sz="2000" b="1"/>
              <a:t>VA MSST LEVEL 2:  MODERATE ASSIST</a:t>
            </a:r>
          </a:p>
        </p:txBody>
      </p:sp>
      <p:sp>
        <p:nvSpPr>
          <p:cNvPr id="12" name="Frame 11">
            <a:extLst>
              <a:ext uri="{FF2B5EF4-FFF2-40B4-BE49-F238E27FC236}">
                <a16:creationId xmlns:a16="http://schemas.microsoft.com/office/drawing/2014/main" id="{BD89C51C-79B3-4107-911E-790CFEE4EAF5}"/>
              </a:ext>
            </a:extLst>
          </p:cNvPr>
          <p:cNvSpPr/>
          <p:nvPr/>
        </p:nvSpPr>
        <p:spPr>
          <a:xfrm>
            <a:off x="0" y="584094"/>
            <a:ext cx="9143459" cy="1777404"/>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5ABE8F1F-279D-48C5-947B-FDE95C3EAE7D}"/>
              </a:ext>
            </a:extLst>
          </p:cNvPr>
          <p:cNvSpPr txBox="1"/>
          <p:nvPr/>
        </p:nvSpPr>
        <p:spPr>
          <a:xfrm>
            <a:off x="0" y="2152269"/>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3" name="Picture 2">
            <a:extLst>
              <a:ext uri="{FF2B5EF4-FFF2-40B4-BE49-F238E27FC236}">
                <a16:creationId xmlns:a16="http://schemas.microsoft.com/office/drawing/2014/main" id="{5425D578-9734-4AB1-93CB-C4DED4D9DF36}"/>
              </a:ext>
            </a:extLst>
          </p:cNvPr>
          <p:cNvPicPr>
            <a:picLocks noChangeAspect="1"/>
          </p:cNvPicPr>
          <p:nvPr/>
        </p:nvPicPr>
        <p:blipFill>
          <a:blip r:embed="rId3"/>
          <a:stretch>
            <a:fillRect/>
          </a:stretch>
        </p:blipFill>
        <p:spPr>
          <a:xfrm>
            <a:off x="64384" y="1322271"/>
            <a:ext cx="9014690" cy="843542"/>
          </a:xfrm>
          <a:prstGeom prst="rect">
            <a:avLst/>
          </a:prstGeom>
        </p:spPr>
      </p:pic>
      <p:pic>
        <p:nvPicPr>
          <p:cNvPr id="5" name="Picture 4">
            <a:extLst>
              <a:ext uri="{FF2B5EF4-FFF2-40B4-BE49-F238E27FC236}">
                <a16:creationId xmlns:a16="http://schemas.microsoft.com/office/drawing/2014/main" id="{8F0BC677-6EDE-4420-BD35-DF2CA2F672DB}"/>
              </a:ext>
            </a:extLst>
          </p:cNvPr>
          <p:cNvPicPr>
            <a:picLocks noChangeAspect="1"/>
          </p:cNvPicPr>
          <p:nvPr/>
        </p:nvPicPr>
        <p:blipFill>
          <a:blip r:embed="rId4"/>
          <a:stretch>
            <a:fillRect/>
          </a:stretch>
        </p:blipFill>
        <p:spPr>
          <a:xfrm>
            <a:off x="5328744" y="2560054"/>
            <a:ext cx="3436884" cy="1933247"/>
          </a:xfrm>
          <a:prstGeom prst="rect">
            <a:avLst/>
          </a:prstGeom>
        </p:spPr>
      </p:pic>
      <p:pic>
        <p:nvPicPr>
          <p:cNvPr id="9" name="Picture 8">
            <a:extLst>
              <a:ext uri="{FF2B5EF4-FFF2-40B4-BE49-F238E27FC236}">
                <a16:creationId xmlns:a16="http://schemas.microsoft.com/office/drawing/2014/main" id="{70CFF1BB-88BB-4041-9C95-EA48DB441436}"/>
              </a:ext>
            </a:extLst>
          </p:cNvPr>
          <p:cNvPicPr>
            <a:picLocks noChangeAspect="1"/>
          </p:cNvPicPr>
          <p:nvPr/>
        </p:nvPicPr>
        <p:blipFill>
          <a:blip r:embed="rId5"/>
          <a:stretch>
            <a:fillRect/>
          </a:stretch>
        </p:blipFill>
        <p:spPr>
          <a:xfrm>
            <a:off x="5328742" y="4697525"/>
            <a:ext cx="3436885" cy="1933248"/>
          </a:xfrm>
          <a:prstGeom prst="rect">
            <a:avLst/>
          </a:prstGeom>
        </p:spPr>
      </p:pic>
      <p:pic>
        <p:nvPicPr>
          <p:cNvPr id="10" name="Picture 9">
            <a:extLst>
              <a:ext uri="{FF2B5EF4-FFF2-40B4-BE49-F238E27FC236}">
                <a16:creationId xmlns:a16="http://schemas.microsoft.com/office/drawing/2014/main" id="{F418F740-A790-45EE-B53C-84AFD7F4404A}"/>
              </a:ext>
            </a:extLst>
          </p:cNvPr>
          <p:cNvPicPr>
            <a:picLocks noChangeAspect="1"/>
          </p:cNvPicPr>
          <p:nvPr/>
        </p:nvPicPr>
        <p:blipFill>
          <a:blip r:embed="rId6"/>
          <a:stretch>
            <a:fillRect/>
          </a:stretch>
        </p:blipFill>
        <p:spPr>
          <a:xfrm>
            <a:off x="64384" y="631011"/>
            <a:ext cx="9014690" cy="727615"/>
          </a:xfrm>
          <a:prstGeom prst="rect">
            <a:avLst/>
          </a:prstGeom>
        </p:spPr>
      </p:pic>
    </p:spTree>
    <p:extLst>
      <p:ext uri="{BB962C8B-B14F-4D97-AF65-F5344CB8AC3E}">
        <p14:creationId xmlns:p14="http://schemas.microsoft.com/office/powerpoint/2010/main" val="985916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37B3122-E1FF-EB4B-80AF-633E57BC4E95}"/>
              </a:ext>
            </a:extLst>
          </p:cNvPr>
          <p:cNvSpPr txBox="1"/>
          <p:nvPr/>
        </p:nvSpPr>
        <p:spPr>
          <a:xfrm>
            <a:off x="97099" y="2232730"/>
            <a:ext cx="4316405" cy="4616648"/>
          </a:xfrm>
          <a:prstGeom prst="rect">
            <a:avLst/>
          </a:prstGeom>
          <a:noFill/>
        </p:spPr>
        <p:txBody>
          <a:bodyPr wrap="square" rtlCol="0">
            <a:spAutoFit/>
          </a:bodyPr>
          <a:lstStyle/>
          <a:p>
            <a:pPr marL="285750" indent="-285750">
              <a:buFont typeface="Arial" panose="020B0604020202020204" pitchFamily="34" charset="0"/>
              <a:buChar char="•"/>
            </a:pPr>
            <a:r>
              <a:rPr lang="en-US" sz="1400"/>
              <a:t>If the patient CAN sit up independently and has the strength and movement in at least one leg to try and stand up, the next question is to see if they can stand safely on their own. </a:t>
            </a:r>
          </a:p>
          <a:p>
            <a:pPr marL="285750" indent="-285750">
              <a:buFont typeface="Arial" panose="020B0604020202020204" pitchFamily="34" charset="0"/>
              <a:buChar char="•"/>
            </a:pPr>
            <a:r>
              <a:rPr lang="en-US" sz="1400"/>
              <a:t>If they are unable to clear their buttocks, you know they need power to stand. </a:t>
            </a:r>
          </a:p>
          <a:p>
            <a:pPr marL="285750" indent="-285750">
              <a:buFont typeface="Arial" panose="020B0604020202020204" pitchFamily="34" charset="0"/>
              <a:buChar char="•"/>
            </a:pPr>
            <a:r>
              <a:rPr lang="en-US" sz="1400"/>
              <a:t>The patient will be VA MSST level 3P/moderate assistance to stand. </a:t>
            </a:r>
          </a:p>
          <a:p>
            <a:pPr marL="285750" indent="-285750">
              <a:buFont typeface="Arial" panose="020B0604020202020204" pitchFamily="34" charset="0"/>
              <a:buChar char="•"/>
            </a:pPr>
            <a:r>
              <a:rPr lang="en-US" sz="1400"/>
              <a:t>Many have asked why not just combine level 2 and level 3P. The reason for this is that this would result in the stretch and point being skipped over. </a:t>
            </a:r>
          </a:p>
          <a:p>
            <a:pPr marL="285750" indent="-285750">
              <a:buFont typeface="Arial" panose="020B0604020202020204" pitchFamily="34" charset="0"/>
              <a:buChar char="•"/>
            </a:pPr>
            <a:r>
              <a:rPr lang="en-US" sz="1400"/>
              <a:t>The patient must be able to stretch and point AND stand without losing balance to pass to the 3N (minimal assist category) and BOTH level 2 and level 3P require moderate assist to stand and walk (power) but a level 2 lacks leg strength, a level 3P can try to stand but lacks glute strength to clear buttocks. </a:t>
            </a:r>
          </a:p>
          <a:p>
            <a:pPr marL="285750" indent="-285750">
              <a:buFont typeface="Arial" panose="020B0604020202020204" pitchFamily="34" charset="0"/>
              <a:buChar char="•"/>
            </a:pPr>
            <a:r>
              <a:rPr lang="en-US" sz="1400"/>
              <a:t>The Stretch and Point step is a very important step which is why it has its own whole category in the screen.</a:t>
            </a:r>
          </a:p>
        </p:txBody>
      </p:sp>
      <p:sp>
        <p:nvSpPr>
          <p:cNvPr id="7" name="TextBox 6">
            <a:extLst>
              <a:ext uri="{FF2B5EF4-FFF2-40B4-BE49-F238E27FC236}">
                <a16:creationId xmlns:a16="http://schemas.microsoft.com/office/drawing/2014/main" id="{B467D27F-9EAA-465B-80BC-85AB5AF6DEEB}"/>
              </a:ext>
            </a:extLst>
          </p:cNvPr>
          <p:cNvSpPr txBox="1"/>
          <p:nvPr/>
        </p:nvSpPr>
        <p:spPr>
          <a:xfrm>
            <a:off x="1038225" y="57818"/>
            <a:ext cx="6858000" cy="400110"/>
          </a:xfrm>
          <a:prstGeom prst="rect">
            <a:avLst/>
          </a:prstGeom>
          <a:noFill/>
        </p:spPr>
        <p:txBody>
          <a:bodyPr wrap="square">
            <a:spAutoFit/>
          </a:bodyPr>
          <a:lstStyle/>
          <a:p>
            <a:r>
              <a:rPr lang="en-US" sz="2000" b="1"/>
              <a:t>VA MSST LEVEL 3P (</a:t>
            </a:r>
            <a:r>
              <a:rPr lang="en-US" sz="2000" b="1" i="1">
                <a:solidFill>
                  <a:srgbClr val="FF0000"/>
                </a:solidFill>
              </a:rPr>
              <a:t>POWERED</a:t>
            </a:r>
            <a:r>
              <a:rPr lang="en-US" sz="2000" b="1" i="1"/>
              <a:t>)</a:t>
            </a:r>
            <a:r>
              <a:rPr lang="en-US" sz="2000" b="1"/>
              <a:t>:  MODERATE ASSIST</a:t>
            </a:r>
          </a:p>
        </p:txBody>
      </p:sp>
      <p:sp>
        <p:nvSpPr>
          <p:cNvPr id="11" name="Frame 10">
            <a:extLst>
              <a:ext uri="{FF2B5EF4-FFF2-40B4-BE49-F238E27FC236}">
                <a16:creationId xmlns:a16="http://schemas.microsoft.com/office/drawing/2014/main" id="{A4D4A2A6-06D1-4EF3-8BE5-6EC304E66F6B}"/>
              </a:ext>
            </a:extLst>
          </p:cNvPr>
          <p:cNvSpPr/>
          <p:nvPr/>
        </p:nvSpPr>
        <p:spPr>
          <a:xfrm>
            <a:off x="0" y="457928"/>
            <a:ext cx="9143459" cy="1774802"/>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6DDE60C7-C2A5-4C66-959C-223412AB68BE}"/>
              </a:ext>
            </a:extLst>
          </p:cNvPr>
          <p:cNvSpPr txBox="1"/>
          <p:nvPr/>
        </p:nvSpPr>
        <p:spPr>
          <a:xfrm>
            <a:off x="0" y="2008433"/>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3" name="Picture 2">
            <a:extLst>
              <a:ext uri="{FF2B5EF4-FFF2-40B4-BE49-F238E27FC236}">
                <a16:creationId xmlns:a16="http://schemas.microsoft.com/office/drawing/2014/main" id="{A8FCB6FF-2557-4E7D-93DB-8EAAEB42211F}"/>
              </a:ext>
            </a:extLst>
          </p:cNvPr>
          <p:cNvPicPr>
            <a:picLocks noChangeAspect="1"/>
          </p:cNvPicPr>
          <p:nvPr/>
        </p:nvPicPr>
        <p:blipFill>
          <a:blip r:embed="rId3"/>
          <a:stretch>
            <a:fillRect/>
          </a:stretch>
        </p:blipFill>
        <p:spPr>
          <a:xfrm>
            <a:off x="71022" y="1154965"/>
            <a:ext cx="9036033" cy="911026"/>
          </a:xfrm>
          <a:prstGeom prst="rect">
            <a:avLst/>
          </a:prstGeom>
        </p:spPr>
      </p:pic>
      <p:pic>
        <p:nvPicPr>
          <p:cNvPr id="10" name="Picture 9">
            <a:extLst>
              <a:ext uri="{FF2B5EF4-FFF2-40B4-BE49-F238E27FC236}">
                <a16:creationId xmlns:a16="http://schemas.microsoft.com/office/drawing/2014/main" id="{7823DA07-197F-4653-B2D7-5AC487004490}"/>
              </a:ext>
            </a:extLst>
          </p:cNvPr>
          <p:cNvPicPr>
            <a:picLocks noChangeAspect="1"/>
          </p:cNvPicPr>
          <p:nvPr/>
        </p:nvPicPr>
        <p:blipFill>
          <a:blip r:embed="rId4"/>
          <a:stretch>
            <a:fillRect/>
          </a:stretch>
        </p:blipFill>
        <p:spPr>
          <a:xfrm>
            <a:off x="4565633" y="2919459"/>
            <a:ext cx="4425697" cy="2985414"/>
          </a:xfrm>
          <a:prstGeom prst="rect">
            <a:avLst/>
          </a:prstGeom>
        </p:spPr>
      </p:pic>
      <p:pic>
        <p:nvPicPr>
          <p:cNvPr id="9" name="Picture 8">
            <a:extLst>
              <a:ext uri="{FF2B5EF4-FFF2-40B4-BE49-F238E27FC236}">
                <a16:creationId xmlns:a16="http://schemas.microsoft.com/office/drawing/2014/main" id="{6671C6D3-BCED-46D0-BAA8-6626EA5A1780}"/>
              </a:ext>
            </a:extLst>
          </p:cNvPr>
          <p:cNvPicPr>
            <a:picLocks noChangeAspect="1"/>
          </p:cNvPicPr>
          <p:nvPr/>
        </p:nvPicPr>
        <p:blipFill>
          <a:blip r:embed="rId5"/>
          <a:stretch>
            <a:fillRect/>
          </a:stretch>
        </p:blipFill>
        <p:spPr>
          <a:xfrm>
            <a:off x="58288" y="505565"/>
            <a:ext cx="9014690" cy="727615"/>
          </a:xfrm>
          <a:prstGeom prst="rect">
            <a:avLst/>
          </a:prstGeom>
        </p:spPr>
      </p:pic>
    </p:spTree>
    <p:extLst>
      <p:ext uri="{BB962C8B-B14F-4D97-AF65-F5344CB8AC3E}">
        <p14:creationId xmlns:p14="http://schemas.microsoft.com/office/powerpoint/2010/main" val="58035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0D31FA6-5EC0-644D-B766-A42A976379E6}"/>
              </a:ext>
            </a:extLst>
          </p:cNvPr>
          <p:cNvSpPr txBox="1"/>
          <p:nvPr/>
        </p:nvSpPr>
        <p:spPr>
          <a:xfrm>
            <a:off x="169870" y="2464378"/>
            <a:ext cx="4316405" cy="4031873"/>
          </a:xfrm>
          <a:prstGeom prst="rect">
            <a:avLst/>
          </a:prstGeom>
          <a:noFill/>
        </p:spPr>
        <p:txBody>
          <a:bodyPr wrap="square" rtlCol="0">
            <a:spAutoFit/>
          </a:bodyPr>
          <a:lstStyle/>
          <a:p>
            <a:pPr marL="285750" indent="-285750">
              <a:buFont typeface="Arial" panose="020B0604020202020204" pitchFamily="34" charset="0"/>
              <a:buChar char="•"/>
            </a:pPr>
            <a:r>
              <a:rPr lang="en-US" sz="1600"/>
              <a:t>If the patient CAN sit up independently, has good leg strength and is able to clear their buttocks from the surface to stand without loss of balance for 5 seconds, with or without an assistive device, the next question is whether they can safely walk. </a:t>
            </a:r>
          </a:p>
          <a:p>
            <a:pPr marL="285750" indent="-285750">
              <a:buFont typeface="Arial" panose="020B0604020202020204" pitchFamily="34" charset="0"/>
              <a:buChar char="•"/>
            </a:pPr>
            <a:r>
              <a:rPr lang="en-US" sz="1600"/>
              <a:t>If they are unable to pick up their feet to march in place and take steps forward and back with each foot, they are VA MSST Level 3N/minimum assist. </a:t>
            </a:r>
          </a:p>
          <a:p>
            <a:pPr marL="285750" indent="-285750">
              <a:buFont typeface="Arial" panose="020B0604020202020204" pitchFamily="34" charset="0"/>
              <a:buChar char="•"/>
            </a:pPr>
            <a:r>
              <a:rPr lang="en-US" sz="1600"/>
              <a:t>Remember if they cannot stand safely without loss of balance for 5 seconds, they remain a level 3P. </a:t>
            </a:r>
          </a:p>
          <a:p>
            <a:pPr marL="285750" indent="-285750">
              <a:buFont typeface="Arial" panose="020B0604020202020204" pitchFamily="34" charset="0"/>
              <a:buChar char="•"/>
            </a:pPr>
            <a:r>
              <a:rPr lang="en-US" sz="1600"/>
              <a:t>Level 3N patients need non-powered stand aid for mobility/locomotion but might use walker for stand up/simple transfer.</a:t>
            </a:r>
          </a:p>
        </p:txBody>
      </p:sp>
      <p:sp>
        <p:nvSpPr>
          <p:cNvPr id="9" name="TextBox 8">
            <a:extLst>
              <a:ext uri="{FF2B5EF4-FFF2-40B4-BE49-F238E27FC236}">
                <a16:creationId xmlns:a16="http://schemas.microsoft.com/office/drawing/2014/main" id="{D7726102-8D77-4126-BF4A-6864114CE949}"/>
              </a:ext>
            </a:extLst>
          </p:cNvPr>
          <p:cNvSpPr txBox="1"/>
          <p:nvPr/>
        </p:nvSpPr>
        <p:spPr>
          <a:xfrm>
            <a:off x="1038609" y="153904"/>
            <a:ext cx="8231180" cy="400110"/>
          </a:xfrm>
          <a:prstGeom prst="rect">
            <a:avLst/>
          </a:prstGeom>
          <a:noFill/>
        </p:spPr>
        <p:txBody>
          <a:bodyPr wrap="square">
            <a:spAutoFit/>
          </a:bodyPr>
          <a:lstStyle/>
          <a:p>
            <a:r>
              <a:rPr lang="en-US" sz="2000" b="1"/>
              <a:t>VA MSST LEVEL 3N (</a:t>
            </a:r>
            <a:r>
              <a:rPr lang="en-US" sz="2000" b="1" i="1" u="sng">
                <a:solidFill>
                  <a:srgbClr val="FF0000"/>
                </a:solidFill>
              </a:rPr>
              <a:t>NON</a:t>
            </a:r>
            <a:r>
              <a:rPr lang="en-US" sz="2000" b="1" i="1">
                <a:solidFill>
                  <a:srgbClr val="FF0000"/>
                </a:solidFill>
              </a:rPr>
              <a:t>-POWERED</a:t>
            </a:r>
            <a:r>
              <a:rPr lang="en-US" sz="2000" b="1"/>
              <a:t>):  MINIMAL ASSIST</a:t>
            </a:r>
          </a:p>
        </p:txBody>
      </p:sp>
      <p:sp>
        <p:nvSpPr>
          <p:cNvPr id="14" name="Frame 13">
            <a:extLst>
              <a:ext uri="{FF2B5EF4-FFF2-40B4-BE49-F238E27FC236}">
                <a16:creationId xmlns:a16="http://schemas.microsoft.com/office/drawing/2014/main" id="{BEF1A406-7D42-49A2-8B5C-B179FBEDCB5F}"/>
              </a:ext>
            </a:extLst>
          </p:cNvPr>
          <p:cNvSpPr/>
          <p:nvPr/>
        </p:nvSpPr>
        <p:spPr>
          <a:xfrm>
            <a:off x="1" y="584094"/>
            <a:ext cx="9128922" cy="1880284"/>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5C7292E9-E49F-4F5F-BD86-DD8BA3331208}"/>
              </a:ext>
            </a:extLst>
          </p:cNvPr>
          <p:cNvSpPr txBox="1"/>
          <p:nvPr/>
        </p:nvSpPr>
        <p:spPr>
          <a:xfrm>
            <a:off x="0" y="2172817"/>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4" name="Picture 3">
            <a:extLst>
              <a:ext uri="{FF2B5EF4-FFF2-40B4-BE49-F238E27FC236}">
                <a16:creationId xmlns:a16="http://schemas.microsoft.com/office/drawing/2014/main" id="{3364039D-B8E0-44DF-BA8F-1787CA242906}"/>
              </a:ext>
            </a:extLst>
          </p:cNvPr>
          <p:cNvPicPr>
            <a:picLocks noChangeAspect="1"/>
          </p:cNvPicPr>
          <p:nvPr/>
        </p:nvPicPr>
        <p:blipFill>
          <a:blip r:embed="rId3"/>
          <a:stretch>
            <a:fillRect/>
          </a:stretch>
        </p:blipFill>
        <p:spPr>
          <a:xfrm>
            <a:off x="64654" y="1326484"/>
            <a:ext cx="9014691" cy="835107"/>
          </a:xfrm>
          <a:prstGeom prst="rect">
            <a:avLst/>
          </a:prstGeom>
        </p:spPr>
      </p:pic>
      <p:pic>
        <p:nvPicPr>
          <p:cNvPr id="11" name="Picture 10">
            <a:extLst>
              <a:ext uri="{FF2B5EF4-FFF2-40B4-BE49-F238E27FC236}">
                <a16:creationId xmlns:a16="http://schemas.microsoft.com/office/drawing/2014/main" id="{C1DE819B-E878-421B-819D-7E4903177064}"/>
              </a:ext>
            </a:extLst>
          </p:cNvPr>
          <p:cNvPicPr>
            <a:picLocks noChangeAspect="1"/>
          </p:cNvPicPr>
          <p:nvPr/>
        </p:nvPicPr>
        <p:blipFill>
          <a:blip r:embed="rId4"/>
          <a:stretch>
            <a:fillRect/>
          </a:stretch>
        </p:blipFill>
        <p:spPr>
          <a:xfrm>
            <a:off x="4835133" y="2576596"/>
            <a:ext cx="4043510" cy="3919655"/>
          </a:xfrm>
          <a:prstGeom prst="rect">
            <a:avLst/>
          </a:prstGeom>
        </p:spPr>
      </p:pic>
      <p:pic>
        <p:nvPicPr>
          <p:cNvPr id="13" name="Picture 12">
            <a:extLst>
              <a:ext uri="{FF2B5EF4-FFF2-40B4-BE49-F238E27FC236}">
                <a16:creationId xmlns:a16="http://schemas.microsoft.com/office/drawing/2014/main" id="{30597E39-B8D1-487A-94EA-BEE0A2F9F9AD}"/>
              </a:ext>
            </a:extLst>
          </p:cNvPr>
          <p:cNvPicPr>
            <a:picLocks noChangeAspect="1"/>
          </p:cNvPicPr>
          <p:nvPr/>
        </p:nvPicPr>
        <p:blipFill>
          <a:blip r:embed="rId5"/>
          <a:stretch>
            <a:fillRect/>
          </a:stretch>
        </p:blipFill>
        <p:spPr>
          <a:xfrm>
            <a:off x="64655" y="635800"/>
            <a:ext cx="9014690" cy="727615"/>
          </a:xfrm>
          <a:prstGeom prst="rect">
            <a:avLst/>
          </a:prstGeom>
        </p:spPr>
      </p:pic>
    </p:spTree>
    <p:extLst>
      <p:ext uri="{BB962C8B-B14F-4D97-AF65-F5344CB8AC3E}">
        <p14:creationId xmlns:p14="http://schemas.microsoft.com/office/powerpoint/2010/main" val="1715255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33EA59-A214-2D4B-8909-457ED69C2708}"/>
              </a:ext>
            </a:extLst>
          </p:cNvPr>
          <p:cNvSpPr txBox="1"/>
          <p:nvPr/>
        </p:nvSpPr>
        <p:spPr>
          <a:xfrm>
            <a:off x="50306" y="2259399"/>
            <a:ext cx="4291584" cy="4801314"/>
          </a:xfrm>
          <a:prstGeom prst="rect">
            <a:avLst/>
          </a:prstGeom>
          <a:noFill/>
        </p:spPr>
        <p:txBody>
          <a:bodyPr wrap="square" rtlCol="0">
            <a:spAutoFit/>
          </a:bodyPr>
          <a:lstStyle/>
          <a:p>
            <a:pPr marL="285750" indent="-285750">
              <a:buFont typeface="Arial" panose="020B0604020202020204" pitchFamily="34" charset="0"/>
              <a:buChar char="•"/>
            </a:pPr>
            <a:r>
              <a:rPr lang="en-US"/>
              <a:t>If the patient can march in place and step forward and back safely using  adaptive device but not without device, they are independent with adaptive device so VA MSST Level 4A/ independent. </a:t>
            </a:r>
          </a:p>
          <a:p>
            <a:pPr marL="285750" indent="-285750">
              <a:buFont typeface="Arial" panose="020B0604020202020204" pitchFamily="34" charset="0"/>
              <a:buChar char="•"/>
            </a:pPr>
            <a:r>
              <a:rPr lang="en-US"/>
              <a:t>If patient is independent with wheelchair, they are also VA MSST Level 4A/independent. </a:t>
            </a:r>
          </a:p>
          <a:p>
            <a:pPr marL="285750" indent="-285750">
              <a:buFont typeface="Arial" panose="020B0604020202020204" pitchFamily="34" charset="0"/>
              <a:buChar char="•"/>
            </a:pPr>
            <a:r>
              <a:rPr lang="en-US"/>
              <a:t>There may be some instances in structured rehabilitation such as working on balance or high-level gait activities where therapists may use ambulation harnesses or equipment to push activities.</a:t>
            </a:r>
          </a:p>
          <a:p>
            <a:pPr marL="285750" indent="-285750">
              <a:buFont typeface="Arial" panose="020B0604020202020204" pitchFamily="34" charset="0"/>
              <a:buChar char="•"/>
            </a:pPr>
            <a:r>
              <a:rPr lang="en-US"/>
              <a:t>Supervision needed if high fall risk.</a:t>
            </a:r>
          </a:p>
          <a:p>
            <a:endParaRPr lang="en-US"/>
          </a:p>
        </p:txBody>
      </p:sp>
      <p:sp>
        <p:nvSpPr>
          <p:cNvPr id="8" name="TextBox 7">
            <a:extLst>
              <a:ext uri="{FF2B5EF4-FFF2-40B4-BE49-F238E27FC236}">
                <a16:creationId xmlns:a16="http://schemas.microsoft.com/office/drawing/2014/main" id="{96E8DBE8-6A4D-4BB6-A5D1-D5D8A173147E}"/>
              </a:ext>
            </a:extLst>
          </p:cNvPr>
          <p:cNvSpPr txBox="1"/>
          <p:nvPr/>
        </p:nvSpPr>
        <p:spPr>
          <a:xfrm>
            <a:off x="1464482" y="69964"/>
            <a:ext cx="6915150" cy="400110"/>
          </a:xfrm>
          <a:prstGeom prst="rect">
            <a:avLst/>
          </a:prstGeom>
          <a:noFill/>
        </p:spPr>
        <p:txBody>
          <a:bodyPr wrap="square">
            <a:spAutoFit/>
          </a:bodyPr>
          <a:lstStyle/>
          <a:p>
            <a:r>
              <a:rPr lang="en-US" sz="2000" b="1"/>
              <a:t>VA MSST LEVEL 4A (</a:t>
            </a:r>
            <a:r>
              <a:rPr lang="en-US" sz="2000" b="1" i="1">
                <a:solidFill>
                  <a:srgbClr val="FF0000"/>
                </a:solidFill>
              </a:rPr>
              <a:t>ADAPTIVE</a:t>
            </a:r>
            <a:r>
              <a:rPr lang="en-US" sz="2000" b="1"/>
              <a:t>) :  INDEPENDENT  </a:t>
            </a:r>
          </a:p>
        </p:txBody>
      </p:sp>
      <p:sp>
        <p:nvSpPr>
          <p:cNvPr id="17" name="Frame 16">
            <a:extLst>
              <a:ext uri="{FF2B5EF4-FFF2-40B4-BE49-F238E27FC236}">
                <a16:creationId xmlns:a16="http://schemas.microsoft.com/office/drawing/2014/main" id="{9C27185B-9F68-4DEF-A9B5-97B6B208EF84}"/>
              </a:ext>
            </a:extLst>
          </p:cNvPr>
          <p:cNvSpPr/>
          <p:nvPr/>
        </p:nvSpPr>
        <p:spPr>
          <a:xfrm>
            <a:off x="0" y="462338"/>
            <a:ext cx="9143999" cy="1797062"/>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2BA8A88C-6F30-408C-8015-9B2B6CC2481B}"/>
              </a:ext>
            </a:extLst>
          </p:cNvPr>
          <p:cNvSpPr txBox="1"/>
          <p:nvPr/>
        </p:nvSpPr>
        <p:spPr>
          <a:xfrm>
            <a:off x="0" y="2028981"/>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4" name="Picture 3">
            <a:extLst>
              <a:ext uri="{FF2B5EF4-FFF2-40B4-BE49-F238E27FC236}">
                <a16:creationId xmlns:a16="http://schemas.microsoft.com/office/drawing/2014/main" id="{BAD92193-FC78-45D7-A617-B127335F2550}"/>
              </a:ext>
            </a:extLst>
          </p:cNvPr>
          <p:cNvPicPr>
            <a:picLocks noChangeAspect="1"/>
          </p:cNvPicPr>
          <p:nvPr/>
        </p:nvPicPr>
        <p:blipFill>
          <a:blip r:embed="rId2"/>
          <a:stretch>
            <a:fillRect/>
          </a:stretch>
        </p:blipFill>
        <p:spPr>
          <a:xfrm>
            <a:off x="64654" y="1182265"/>
            <a:ext cx="9014690" cy="835878"/>
          </a:xfrm>
          <a:prstGeom prst="rect">
            <a:avLst/>
          </a:prstGeom>
        </p:spPr>
      </p:pic>
      <p:pic>
        <p:nvPicPr>
          <p:cNvPr id="7" name="Picture 6">
            <a:extLst>
              <a:ext uri="{FF2B5EF4-FFF2-40B4-BE49-F238E27FC236}">
                <a16:creationId xmlns:a16="http://schemas.microsoft.com/office/drawing/2014/main" id="{1C469DFE-DE80-45BA-BB77-9AC5DC59B43C}"/>
              </a:ext>
            </a:extLst>
          </p:cNvPr>
          <p:cNvPicPr>
            <a:picLocks noChangeAspect="1"/>
          </p:cNvPicPr>
          <p:nvPr/>
        </p:nvPicPr>
        <p:blipFill>
          <a:blip r:embed="rId3"/>
          <a:stretch>
            <a:fillRect/>
          </a:stretch>
        </p:blipFill>
        <p:spPr>
          <a:xfrm>
            <a:off x="5309791" y="2393006"/>
            <a:ext cx="3069841" cy="4218102"/>
          </a:xfrm>
          <a:prstGeom prst="rect">
            <a:avLst/>
          </a:prstGeom>
        </p:spPr>
      </p:pic>
      <p:pic>
        <p:nvPicPr>
          <p:cNvPr id="10" name="Picture 9">
            <a:extLst>
              <a:ext uri="{FF2B5EF4-FFF2-40B4-BE49-F238E27FC236}">
                <a16:creationId xmlns:a16="http://schemas.microsoft.com/office/drawing/2014/main" id="{7042D7CC-2DB0-41CC-8B7F-7DD6D2FD024E}"/>
              </a:ext>
            </a:extLst>
          </p:cNvPr>
          <p:cNvPicPr>
            <a:picLocks noChangeAspect="1"/>
          </p:cNvPicPr>
          <p:nvPr/>
        </p:nvPicPr>
        <p:blipFill>
          <a:blip r:embed="rId4"/>
          <a:stretch>
            <a:fillRect/>
          </a:stretch>
        </p:blipFill>
        <p:spPr>
          <a:xfrm>
            <a:off x="64654" y="518044"/>
            <a:ext cx="9014690" cy="727615"/>
          </a:xfrm>
          <a:prstGeom prst="rect">
            <a:avLst/>
          </a:prstGeom>
        </p:spPr>
      </p:pic>
    </p:spTree>
    <p:extLst>
      <p:ext uri="{BB962C8B-B14F-4D97-AF65-F5344CB8AC3E}">
        <p14:creationId xmlns:p14="http://schemas.microsoft.com/office/powerpoint/2010/main" val="433576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33EA59-A214-2D4B-8909-457ED69C2708}"/>
              </a:ext>
            </a:extLst>
          </p:cNvPr>
          <p:cNvSpPr txBox="1"/>
          <p:nvPr/>
        </p:nvSpPr>
        <p:spPr>
          <a:xfrm>
            <a:off x="35228" y="2429543"/>
            <a:ext cx="4291584" cy="2215991"/>
          </a:xfrm>
          <a:prstGeom prst="rect">
            <a:avLst/>
          </a:prstGeom>
          <a:noFill/>
        </p:spPr>
        <p:txBody>
          <a:bodyPr wrap="square" rtlCol="0">
            <a:spAutoFit/>
          </a:bodyPr>
          <a:lstStyle/>
          <a:p>
            <a:pPr marL="285750" indent="-285750">
              <a:buFont typeface="Arial" panose="020B0604020202020204" pitchFamily="34" charset="0"/>
              <a:buChar char="•"/>
            </a:pPr>
            <a:r>
              <a:rPr lang="en-US" sz="2000"/>
              <a:t>If the patient can march in place and step forward and back safely without an adaptive device, they are VA MSST Level 4/independent.</a:t>
            </a:r>
          </a:p>
          <a:p>
            <a:pPr marL="285750" indent="-285750">
              <a:buFont typeface="Arial" panose="020B0604020202020204" pitchFamily="34" charset="0"/>
              <a:buChar char="•"/>
            </a:pPr>
            <a:r>
              <a:rPr lang="en-US" sz="2000"/>
              <a:t>Supervision needed if high fall risk.</a:t>
            </a:r>
          </a:p>
          <a:p>
            <a:endParaRPr lang="en-US" sz="2000"/>
          </a:p>
          <a:p>
            <a:pPr marL="285750" indent="-285750">
              <a:buFont typeface="Arial" panose="020B0604020202020204" pitchFamily="34" charset="0"/>
              <a:buChar char="•"/>
            </a:pPr>
            <a:endParaRPr lang="en-US"/>
          </a:p>
        </p:txBody>
      </p:sp>
      <p:sp>
        <p:nvSpPr>
          <p:cNvPr id="8" name="TextBox 7">
            <a:extLst>
              <a:ext uri="{FF2B5EF4-FFF2-40B4-BE49-F238E27FC236}">
                <a16:creationId xmlns:a16="http://schemas.microsoft.com/office/drawing/2014/main" id="{96E8DBE8-6A4D-4BB6-A5D1-D5D8A173147E}"/>
              </a:ext>
            </a:extLst>
          </p:cNvPr>
          <p:cNvSpPr txBox="1"/>
          <p:nvPr/>
        </p:nvSpPr>
        <p:spPr>
          <a:xfrm>
            <a:off x="2396830" y="158372"/>
            <a:ext cx="4572000" cy="400110"/>
          </a:xfrm>
          <a:prstGeom prst="rect">
            <a:avLst/>
          </a:prstGeom>
          <a:noFill/>
        </p:spPr>
        <p:txBody>
          <a:bodyPr wrap="square">
            <a:spAutoFit/>
          </a:bodyPr>
          <a:lstStyle/>
          <a:p>
            <a:r>
              <a:rPr lang="en-US" sz="2000" b="1"/>
              <a:t>VA MSST LEVEL 4:  INDEPENDENT</a:t>
            </a:r>
          </a:p>
        </p:txBody>
      </p:sp>
      <p:sp>
        <p:nvSpPr>
          <p:cNvPr id="14" name="Frame 13">
            <a:extLst>
              <a:ext uri="{FF2B5EF4-FFF2-40B4-BE49-F238E27FC236}">
                <a16:creationId xmlns:a16="http://schemas.microsoft.com/office/drawing/2014/main" id="{2D9C32C2-C050-4AF8-8992-F3F5F0D9950F}"/>
              </a:ext>
            </a:extLst>
          </p:cNvPr>
          <p:cNvSpPr/>
          <p:nvPr/>
        </p:nvSpPr>
        <p:spPr>
          <a:xfrm>
            <a:off x="1" y="558483"/>
            <a:ext cx="9144000" cy="1871060"/>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E990E16B-50EF-40D0-BE61-D5302514094A}"/>
              </a:ext>
            </a:extLst>
          </p:cNvPr>
          <p:cNvSpPr txBox="1"/>
          <p:nvPr/>
        </p:nvSpPr>
        <p:spPr>
          <a:xfrm>
            <a:off x="0" y="2152269"/>
            <a:ext cx="10740441" cy="223138"/>
          </a:xfrm>
          <a:prstGeom prst="rect">
            <a:avLst/>
          </a:prstGeom>
          <a:noFill/>
        </p:spPr>
        <p:txBody>
          <a:bodyPr wrap="square" rtlCol="0">
            <a:spAutoFit/>
          </a:bodyPr>
          <a:lstStyle/>
          <a:p>
            <a:r>
              <a:rPr lang="en-US" sz="850" dirty="0"/>
              <a:t>Copyright EarlyMobility.com, 2019. All rights reserved. Used with permission by Veterans Administration Healthcare System. EMOBI used with permission from EarlyMobility.com. </a:t>
            </a:r>
            <a:r>
              <a:rPr lang="en-US" sz="850" dirty="0">
                <a:highlight>
                  <a:srgbClr val="FFFF00"/>
                </a:highlight>
              </a:rPr>
              <a:t>INTERNAL VA USE ONLY</a:t>
            </a:r>
          </a:p>
        </p:txBody>
      </p:sp>
      <p:pic>
        <p:nvPicPr>
          <p:cNvPr id="7" name="Picture 6">
            <a:extLst>
              <a:ext uri="{FF2B5EF4-FFF2-40B4-BE49-F238E27FC236}">
                <a16:creationId xmlns:a16="http://schemas.microsoft.com/office/drawing/2014/main" id="{0775556F-3FF0-42E5-BA07-B4F51DC662A9}"/>
              </a:ext>
            </a:extLst>
          </p:cNvPr>
          <p:cNvPicPr>
            <a:picLocks noChangeAspect="1"/>
          </p:cNvPicPr>
          <p:nvPr/>
        </p:nvPicPr>
        <p:blipFill>
          <a:blip r:embed="rId2"/>
          <a:stretch>
            <a:fillRect/>
          </a:stretch>
        </p:blipFill>
        <p:spPr>
          <a:xfrm>
            <a:off x="35230" y="1315181"/>
            <a:ext cx="9044115" cy="877284"/>
          </a:xfrm>
          <a:prstGeom prst="rect">
            <a:avLst/>
          </a:prstGeom>
        </p:spPr>
      </p:pic>
      <p:pic>
        <p:nvPicPr>
          <p:cNvPr id="4" name="Picture 3">
            <a:extLst>
              <a:ext uri="{FF2B5EF4-FFF2-40B4-BE49-F238E27FC236}">
                <a16:creationId xmlns:a16="http://schemas.microsoft.com/office/drawing/2014/main" id="{B93B0B61-635E-457A-857E-DB11C845F11E}"/>
              </a:ext>
            </a:extLst>
          </p:cNvPr>
          <p:cNvPicPr>
            <a:picLocks noChangeAspect="1"/>
          </p:cNvPicPr>
          <p:nvPr/>
        </p:nvPicPr>
        <p:blipFill>
          <a:blip r:embed="rId3"/>
          <a:stretch>
            <a:fillRect/>
          </a:stretch>
        </p:blipFill>
        <p:spPr>
          <a:xfrm>
            <a:off x="5619500" y="2503737"/>
            <a:ext cx="2779197" cy="4195891"/>
          </a:xfrm>
          <a:prstGeom prst="rect">
            <a:avLst/>
          </a:prstGeom>
        </p:spPr>
      </p:pic>
      <p:pic>
        <p:nvPicPr>
          <p:cNvPr id="11" name="Picture 10">
            <a:extLst>
              <a:ext uri="{FF2B5EF4-FFF2-40B4-BE49-F238E27FC236}">
                <a16:creationId xmlns:a16="http://schemas.microsoft.com/office/drawing/2014/main" id="{5DA258B8-69C5-47D7-AD1E-1C0D48CA1322}"/>
              </a:ext>
            </a:extLst>
          </p:cNvPr>
          <p:cNvPicPr>
            <a:picLocks noChangeAspect="1"/>
          </p:cNvPicPr>
          <p:nvPr/>
        </p:nvPicPr>
        <p:blipFill>
          <a:blip r:embed="rId4"/>
          <a:stretch>
            <a:fillRect/>
          </a:stretch>
        </p:blipFill>
        <p:spPr>
          <a:xfrm>
            <a:off x="64655" y="612618"/>
            <a:ext cx="9014690" cy="727615"/>
          </a:xfrm>
          <a:prstGeom prst="rect">
            <a:avLst/>
          </a:prstGeom>
        </p:spPr>
      </p:pic>
    </p:spTree>
    <p:extLst>
      <p:ext uri="{BB962C8B-B14F-4D97-AF65-F5344CB8AC3E}">
        <p14:creationId xmlns:p14="http://schemas.microsoft.com/office/powerpoint/2010/main" val="767494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CD1D6A-9905-4058-8BCF-B99ACACD6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413" y="1208388"/>
            <a:ext cx="8249247" cy="4546251"/>
          </a:xfrm>
          <a:prstGeom prst="rect">
            <a:avLst/>
          </a:prstGeom>
        </p:spPr>
      </p:pic>
    </p:spTree>
    <p:extLst>
      <p:ext uri="{BB962C8B-B14F-4D97-AF65-F5344CB8AC3E}">
        <p14:creationId xmlns:p14="http://schemas.microsoft.com/office/powerpoint/2010/main" val="203587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B149B-0756-49C0-993E-B37B7AFFD668}"/>
              </a:ext>
            </a:extLst>
          </p:cNvPr>
          <p:cNvSpPr>
            <a:spLocks noGrp="1"/>
          </p:cNvSpPr>
          <p:nvPr>
            <p:ph type="title"/>
          </p:nvPr>
        </p:nvSpPr>
        <p:spPr/>
        <p:txBody>
          <a:bodyPr/>
          <a:lstStyle/>
          <a:p>
            <a:r>
              <a:rPr lang="en-US"/>
              <a:t>Video Resources</a:t>
            </a:r>
          </a:p>
        </p:txBody>
      </p:sp>
      <p:sp>
        <p:nvSpPr>
          <p:cNvPr id="3" name="Content Placeholder 2">
            <a:extLst>
              <a:ext uri="{FF2B5EF4-FFF2-40B4-BE49-F238E27FC236}">
                <a16:creationId xmlns:a16="http://schemas.microsoft.com/office/drawing/2014/main" id="{DCF1297F-B38F-4098-99A5-BCC84BDD1C16}"/>
              </a:ext>
            </a:extLst>
          </p:cNvPr>
          <p:cNvSpPr>
            <a:spLocks noGrp="1"/>
          </p:cNvSpPr>
          <p:nvPr>
            <p:ph idx="1"/>
          </p:nvPr>
        </p:nvSpPr>
        <p:spPr/>
        <p:txBody>
          <a:bodyPr/>
          <a:lstStyle/>
          <a:p>
            <a:r>
              <a:rPr lang="en-US"/>
              <a:t>Introduction to MSST YouTube link: </a:t>
            </a:r>
            <a:r>
              <a:rPr lang="en-US">
                <a:hlinkClick r:id="rId2"/>
              </a:rPr>
              <a:t>https://youtu.be/I9PPs2SB7zU</a:t>
            </a:r>
            <a:r>
              <a:rPr lang="en-US"/>
              <a:t> </a:t>
            </a:r>
          </a:p>
          <a:p>
            <a:r>
              <a:rPr lang="en-US"/>
              <a:t>Scenarios that were used for the testing:  </a:t>
            </a:r>
          </a:p>
          <a:p>
            <a:pPr marL="0" indent="0">
              <a:buNone/>
            </a:pPr>
            <a:r>
              <a:rPr lang="en-US">
                <a:hlinkClick r:id="rId3"/>
              </a:rPr>
              <a:t>https://www.youtube.com/watch?v=wVcRbeWv-rQ</a:t>
            </a:r>
            <a:endParaRPr lang="en-US"/>
          </a:p>
          <a:p>
            <a:endParaRPr lang="en-US"/>
          </a:p>
          <a:p>
            <a:endParaRPr lang="en-US"/>
          </a:p>
        </p:txBody>
      </p:sp>
    </p:spTree>
    <p:extLst>
      <p:ext uri="{BB962C8B-B14F-4D97-AF65-F5344CB8AC3E}">
        <p14:creationId xmlns:p14="http://schemas.microsoft.com/office/powerpoint/2010/main" val="18692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9723C9ECE7804CB27A86484A37D8AE" ma:contentTypeVersion="4" ma:contentTypeDescription="Create a new document." ma:contentTypeScope="" ma:versionID="56755ee1159885e93a02cc3c923fbf8c">
  <xsd:schema xmlns:xsd="http://www.w3.org/2001/XMLSchema" xmlns:xs="http://www.w3.org/2001/XMLSchema" xmlns:p="http://schemas.microsoft.com/office/2006/metadata/properties" xmlns:ns2="ca852816-ff9b-40d6-8feb-dc80397f4a33" xmlns:ns3="6c7cbfae-09b3-446b-8042-326ae5c03660" targetNamespace="http://schemas.microsoft.com/office/2006/metadata/properties" ma:root="true" ma:fieldsID="feb9305560991b8039ee4f9fe09ab140" ns2:_="" ns3:_="">
    <xsd:import namespace="ca852816-ff9b-40d6-8feb-dc80397f4a33"/>
    <xsd:import namespace="6c7cbfae-09b3-446b-8042-326ae5c0366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852816-ff9b-40d6-8feb-dc80397f4a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c7cbfae-09b3-446b-8042-326ae5c0366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8591CE-583C-4FBA-B9C3-EF67F0E108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852816-ff9b-40d6-8feb-dc80397f4a33"/>
    <ds:schemaRef ds:uri="6c7cbfae-09b3-446b-8042-326ae5c036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7C8EA65-DCCF-4CDB-AEAC-9C59E1ADCCB2}">
  <ds:schemaRefs>
    <ds:schemaRef ds:uri="http://schemas.microsoft.com/sharepoint/v3/contenttype/forms"/>
  </ds:schemaRefs>
</ds:datastoreItem>
</file>

<file path=customXml/itemProps3.xml><?xml version="1.0" encoding="utf-8"?>
<ds:datastoreItem xmlns:ds="http://schemas.openxmlformats.org/officeDocument/2006/customXml" ds:itemID="{300F8683-CBA9-4AE2-BD93-68736BF9B655}">
  <ds:schemaRefs>
    <ds:schemaRef ds:uri="http://schemas.microsoft.com/office/infopath/2007/PartnerControls"/>
    <ds:schemaRef ds:uri="http://purl.org/dc/terms/"/>
    <ds:schemaRef ds:uri="http://schemas.microsoft.com/office/2006/documentManagement/types"/>
    <ds:schemaRef ds:uri="ca852816-ff9b-40d6-8feb-dc80397f4a33"/>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0</TotalTime>
  <Words>1710</Words>
  <Application>Microsoft Office PowerPoint</Application>
  <PresentationFormat>On-screen Show (4:3)</PresentationFormat>
  <Paragraphs>79</Paragraphs>
  <Slides>17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VA Mobility Screening and Solutions Tool (VAMSST) Training for NON-Acute Care Areas</vt:lpstr>
      <vt:lpstr>History and Background</vt:lpstr>
      <vt:lpstr>PowerPoint Presentation</vt:lpstr>
      <vt:lpstr>PowerPoint Presentation</vt:lpstr>
      <vt:lpstr>PowerPoint Presentation</vt:lpstr>
      <vt:lpstr>Using the Tool</vt:lpstr>
      <vt:lpstr>Patient Education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Bridging Tool</dc:title>
  <dc:creator>Margaret Arnold</dc:creator>
  <cp:lastModifiedBy>Lamborn, Reggie</cp:lastModifiedBy>
  <cp:revision>2</cp:revision>
  <dcterms:created xsi:type="dcterms:W3CDTF">2021-04-06T12:12:06Z</dcterms:created>
  <dcterms:modified xsi:type="dcterms:W3CDTF">2026-02-11T17:15:46Z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0x010100459723C9ECE7804CB27A86484A37D8AE</vt:lpwstr>
  </property>
</Properties>
</file>