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notesMasterIdLst>
    <p:notesMasterId r:id="rId20"/>
  </p:notesMasterIdLst>
  <p:sldIdLst>
    <p:sldId id="256" r:id="rId2"/>
    <p:sldId id="279" r:id="rId3"/>
    <p:sldId id="707" r:id="rId4"/>
    <p:sldId id="260" r:id="rId5"/>
    <p:sldId id="691" r:id="rId6"/>
    <p:sldId id="540" r:id="rId7"/>
    <p:sldId id="261" r:id="rId8"/>
    <p:sldId id="263" r:id="rId9"/>
    <p:sldId id="265" r:id="rId10"/>
    <p:sldId id="266" r:id="rId11"/>
    <p:sldId id="270" r:id="rId12"/>
    <p:sldId id="268" r:id="rId13"/>
    <p:sldId id="269" r:id="rId14"/>
    <p:sldId id="725" r:id="rId15"/>
    <p:sldId id="280" r:id="rId16"/>
    <p:sldId id="275" r:id="rId17"/>
    <p:sldId id="1399" r:id="rId18"/>
    <p:sldId id="721"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47E1A92-F0C9-4BD4-9E04-865231D96D0F}" v="12" dt="2026-10-06T17:51:55.3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1915" autoAdjust="0"/>
  </p:normalViewPr>
  <p:slideViewPr>
    <p:cSldViewPr snapToGrid="0">
      <p:cViewPr varScale="1">
        <p:scale>
          <a:sx n="45" d="100"/>
          <a:sy n="45" d="100"/>
        </p:scale>
        <p:origin x="1114" y="48"/>
      </p:cViewPr>
      <p:guideLst/>
    </p:cSldViewPr>
  </p:slideViewPr>
  <p:outlineViewPr>
    <p:cViewPr>
      <p:scale>
        <a:sx n="33" d="100"/>
        <a:sy n="33" d="100"/>
      </p:scale>
      <p:origin x="0" y="-1638"/>
    </p:cViewPr>
  </p:outlin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FC67367-7A1F-4CD6-A9F3-64FCDD773905}"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D09C7E84-5845-4CF0-AC24-F38653100C02}">
      <dgm:prSet/>
      <dgm:spPr/>
      <dgm:t>
        <a:bodyPr/>
        <a:lstStyle/>
        <a:p>
          <a:r>
            <a:rPr lang="en-US" dirty="0"/>
            <a:t>National Directive 1611 establishes Safe Patient Handling and Mobility as a Veterans Administration Priority. </a:t>
          </a:r>
        </a:p>
      </dgm:t>
    </dgm:pt>
    <dgm:pt modelId="{B9AE6782-7C6B-446B-BBF5-8107B7BB22D1}" type="parTrans" cxnId="{1A62776F-C65E-4F57-8294-C38E69CD5382}">
      <dgm:prSet/>
      <dgm:spPr/>
      <dgm:t>
        <a:bodyPr/>
        <a:lstStyle/>
        <a:p>
          <a:endParaRPr lang="en-US"/>
        </a:p>
      </dgm:t>
    </dgm:pt>
    <dgm:pt modelId="{CA6C71B0-D2FA-4AC9-9C45-5F9E5B037587}" type="sibTrans" cxnId="{1A62776F-C65E-4F57-8294-C38E69CD5382}">
      <dgm:prSet/>
      <dgm:spPr/>
      <dgm:t>
        <a:bodyPr/>
        <a:lstStyle/>
        <a:p>
          <a:endParaRPr lang="en-US"/>
        </a:p>
      </dgm:t>
    </dgm:pt>
    <dgm:pt modelId="{B0D7D1A7-531F-4FB6-BB30-6A79E0F8DD22}">
      <dgm:prSet/>
      <dgm:spPr/>
      <dgm:t>
        <a:bodyPr/>
        <a:lstStyle/>
        <a:p>
          <a:r>
            <a:rPr lang="en-US" dirty="0"/>
            <a:t>Medical Center Policy 118-21-013 establishes the Safe Patient Handling and Mobility policy for the VACCHS.  </a:t>
          </a:r>
        </a:p>
      </dgm:t>
    </dgm:pt>
    <dgm:pt modelId="{485971C6-6FEC-4910-8460-6F8968F8D583}" type="parTrans" cxnId="{E16FD0BE-96AB-4C0E-B927-450D92335E32}">
      <dgm:prSet/>
      <dgm:spPr/>
      <dgm:t>
        <a:bodyPr/>
        <a:lstStyle/>
        <a:p>
          <a:endParaRPr lang="en-US"/>
        </a:p>
      </dgm:t>
    </dgm:pt>
    <dgm:pt modelId="{9395CB89-2C12-4471-A740-9A5607E8CE4F}" type="sibTrans" cxnId="{E16FD0BE-96AB-4C0E-B927-450D92335E32}">
      <dgm:prSet/>
      <dgm:spPr/>
      <dgm:t>
        <a:bodyPr/>
        <a:lstStyle/>
        <a:p>
          <a:endParaRPr lang="en-US"/>
        </a:p>
      </dgm:t>
    </dgm:pt>
    <dgm:pt modelId="{E9AA8F48-E849-45CF-898F-9A52E8F758E5}" type="pres">
      <dgm:prSet presAssocID="{FFC67367-7A1F-4CD6-A9F3-64FCDD773905}" presName="linear" presStyleCnt="0">
        <dgm:presLayoutVars>
          <dgm:animLvl val="lvl"/>
          <dgm:resizeHandles val="exact"/>
        </dgm:presLayoutVars>
      </dgm:prSet>
      <dgm:spPr/>
    </dgm:pt>
    <dgm:pt modelId="{A6ADE141-7490-41FC-A013-4C833EC458F2}" type="pres">
      <dgm:prSet presAssocID="{D09C7E84-5845-4CF0-AC24-F38653100C02}" presName="parentText" presStyleLbl="node1" presStyleIdx="0" presStyleCnt="2">
        <dgm:presLayoutVars>
          <dgm:chMax val="0"/>
          <dgm:bulletEnabled val="1"/>
        </dgm:presLayoutVars>
      </dgm:prSet>
      <dgm:spPr/>
    </dgm:pt>
    <dgm:pt modelId="{0E5BBD26-82D1-4686-907A-FFB5EA3587DE}" type="pres">
      <dgm:prSet presAssocID="{CA6C71B0-D2FA-4AC9-9C45-5F9E5B037587}" presName="spacer" presStyleCnt="0"/>
      <dgm:spPr/>
    </dgm:pt>
    <dgm:pt modelId="{F49C8E45-B073-4116-BF91-88C3D7F6BA1D}" type="pres">
      <dgm:prSet presAssocID="{B0D7D1A7-531F-4FB6-BB30-6A79E0F8DD22}" presName="parentText" presStyleLbl="node1" presStyleIdx="1" presStyleCnt="2">
        <dgm:presLayoutVars>
          <dgm:chMax val="0"/>
          <dgm:bulletEnabled val="1"/>
        </dgm:presLayoutVars>
      </dgm:prSet>
      <dgm:spPr/>
    </dgm:pt>
  </dgm:ptLst>
  <dgm:cxnLst>
    <dgm:cxn modelId="{7BF47116-063C-409C-A876-CFA776819C57}" type="presOf" srcId="{B0D7D1A7-531F-4FB6-BB30-6A79E0F8DD22}" destId="{F49C8E45-B073-4116-BF91-88C3D7F6BA1D}" srcOrd="0" destOrd="0" presId="urn:microsoft.com/office/officeart/2005/8/layout/vList2"/>
    <dgm:cxn modelId="{1A62776F-C65E-4F57-8294-C38E69CD5382}" srcId="{FFC67367-7A1F-4CD6-A9F3-64FCDD773905}" destId="{D09C7E84-5845-4CF0-AC24-F38653100C02}" srcOrd="0" destOrd="0" parTransId="{B9AE6782-7C6B-446B-BBF5-8107B7BB22D1}" sibTransId="{CA6C71B0-D2FA-4AC9-9C45-5F9E5B037587}"/>
    <dgm:cxn modelId="{E16FD0BE-96AB-4C0E-B927-450D92335E32}" srcId="{FFC67367-7A1F-4CD6-A9F3-64FCDD773905}" destId="{B0D7D1A7-531F-4FB6-BB30-6A79E0F8DD22}" srcOrd="1" destOrd="0" parTransId="{485971C6-6FEC-4910-8460-6F8968F8D583}" sibTransId="{9395CB89-2C12-4471-A740-9A5607E8CE4F}"/>
    <dgm:cxn modelId="{3D9786D1-3BE0-4E4C-8B98-5A4CFC357734}" type="presOf" srcId="{D09C7E84-5845-4CF0-AC24-F38653100C02}" destId="{A6ADE141-7490-41FC-A013-4C833EC458F2}" srcOrd="0" destOrd="0" presId="urn:microsoft.com/office/officeart/2005/8/layout/vList2"/>
    <dgm:cxn modelId="{523DC5D8-969C-4490-9C1C-8EB35C6F82C3}" type="presOf" srcId="{FFC67367-7A1F-4CD6-A9F3-64FCDD773905}" destId="{E9AA8F48-E849-45CF-898F-9A52E8F758E5}" srcOrd="0" destOrd="0" presId="urn:microsoft.com/office/officeart/2005/8/layout/vList2"/>
    <dgm:cxn modelId="{5B72E3A6-9AA7-4DA4-919F-A79F58ACCA84}" type="presParOf" srcId="{E9AA8F48-E849-45CF-898F-9A52E8F758E5}" destId="{A6ADE141-7490-41FC-A013-4C833EC458F2}" srcOrd="0" destOrd="0" presId="urn:microsoft.com/office/officeart/2005/8/layout/vList2"/>
    <dgm:cxn modelId="{F93B89C7-503F-4975-AE74-25E3333B313E}" type="presParOf" srcId="{E9AA8F48-E849-45CF-898F-9A52E8F758E5}" destId="{0E5BBD26-82D1-4686-907A-FFB5EA3587DE}" srcOrd="1" destOrd="0" presId="urn:microsoft.com/office/officeart/2005/8/layout/vList2"/>
    <dgm:cxn modelId="{7A1F4368-589E-49D4-939C-4D6C1A91DF0C}" type="presParOf" srcId="{E9AA8F48-E849-45CF-898F-9A52E8F758E5}" destId="{F49C8E45-B073-4116-BF91-88C3D7F6BA1D}"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C361AED-AC7C-4402-8159-7172BBD3CD2E}" type="doc">
      <dgm:prSet loTypeId="urn:microsoft.com/office/officeart/2005/8/layout/default" loCatId="list" qsTypeId="urn:microsoft.com/office/officeart/2005/8/quickstyle/simple4" qsCatId="simple" csTypeId="urn:microsoft.com/office/officeart/2005/8/colors/accent1_2" csCatId="accent1"/>
      <dgm:spPr/>
      <dgm:t>
        <a:bodyPr/>
        <a:lstStyle/>
        <a:p>
          <a:endParaRPr lang="en-US"/>
        </a:p>
      </dgm:t>
    </dgm:pt>
    <dgm:pt modelId="{1A02532B-D5A3-4949-937B-EEF559614944}">
      <dgm:prSet/>
      <dgm:spPr/>
      <dgm:t>
        <a:bodyPr/>
        <a:lstStyle/>
        <a:p>
          <a:r>
            <a:rPr lang="en-US" dirty="0"/>
            <a:t>Use the Safe Patient Handling Equipment to</a:t>
          </a:r>
        </a:p>
      </dgm:t>
    </dgm:pt>
    <dgm:pt modelId="{92E988CE-CCB0-49B6-9B14-D17807C8D74D}" type="parTrans" cxnId="{25F7B655-867E-443C-94ED-93FFF2DAB87A}">
      <dgm:prSet/>
      <dgm:spPr/>
      <dgm:t>
        <a:bodyPr/>
        <a:lstStyle/>
        <a:p>
          <a:endParaRPr lang="en-US"/>
        </a:p>
      </dgm:t>
    </dgm:pt>
    <dgm:pt modelId="{2AE34FF4-67F1-4858-BFEB-2D82B07C6A00}" type="sibTrans" cxnId="{25F7B655-867E-443C-94ED-93FFF2DAB87A}">
      <dgm:prSet/>
      <dgm:spPr/>
      <dgm:t>
        <a:bodyPr/>
        <a:lstStyle/>
        <a:p>
          <a:endParaRPr lang="en-US"/>
        </a:p>
      </dgm:t>
    </dgm:pt>
    <dgm:pt modelId="{C6FE0798-1945-4187-813A-E2DDC30CA6BF}">
      <dgm:prSet/>
      <dgm:spPr/>
      <dgm:t>
        <a:bodyPr/>
        <a:lstStyle/>
        <a:p>
          <a:r>
            <a:rPr lang="en-US"/>
            <a:t>SAVE YOUR SPINE</a:t>
          </a:r>
        </a:p>
      </dgm:t>
    </dgm:pt>
    <dgm:pt modelId="{07F263CC-C1A6-485D-94AA-2CC35822CAA4}" type="parTrans" cxnId="{A3175D3C-88F8-42C2-B556-C5D00C21BADA}">
      <dgm:prSet/>
      <dgm:spPr/>
      <dgm:t>
        <a:bodyPr/>
        <a:lstStyle/>
        <a:p>
          <a:endParaRPr lang="en-US"/>
        </a:p>
      </dgm:t>
    </dgm:pt>
    <dgm:pt modelId="{0BF8E7A7-F600-486B-AB1E-C0C03D6E6353}" type="sibTrans" cxnId="{A3175D3C-88F8-42C2-B556-C5D00C21BADA}">
      <dgm:prSet/>
      <dgm:spPr/>
      <dgm:t>
        <a:bodyPr/>
        <a:lstStyle/>
        <a:p>
          <a:endParaRPr lang="en-US"/>
        </a:p>
      </dgm:t>
    </dgm:pt>
    <dgm:pt modelId="{E6D8FEDA-C002-482F-AFDB-61D4A18754BF}" type="pres">
      <dgm:prSet presAssocID="{3C361AED-AC7C-4402-8159-7172BBD3CD2E}" presName="diagram" presStyleCnt="0">
        <dgm:presLayoutVars>
          <dgm:dir/>
          <dgm:resizeHandles val="exact"/>
        </dgm:presLayoutVars>
      </dgm:prSet>
      <dgm:spPr/>
    </dgm:pt>
    <dgm:pt modelId="{9D3D18DB-91AB-4481-9283-AE2AB29A4AEF}" type="pres">
      <dgm:prSet presAssocID="{1A02532B-D5A3-4949-937B-EEF559614944}" presName="node" presStyleLbl="node1" presStyleIdx="0" presStyleCnt="2">
        <dgm:presLayoutVars>
          <dgm:bulletEnabled val="1"/>
        </dgm:presLayoutVars>
      </dgm:prSet>
      <dgm:spPr/>
    </dgm:pt>
    <dgm:pt modelId="{56C3408E-3072-40F2-994B-F68B17797F4F}" type="pres">
      <dgm:prSet presAssocID="{2AE34FF4-67F1-4858-BFEB-2D82B07C6A00}" presName="sibTrans" presStyleCnt="0"/>
      <dgm:spPr/>
    </dgm:pt>
    <dgm:pt modelId="{EEB64F5C-E5C4-483D-B5CD-EE6AD7EF3973}" type="pres">
      <dgm:prSet presAssocID="{C6FE0798-1945-4187-813A-E2DDC30CA6BF}" presName="node" presStyleLbl="node1" presStyleIdx="1" presStyleCnt="2">
        <dgm:presLayoutVars>
          <dgm:bulletEnabled val="1"/>
        </dgm:presLayoutVars>
      </dgm:prSet>
      <dgm:spPr/>
    </dgm:pt>
  </dgm:ptLst>
  <dgm:cxnLst>
    <dgm:cxn modelId="{AA788E0F-B452-4BC7-9F09-FB74F515E727}" type="presOf" srcId="{C6FE0798-1945-4187-813A-E2DDC30CA6BF}" destId="{EEB64F5C-E5C4-483D-B5CD-EE6AD7EF3973}" srcOrd="0" destOrd="0" presId="urn:microsoft.com/office/officeart/2005/8/layout/default"/>
    <dgm:cxn modelId="{A3175D3C-88F8-42C2-B556-C5D00C21BADA}" srcId="{3C361AED-AC7C-4402-8159-7172BBD3CD2E}" destId="{C6FE0798-1945-4187-813A-E2DDC30CA6BF}" srcOrd="1" destOrd="0" parTransId="{07F263CC-C1A6-485D-94AA-2CC35822CAA4}" sibTransId="{0BF8E7A7-F600-486B-AB1E-C0C03D6E6353}"/>
    <dgm:cxn modelId="{17591047-053A-4183-9301-D024F3028969}" type="presOf" srcId="{1A02532B-D5A3-4949-937B-EEF559614944}" destId="{9D3D18DB-91AB-4481-9283-AE2AB29A4AEF}" srcOrd="0" destOrd="0" presId="urn:microsoft.com/office/officeart/2005/8/layout/default"/>
    <dgm:cxn modelId="{E1A96453-369D-4A60-BCB3-7C333046D3F1}" type="presOf" srcId="{3C361AED-AC7C-4402-8159-7172BBD3CD2E}" destId="{E6D8FEDA-C002-482F-AFDB-61D4A18754BF}" srcOrd="0" destOrd="0" presId="urn:microsoft.com/office/officeart/2005/8/layout/default"/>
    <dgm:cxn modelId="{25F7B655-867E-443C-94ED-93FFF2DAB87A}" srcId="{3C361AED-AC7C-4402-8159-7172BBD3CD2E}" destId="{1A02532B-D5A3-4949-937B-EEF559614944}" srcOrd="0" destOrd="0" parTransId="{92E988CE-CCB0-49B6-9B14-D17807C8D74D}" sibTransId="{2AE34FF4-67F1-4858-BFEB-2D82B07C6A00}"/>
    <dgm:cxn modelId="{D06A08A9-4CC7-4E92-8D32-9D2E1C298121}" type="presParOf" srcId="{E6D8FEDA-C002-482F-AFDB-61D4A18754BF}" destId="{9D3D18DB-91AB-4481-9283-AE2AB29A4AEF}" srcOrd="0" destOrd="0" presId="urn:microsoft.com/office/officeart/2005/8/layout/default"/>
    <dgm:cxn modelId="{737F11A1-B19A-4C5C-93E5-A35FE4E7C2A3}" type="presParOf" srcId="{E6D8FEDA-C002-482F-AFDB-61D4A18754BF}" destId="{56C3408E-3072-40F2-994B-F68B17797F4F}" srcOrd="1" destOrd="0" presId="urn:microsoft.com/office/officeart/2005/8/layout/default"/>
    <dgm:cxn modelId="{042D0879-370F-4802-A1E7-4DD2FBAF8929}" type="presParOf" srcId="{E6D8FEDA-C002-482F-AFDB-61D4A18754BF}" destId="{EEB64F5C-E5C4-483D-B5CD-EE6AD7EF3973}" srcOrd="2"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ADE141-7490-41FC-A013-4C833EC458F2}">
      <dsp:nvSpPr>
        <dsp:cNvPr id="0" name=""/>
        <dsp:cNvSpPr/>
      </dsp:nvSpPr>
      <dsp:spPr>
        <a:xfrm>
          <a:off x="0" y="366921"/>
          <a:ext cx="10900477" cy="1392299"/>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kern="1200" dirty="0"/>
            <a:t>National Directive 1611 establishes Safe Patient Handling and Mobility as a Veterans Administration Priority. </a:t>
          </a:r>
        </a:p>
      </dsp:txBody>
      <dsp:txXfrm>
        <a:off x="67966" y="434887"/>
        <a:ext cx="10764545" cy="1256367"/>
      </dsp:txXfrm>
    </dsp:sp>
    <dsp:sp modelId="{F49C8E45-B073-4116-BF91-88C3D7F6BA1D}">
      <dsp:nvSpPr>
        <dsp:cNvPr id="0" name=""/>
        <dsp:cNvSpPr/>
      </dsp:nvSpPr>
      <dsp:spPr>
        <a:xfrm>
          <a:off x="0" y="1860021"/>
          <a:ext cx="10900477" cy="1392299"/>
        </a:xfrm>
        <a:prstGeom prst="roundRect">
          <a:avLst/>
        </a:prstGeom>
        <a:solidFill>
          <a:schemeClr val="accent2">
            <a:hueOff val="-1331824"/>
            <a:satOff val="-586"/>
            <a:lumOff val="1569"/>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kern="1200" dirty="0"/>
            <a:t>Medical Center Policy 118-21-013 establishes the Safe Patient Handling and Mobility policy for the VACCHS.  </a:t>
          </a:r>
        </a:p>
      </dsp:txBody>
      <dsp:txXfrm>
        <a:off x="67966" y="1927987"/>
        <a:ext cx="10764545" cy="125636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3D18DB-91AB-4481-9283-AE2AB29A4AEF}">
      <dsp:nvSpPr>
        <dsp:cNvPr id="0" name=""/>
        <dsp:cNvSpPr/>
      </dsp:nvSpPr>
      <dsp:spPr>
        <a:xfrm>
          <a:off x="540413" y="424"/>
          <a:ext cx="4492749" cy="2695649"/>
        </a:xfrm>
        <a:prstGeom prst="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82880" tIns="182880" rIns="182880" bIns="182880" numCol="1" spcCol="1270" anchor="ctr" anchorCtr="0">
          <a:noAutofit/>
        </a:bodyPr>
        <a:lstStyle/>
        <a:p>
          <a:pPr marL="0" lvl="0" indent="0" algn="ctr" defTabSz="2133600">
            <a:lnSpc>
              <a:spcPct val="90000"/>
            </a:lnSpc>
            <a:spcBef>
              <a:spcPct val="0"/>
            </a:spcBef>
            <a:spcAft>
              <a:spcPct val="35000"/>
            </a:spcAft>
            <a:buNone/>
          </a:pPr>
          <a:r>
            <a:rPr lang="en-US" sz="4800" kern="1200" dirty="0"/>
            <a:t>Use the Safe Patient Handling Equipment to</a:t>
          </a:r>
        </a:p>
      </dsp:txBody>
      <dsp:txXfrm>
        <a:off x="540413" y="424"/>
        <a:ext cx="4492749" cy="2695649"/>
      </dsp:txXfrm>
    </dsp:sp>
    <dsp:sp modelId="{EEB64F5C-E5C4-483D-B5CD-EE6AD7EF3973}">
      <dsp:nvSpPr>
        <dsp:cNvPr id="0" name=""/>
        <dsp:cNvSpPr/>
      </dsp:nvSpPr>
      <dsp:spPr>
        <a:xfrm>
          <a:off x="5482437" y="424"/>
          <a:ext cx="4492749" cy="2695649"/>
        </a:xfrm>
        <a:prstGeom prst="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82880" tIns="182880" rIns="182880" bIns="182880" numCol="1" spcCol="1270" anchor="ctr" anchorCtr="0">
          <a:noAutofit/>
        </a:bodyPr>
        <a:lstStyle/>
        <a:p>
          <a:pPr marL="0" lvl="0" indent="0" algn="ctr" defTabSz="2133600">
            <a:lnSpc>
              <a:spcPct val="90000"/>
            </a:lnSpc>
            <a:spcBef>
              <a:spcPct val="0"/>
            </a:spcBef>
            <a:spcAft>
              <a:spcPct val="35000"/>
            </a:spcAft>
            <a:buNone/>
          </a:pPr>
          <a:r>
            <a:rPr lang="en-US" sz="4800" kern="1200"/>
            <a:t>SAVE YOUR SPINE</a:t>
          </a:r>
        </a:p>
      </dsp:txBody>
      <dsp:txXfrm>
        <a:off x="5482437" y="424"/>
        <a:ext cx="4492749" cy="2695649"/>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032035-DE9C-4B23-927B-B8BD507320C0}" type="datetimeFigureOut">
              <a:rPr lang="en-US" smtClean="0"/>
              <a:t>10/6/2026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FE55AC-C721-4ADC-AB93-0D667CB886F2}" type="slidenum">
              <a:rPr lang="en-US" smtClean="0"/>
              <a:t>‹#›</a:t>
            </a:fld>
            <a:endParaRPr lang="en-US"/>
          </a:p>
        </p:txBody>
      </p:sp>
    </p:spTree>
    <p:extLst>
      <p:ext uri="{BB962C8B-B14F-4D97-AF65-F5344CB8AC3E}">
        <p14:creationId xmlns:p14="http://schemas.microsoft.com/office/powerpoint/2010/main" val="526994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2FE55AC-C721-4ADC-AB93-0D667CB886F2}" type="slidenum">
              <a:rPr lang="en-US" smtClean="0"/>
              <a:t>1</a:t>
            </a:fld>
            <a:endParaRPr lang="en-US"/>
          </a:p>
        </p:txBody>
      </p:sp>
    </p:spTree>
    <p:extLst>
      <p:ext uri="{BB962C8B-B14F-4D97-AF65-F5344CB8AC3E}">
        <p14:creationId xmlns:p14="http://schemas.microsoft.com/office/powerpoint/2010/main" val="42012314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PLAY ANA video!</a:t>
            </a:r>
          </a:p>
        </p:txBody>
      </p:sp>
      <p:sp>
        <p:nvSpPr>
          <p:cNvPr id="4" name="Slide Number Placeholder 3"/>
          <p:cNvSpPr>
            <a:spLocks noGrp="1"/>
          </p:cNvSpPr>
          <p:nvPr>
            <p:ph type="sldNum" sz="quarter" idx="5"/>
          </p:nvPr>
        </p:nvSpPr>
        <p:spPr/>
        <p:txBody>
          <a:bodyPr/>
          <a:lstStyle/>
          <a:p>
            <a:fld id="{92FE55AC-C721-4ADC-AB93-0D667CB886F2}" type="slidenum">
              <a:rPr lang="en-US" smtClean="0"/>
              <a:t>2</a:t>
            </a:fld>
            <a:endParaRPr lang="en-US"/>
          </a:p>
        </p:txBody>
      </p:sp>
    </p:spTree>
    <p:extLst>
      <p:ext uri="{BB962C8B-B14F-4D97-AF65-F5344CB8AC3E}">
        <p14:creationId xmlns:p14="http://schemas.microsoft.com/office/powerpoint/2010/main" val="20850372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Healthcare workers are at a very high-risk level for injury and, according to OSHA, manual handling of patients is the primary driver.  </a:t>
            </a:r>
          </a:p>
          <a:p>
            <a:r>
              <a:rPr lang="en-US" dirty="0"/>
              <a:t>In 2017, nursing assistants were second only to laborers and freight, stock and material movers in the number of musculoskeletal cases. </a:t>
            </a:r>
          </a:p>
          <a:p>
            <a:endParaRPr lang="en-US" dirty="0"/>
          </a:p>
        </p:txBody>
      </p:sp>
      <p:sp>
        <p:nvSpPr>
          <p:cNvPr id="4" name="Slide Number Placeholder 3"/>
          <p:cNvSpPr>
            <a:spLocks noGrp="1"/>
          </p:cNvSpPr>
          <p:nvPr>
            <p:ph type="sldNum" sz="quarter" idx="5"/>
          </p:nvPr>
        </p:nvSpPr>
        <p:spPr/>
        <p:txBody>
          <a:bodyPr/>
          <a:lstStyle/>
          <a:p>
            <a:fld id="{92FE55AC-C721-4ADC-AB93-0D667CB886F2}" type="slidenum">
              <a:rPr lang="en-US" smtClean="0"/>
              <a:t>4</a:t>
            </a:fld>
            <a:endParaRPr lang="en-US"/>
          </a:p>
        </p:txBody>
      </p:sp>
    </p:spTree>
    <p:extLst>
      <p:ext uri="{BB962C8B-B14F-4D97-AF65-F5344CB8AC3E}">
        <p14:creationId xmlns:p14="http://schemas.microsoft.com/office/powerpoint/2010/main" val="23929744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a:t>
            </a:r>
          </a:p>
          <a:p>
            <a:r>
              <a:rPr lang="en-US" dirty="0"/>
              <a:t>Most facilities did not plan for larger patients.  </a:t>
            </a:r>
          </a:p>
          <a:p>
            <a:r>
              <a:rPr lang="en-US" dirty="0"/>
              <a:t>They present unique challenges</a:t>
            </a:r>
          </a:p>
          <a:p>
            <a:r>
              <a:rPr lang="en-US" dirty="0"/>
              <a:t>Lifting and repositioning</a:t>
            </a:r>
          </a:p>
          <a:p>
            <a:r>
              <a:rPr lang="en-US" dirty="0"/>
              <a:t>Less space to work</a:t>
            </a:r>
          </a:p>
          <a:p>
            <a:r>
              <a:rPr lang="en-US" dirty="0"/>
              <a:t>Old methods require too much force</a:t>
            </a:r>
          </a:p>
          <a:p>
            <a:endParaRPr lang="en-US" dirty="0"/>
          </a:p>
        </p:txBody>
      </p:sp>
      <p:sp>
        <p:nvSpPr>
          <p:cNvPr id="4" name="Slide Number Placeholder 3"/>
          <p:cNvSpPr>
            <a:spLocks noGrp="1"/>
          </p:cNvSpPr>
          <p:nvPr>
            <p:ph type="sldNum" sz="quarter" idx="5"/>
          </p:nvPr>
        </p:nvSpPr>
        <p:spPr/>
        <p:txBody>
          <a:bodyPr/>
          <a:lstStyle/>
          <a:p>
            <a:fld id="{92FE55AC-C721-4ADC-AB93-0D667CB886F2}" type="slidenum">
              <a:rPr lang="en-US" smtClean="0"/>
              <a:t>6</a:t>
            </a:fld>
            <a:endParaRPr lang="en-US"/>
          </a:p>
        </p:txBody>
      </p:sp>
    </p:spTree>
    <p:extLst>
      <p:ext uri="{BB962C8B-B14F-4D97-AF65-F5344CB8AC3E}">
        <p14:creationId xmlns:p14="http://schemas.microsoft.com/office/powerpoint/2010/main" val="2784238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https://www.fgiguidelines.org/wp-content/uploads/2019/10/FGI-Patient-Handling-and-Mobility-Assessments_191008.pdf#</a:t>
            </a:r>
          </a:p>
          <a:p>
            <a:endParaRPr lang="en-US" dirty="0"/>
          </a:p>
        </p:txBody>
      </p:sp>
      <p:sp>
        <p:nvSpPr>
          <p:cNvPr id="4" name="Slide Number Placeholder 3"/>
          <p:cNvSpPr>
            <a:spLocks noGrp="1"/>
          </p:cNvSpPr>
          <p:nvPr>
            <p:ph type="sldNum" sz="quarter" idx="5"/>
          </p:nvPr>
        </p:nvSpPr>
        <p:spPr/>
        <p:txBody>
          <a:bodyPr/>
          <a:lstStyle/>
          <a:p>
            <a:fld id="{92FE55AC-C721-4ADC-AB93-0D667CB886F2}" type="slidenum">
              <a:rPr lang="en-US" smtClean="0"/>
              <a:t>7</a:t>
            </a:fld>
            <a:endParaRPr lang="en-US"/>
          </a:p>
        </p:txBody>
      </p:sp>
    </p:spTree>
    <p:extLst>
      <p:ext uri="{BB962C8B-B14F-4D97-AF65-F5344CB8AC3E}">
        <p14:creationId xmlns:p14="http://schemas.microsoft.com/office/powerpoint/2010/main" val="32343305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https://www.news-medical.net/image.axd?picture=2019%2F10%2F%40shutterstock_405564442.jpg</a:t>
            </a:r>
          </a:p>
        </p:txBody>
      </p:sp>
      <p:sp>
        <p:nvSpPr>
          <p:cNvPr id="4" name="Slide Number Placeholder 3"/>
          <p:cNvSpPr>
            <a:spLocks noGrp="1"/>
          </p:cNvSpPr>
          <p:nvPr>
            <p:ph type="sldNum" sz="quarter" idx="5"/>
          </p:nvPr>
        </p:nvSpPr>
        <p:spPr/>
        <p:txBody>
          <a:bodyPr/>
          <a:lstStyle/>
          <a:p>
            <a:fld id="{92FE55AC-C721-4ADC-AB93-0D667CB886F2}" type="slidenum">
              <a:rPr lang="en-US" smtClean="0"/>
              <a:t>8</a:t>
            </a:fld>
            <a:endParaRPr lang="en-US"/>
          </a:p>
        </p:txBody>
      </p:sp>
    </p:spTree>
    <p:extLst>
      <p:ext uri="{BB962C8B-B14F-4D97-AF65-F5344CB8AC3E}">
        <p14:creationId xmlns:p14="http://schemas.microsoft.com/office/powerpoint/2010/main" val="28687105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https://www.iwu.edu/physical-plant/tailgate/no-month-handouts/back-safety.pdf</a:t>
            </a:r>
          </a:p>
          <a:p>
            <a:r>
              <a:rPr lang="en-US" dirty="0"/>
              <a:t>https://i.ytimg.com/vi/EsctLanQX8E/sddefault.jpg</a:t>
            </a:r>
          </a:p>
        </p:txBody>
      </p:sp>
      <p:sp>
        <p:nvSpPr>
          <p:cNvPr id="4" name="Slide Number Placeholder 3"/>
          <p:cNvSpPr>
            <a:spLocks noGrp="1"/>
          </p:cNvSpPr>
          <p:nvPr>
            <p:ph type="sldNum" sz="quarter" idx="5"/>
          </p:nvPr>
        </p:nvSpPr>
        <p:spPr/>
        <p:txBody>
          <a:bodyPr/>
          <a:lstStyle/>
          <a:p>
            <a:fld id="{92FE55AC-C721-4ADC-AB93-0D667CB886F2}" type="slidenum">
              <a:rPr lang="en-US" smtClean="0"/>
              <a:t>9</a:t>
            </a:fld>
            <a:endParaRPr lang="en-US"/>
          </a:p>
        </p:txBody>
      </p:sp>
    </p:spTree>
    <p:extLst>
      <p:ext uri="{BB962C8B-B14F-4D97-AF65-F5344CB8AC3E}">
        <p14:creationId xmlns:p14="http://schemas.microsoft.com/office/powerpoint/2010/main" val="1229839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FE55AC-C721-4ADC-AB93-0D667CB886F2}" type="slidenum">
              <a:rPr lang="en-US" smtClean="0"/>
              <a:t>11</a:t>
            </a:fld>
            <a:endParaRPr lang="en-US"/>
          </a:p>
        </p:txBody>
      </p:sp>
    </p:spTree>
    <p:extLst>
      <p:ext uri="{BB962C8B-B14F-4D97-AF65-F5344CB8AC3E}">
        <p14:creationId xmlns:p14="http://schemas.microsoft.com/office/powerpoint/2010/main" val="5352592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6368882-4540-432B-81AD-1F8F9297227E}"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6FBC146-5F55-4E6B-AA39-B8F591089CE5}"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45378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368882-4540-432B-81AD-1F8F9297227E}"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6FBC146-5F55-4E6B-AA39-B8F591089CE5}" type="slidenum">
              <a:rPr lang="en-US" smtClean="0"/>
              <a:t>‹#›</a:t>
            </a:fld>
            <a:endParaRPr lang="en-US"/>
          </a:p>
        </p:txBody>
      </p:sp>
    </p:spTree>
    <p:extLst>
      <p:ext uri="{BB962C8B-B14F-4D97-AF65-F5344CB8AC3E}">
        <p14:creationId xmlns:p14="http://schemas.microsoft.com/office/powerpoint/2010/main" val="726029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6368882-4540-432B-81AD-1F8F9297227E}"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6FBC146-5F55-4E6B-AA39-B8F591089CE5}"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19318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6368882-4540-432B-81AD-1F8F9297227E}"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6FBC146-5F55-4E6B-AA39-B8F591089CE5}" type="slidenum">
              <a:rPr lang="en-US" smtClean="0"/>
              <a:t>‹#›</a:t>
            </a:fld>
            <a:endParaRPr lang="en-US"/>
          </a:p>
        </p:txBody>
      </p:sp>
    </p:spTree>
    <p:extLst>
      <p:ext uri="{BB962C8B-B14F-4D97-AF65-F5344CB8AC3E}">
        <p14:creationId xmlns:p14="http://schemas.microsoft.com/office/powerpoint/2010/main" val="11292696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6368882-4540-432B-81AD-1F8F9297227E}" type="datetimeFigureOut">
              <a:rPr lang="en-US" smtClean="0"/>
              <a:t>10/6/2026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6FBC146-5F55-4E6B-AA39-B8F591089CE5}" type="slidenum">
              <a:rPr lang="en-US" smtClean="0"/>
              <a:t>‹#›</a:t>
            </a:fld>
            <a:endParaRPr lang="en-US"/>
          </a:p>
        </p:txBody>
      </p:sp>
    </p:spTree>
    <p:extLst>
      <p:ext uri="{BB962C8B-B14F-4D97-AF65-F5344CB8AC3E}">
        <p14:creationId xmlns:p14="http://schemas.microsoft.com/office/powerpoint/2010/main" val="11032910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6368882-4540-432B-81AD-1F8F9297227E}" type="datetimeFigureOut">
              <a:rPr lang="en-US" smtClean="0"/>
              <a:t>10/6/2026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6FBC146-5F55-4E6B-AA39-B8F591089CE5}" type="slidenum">
              <a:rPr lang="en-US" smtClean="0"/>
              <a:t>‹#›</a:t>
            </a:fld>
            <a:endParaRPr lang="en-US"/>
          </a:p>
        </p:txBody>
      </p:sp>
    </p:spTree>
    <p:extLst>
      <p:ext uri="{BB962C8B-B14F-4D97-AF65-F5344CB8AC3E}">
        <p14:creationId xmlns:p14="http://schemas.microsoft.com/office/powerpoint/2010/main" val="2415655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36368882-4540-432B-81AD-1F8F9297227E}" type="datetimeFigureOut">
              <a:rPr lang="en-US" smtClean="0"/>
              <a:t>10/6/2026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76FBC146-5F55-4E6B-AA39-B8F591089CE5}" type="slidenum">
              <a:rPr lang="en-US" smtClean="0"/>
              <a:t>‹#›</a:t>
            </a:fld>
            <a:endParaRPr lang="en-US"/>
          </a:p>
        </p:txBody>
      </p:sp>
    </p:spTree>
    <p:extLst>
      <p:ext uri="{BB962C8B-B14F-4D97-AF65-F5344CB8AC3E}">
        <p14:creationId xmlns:p14="http://schemas.microsoft.com/office/powerpoint/2010/main" val="37309325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6368882-4540-432B-81AD-1F8F9297227E}" type="datetimeFigureOut">
              <a:rPr lang="en-US" smtClean="0"/>
              <a:t>10/6/2026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76FBC146-5F55-4E6B-AA39-B8F591089CE5}" type="slidenum">
              <a:rPr lang="en-US" smtClean="0"/>
              <a:t>‹#›</a:t>
            </a:fld>
            <a:endParaRPr lang="en-US"/>
          </a:p>
        </p:txBody>
      </p:sp>
    </p:spTree>
    <p:extLst>
      <p:ext uri="{BB962C8B-B14F-4D97-AF65-F5344CB8AC3E}">
        <p14:creationId xmlns:p14="http://schemas.microsoft.com/office/powerpoint/2010/main" val="177964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6368882-4540-432B-81AD-1F8F9297227E}"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6FBC146-5F55-4E6B-AA39-B8F591089CE5}" type="slidenum">
              <a:rPr lang="en-US" smtClean="0"/>
              <a:t>‹#›</a:t>
            </a:fld>
            <a:endParaRPr lang="en-US"/>
          </a:p>
        </p:txBody>
      </p:sp>
    </p:spTree>
    <p:extLst>
      <p:ext uri="{BB962C8B-B14F-4D97-AF65-F5344CB8AC3E}">
        <p14:creationId xmlns:p14="http://schemas.microsoft.com/office/powerpoint/2010/main" val="1359589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368882-4540-432B-81AD-1F8F9297227E}"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6FBC146-5F55-4E6B-AA39-B8F591089CE5}" type="slidenum">
              <a:rPr lang="en-US" smtClean="0"/>
              <a:t>‹#›</a:t>
            </a:fld>
            <a:endParaRPr lang="en-US"/>
          </a:p>
        </p:txBody>
      </p:sp>
    </p:spTree>
    <p:extLst>
      <p:ext uri="{BB962C8B-B14F-4D97-AF65-F5344CB8AC3E}">
        <p14:creationId xmlns:p14="http://schemas.microsoft.com/office/powerpoint/2010/main" val="40139599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368882-4540-432B-81AD-1F8F9297227E}"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6FBC146-5F55-4E6B-AA39-B8F591089CE5}" type="slidenum">
              <a:rPr lang="en-US" smtClean="0"/>
              <a:t>‹#›</a:t>
            </a:fld>
            <a:endParaRPr lang="en-US"/>
          </a:p>
        </p:txBody>
      </p:sp>
    </p:spTree>
    <p:extLst>
      <p:ext uri="{BB962C8B-B14F-4D97-AF65-F5344CB8AC3E}">
        <p14:creationId xmlns:p14="http://schemas.microsoft.com/office/powerpoint/2010/main" val="13228958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36368882-4540-432B-81AD-1F8F9297227E}" type="datetimeFigureOut">
              <a:rPr lang="en-US" smtClean="0"/>
              <a:t>10/6/2026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76FBC146-5F55-4E6B-AA39-B8F591089CE5}"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58072501"/>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9.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3" name="Rectangle 52">
            <a:extLst>
              <a:ext uri="{FF2B5EF4-FFF2-40B4-BE49-F238E27FC236}">
                <a16:creationId xmlns:a16="http://schemas.microsoft.com/office/drawing/2014/main" id="{416A0E3C-60E6-4F39-BC55-5F7C224E1F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55" name="Rectangle 54">
            <a:extLst>
              <a:ext uri="{FF2B5EF4-FFF2-40B4-BE49-F238E27FC236}">
                <a16:creationId xmlns:a16="http://schemas.microsoft.com/office/drawing/2014/main" id="{1A03258A-52C6-4288-AA56-C3262A0D25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57" name="Straight Connector 56">
            <a:extLst>
              <a:ext uri="{FF2B5EF4-FFF2-40B4-BE49-F238E27FC236}">
                <a16:creationId xmlns:a16="http://schemas.microsoft.com/office/drawing/2014/main" id="{C5025DAC-8B93-4160-B017-3A274A5828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D440612-D438-4736-88A8-361AFDC3171C}"/>
              </a:ext>
            </a:extLst>
          </p:cNvPr>
          <p:cNvSpPr>
            <a:spLocks noGrp="1"/>
          </p:cNvSpPr>
          <p:nvPr>
            <p:ph type="ctrTitle"/>
          </p:nvPr>
        </p:nvSpPr>
        <p:spPr>
          <a:xfrm>
            <a:off x="1097280" y="286603"/>
            <a:ext cx="10058400" cy="1450757"/>
          </a:xfrm>
        </p:spPr>
        <p:txBody>
          <a:bodyPr vert="horz" lIns="91440" tIns="45720" rIns="91440" bIns="45720" rtlCol="0" anchor="b">
            <a:normAutofit/>
          </a:bodyPr>
          <a:lstStyle/>
          <a:p>
            <a:r>
              <a:rPr lang="en-US" sz="4800" b="1" dirty="0">
                <a:solidFill>
                  <a:schemeClr val="tx1">
                    <a:lumMod val="75000"/>
                    <a:lumOff val="25000"/>
                  </a:schemeClr>
                </a:solidFill>
              </a:rPr>
              <a:t>SPHM</a:t>
            </a:r>
            <a:r>
              <a:rPr lang="en-US" sz="4800" dirty="0">
                <a:solidFill>
                  <a:schemeClr val="tx1">
                    <a:lumMod val="75000"/>
                    <a:lumOff val="25000"/>
                  </a:schemeClr>
                </a:solidFill>
              </a:rPr>
              <a:t> (Safe Patient Handling &amp; Mobility)</a:t>
            </a:r>
          </a:p>
        </p:txBody>
      </p:sp>
      <p:sp>
        <p:nvSpPr>
          <p:cNvPr id="3" name="Subtitle 2">
            <a:extLst>
              <a:ext uri="{FF2B5EF4-FFF2-40B4-BE49-F238E27FC236}">
                <a16:creationId xmlns:a16="http://schemas.microsoft.com/office/drawing/2014/main" id="{9FF6285F-83D6-4871-8793-5BE53BF91E05}"/>
              </a:ext>
            </a:extLst>
          </p:cNvPr>
          <p:cNvSpPr>
            <a:spLocks noGrp="1"/>
          </p:cNvSpPr>
          <p:nvPr>
            <p:ph type="subTitle" idx="1"/>
          </p:nvPr>
        </p:nvSpPr>
        <p:spPr>
          <a:xfrm>
            <a:off x="1036321" y="1837463"/>
            <a:ext cx="7267717" cy="4023360"/>
          </a:xfrm>
        </p:spPr>
        <p:txBody>
          <a:bodyPr vert="horz" lIns="0" tIns="45720" rIns="0" bIns="45720" rtlCol="0">
            <a:normAutofit fontScale="92500" lnSpcReduction="10000"/>
          </a:bodyPr>
          <a:lstStyle/>
          <a:p>
            <a:r>
              <a:rPr lang="en-US" sz="2000" dirty="0">
                <a:solidFill>
                  <a:schemeClr val="tx1">
                    <a:lumMod val="75000"/>
                    <a:lumOff val="25000"/>
                  </a:schemeClr>
                </a:solidFill>
                <a:latin typeface="+mn-lt"/>
              </a:rPr>
              <a:t>Directive, concepts &amp; policies</a:t>
            </a:r>
          </a:p>
          <a:p>
            <a:endParaRPr lang="en-US" sz="2000" dirty="0">
              <a:solidFill>
                <a:schemeClr val="tx1">
                  <a:lumMod val="75000"/>
                  <a:lumOff val="25000"/>
                </a:schemeClr>
              </a:solidFill>
              <a:latin typeface="+mn-lt"/>
            </a:endParaRPr>
          </a:p>
          <a:p>
            <a:endParaRPr lang="en-US" sz="2000" dirty="0">
              <a:solidFill>
                <a:schemeClr val="tx1">
                  <a:lumMod val="75000"/>
                  <a:lumOff val="25000"/>
                </a:schemeClr>
              </a:solidFill>
              <a:latin typeface="+mn-lt"/>
            </a:endParaRPr>
          </a:p>
          <a:p>
            <a:endParaRPr lang="en-US" sz="2000" dirty="0">
              <a:solidFill>
                <a:schemeClr val="tx1">
                  <a:lumMod val="75000"/>
                  <a:lumOff val="25000"/>
                </a:schemeClr>
              </a:solidFill>
              <a:latin typeface="+mn-lt"/>
            </a:endParaRPr>
          </a:p>
          <a:p>
            <a:endParaRPr lang="en-US" sz="2000" dirty="0">
              <a:solidFill>
                <a:schemeClr val="tx1">
                  <a:lumMod val="75000"/>
                  <a:lumOff val="25000"/>
                </a:schemeClr>
              </a:solidFill>
              <a:latin typeface="+mn-lt"/>
            </a:endParaRPr>
          </a:p>
          <a:p>
            <a:endParaRPr lang="en-US" sz="2000" dirty="0">
              <a:solidFill>
                <a:schemeClr val="tx1">
                  <a:lumMod val="75000"/>
                  <a:lumOff val="25000"/>
                </a:schemeClr>
              </a:solidFill>
              <a:latin typeface="+mn-lt"/>
            </a:endParaRPr>
          </a:p>
          <a:p>
            <a:r>
              <a:rPr lang="en-US" sz="1200" b="1" dirty="0">
                <a:solidFill>
                  <a:schemeClr val="tx1">
                    <a:lumMod val="75000"/>
                    <a:lumOff val="25000"/>
                  </a:schemeClr>
                </a:solidFill>
                <a:latin typeface="+mn-lt"/>
              </a:rPr>
              <a:t>Presented by</a:t>
            </a:r>
            <a:r>
              <a:rPr lang="en-US" sz="2000" b="1" dirty="0">
                <a:solidFill>
                  <a:schemeClr val="tx1">
                    <a:lumMod val="75000"/>
                    <a:lumOff val="25000"/>
                  </a:schemeClr>
                </a:solidFill>
                <a:latin typeface="+mn-lt"/>
              </a:rPr>
              <a:t>: 	Reggie Diaz Lamborn BSN, RN, CSPHA</a:t>
            </a:r>
          </a:p>
          <a:p>
            <a:r>
              <a:rPr lang="en-US" sz="2000" dirty="0">
                <a:solidFill>
                  <a:schemeClr val="tx1">
                    <a:lumMod val="75000"/>
                    <a:lumOff val="25000"/>
                  </a:schemeClr>
                </a:solidFill>
                <a:latin typeface="+mn-lt"/>
              </a:rPr>
              <a:t>		SPHM program manager</a:t>
            </a:r>
          </a:p>
          <a:p>
            <a:r>
              <a:rPr lang="en-US" sz="2000" dirty="0">
                <a:solidFill>
                  <a:schemeClr val="tx1">
                    <a:lumMod val="75000"/>
                    <a:lumOff val="25000"/>
                  </a:schemeClr>
                </a:solidFill>
                <a:latin typeface="+mn-lt"/>
              </a:rPr>
              <a:t>		</a:t>
            </a:r>
            <a:r>
              <a:rPr lang="en-US" sz="1600" dirty="0">
                <a:solidFill>
                  <a:schemeClr val="tx1">
                    <a:lumMod val="75000"/>
                    <a:lumOff val="25000"/>
                  </a:schemeClr>
                </a:solidFill>
                <a:latin typeface="+mn-lt"/>
              </a:rPr>
              <a:t>Va central California health care SYSTEM</a:t>
            </a:r>
          </a:p>
          <a:p>
            <a:r>
              <a:rPr lang="en-US" sz="1600" dirty="0">
                <a:solidFill>
                  <a:schemeClr val="tx1">
                    <a:lumMod val="75000"/>
                    <a:lumOff val="25000"/>
                  </a:schemeClr>
                </a:solidFill>
                <a:latin typeface="+mn-lt"/>
              </a:rPr>
              <a:t>		</a:t>
            </a:r>
          </a:p>
        </p:txBody>
      </p:sp>
      <p:pic>
        <p:nvPicPr>
          <p:cNvPr id="4" name="Picture 3">
            <a:extLst>
              <a:ext uri="{FF2B5EF4-FFF2-40B4-BE49-F238E27FC236}">
                <a16:creationId xmlns:a16="http://schemas.microsoft.com/office/drawing/2014/main" id="{DA23F1BF-4390-4B5C-A9A3-6912B88D76BE}"/>
              </a:ext>
            </a:extLst>
          </p:cNvPr>
          <p:cNvPicPr>
            <a:picLocks noChangeAspect="1"/>
          </p:cNvPicPr>
          <p:nvPr/>
        </p:nvPicPr>
        <p:blipFill rotWithShape="1">
          <a:blip r:embed="rId3"/>
          <a:srcRect l="7656" r="9927" b="4"/>
          <a:stretch/>
        </p:blipFill>
        <p:spPr>
          <a:xfrm>
            <a:off x="8020570" y="1916318"/>
            <a:ext cx="3135109" cy="3471012"/>
          </a:xfrm>
          <a:prstGeom prst="rect">
            <a:avLst/>
          </a:prstGeom>
        </p:spPr>
      </p:pic>
    </p:spTree>
    <p:extLst>
      <p:ext uri="{BB962C8B-B14F-4D97-AF65-F5344CB8AC3E}">
        <p14:creationId xmlns:p14="http://schemas.microsoft.com/office/powerpoint/2010/main" val="1510374389"/>
      </p:ext>
    </p:extLst>
  </p:cSld>
  <p:clrMapOvr>
    <a:masterClrMapping/>
  </p:clrMapOvr>
  <mc:AlternateContent xmlns:mc="http://schemas.openxmlformats.org/markup-compatibility/2006" xmlns:p14="http://schemas.microsoft.com/office/powerpoint/2010/main">
    <mc:Choice Requires="p14">
      <p:transition spd="slow" p14:dur="2000" advTm="10356"/>
    </mc:Choice>
    <mc:Fallback xmlns="">
      <p:transition spd="slow" advTm="10356"/>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17">
            <a:extLst>
              <a:ext uri="{FF2B5EF4-FFF2-40B4-BE49-F238E27FC236}">
                <a16:creationId xmlns:a16="http://schemas.microsoft.com/office/drawing/2014/main" id="{2B6C9846-B5AB-4E52-988D-F7E5865C9E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19">
            <a:extLst>
              <a:ext uri="{FF2B5EF4-FFF2-40B4-BE49-F238E27FC236}">
                <a16:creationId xmlns:a16="http://schemas.microsoft.com/office/drawing/2014/main" id="{6F3D7E8E-8467-4198-87E0-ADC1B60467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6" name="Rectangle 21">
            <a:extLst>
              <a:ext uri="{FF2B5EF4-FFF2-40B4-BE49-F238E27FC236}">
                <a16:creationId xmlns:a16="http://schemas.microsoft.com/office/drawing/2014/main" id="{399F85BF-36D0-4946-AAE8-69B89D44E6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4906176"/>
            <a:ext cx="12188952"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20D21248-8CF3-5286-7DDD-EE68B5FE1A91}"/>
              </a:ext>
            </a:extLst>
          </p:cNvPr>
          <p:cNvGraphicFramePr>
            <a:graphicFrameLocks noGrp="1"/>
          </p:cNvGraphicFramePr>
          <p:nvPr>
            <p:ph idx="1"/>
            <p:extLst>
              <p:ext uri="{D42A27DB-BD31-4B8C-83A1-F6EECF244321}">
                <p14:modId xmlns:p14="http://schemas.microsoft.com/office/powerpoint/2010/main" val="3960987019"/>
              </p:ext>
            </p:extLst>
          </p:nvPr>
        </p:nvGraphicFramePr>
        <p:xfrm>
          <a:off x="643466" y="643467"/>
          <a:ext cx="10900477" cy="361924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a:extLst>
              <a:ext uri="{FF2B5EF4-FFF2-40B4-BE49-F238E27FC236}">
                <a16:creationId xmlns:a16="http://schemas.microsoft.com/office/drawing/2014/main" id="{4E092A18-BA96-4444-9034-BBFF6D905602}"/>
              </a:ext>
            </a:extLst>
          </p:cNvPr>
          <p:cNvSpPr txBox="1"/>
          <p:nvPr/>
        </p:nvSpPr>
        <p:spPr>
          <a:xfrm>
            <a:off x="643466" y="5143761"/>
            <a:ext cx="10843491" cy="584775"/>
          </a:xfrm>
          <a:prstGeom prst="rect">
            <a:avLst/>
          </a:prstGeom>
          <a:noFill/>
        </p:spPr>
        <p:txBody>
          <a:bodyPr wrap="square" rtlCol="0">
            <a:spAutoFit/>
          </a:bodyPr>
          <a:lstStyle/>
          <a:p>
            <a:r>
              <a:rPr lang="en-US" sz="3200" dirty="0"/>
              <a:t>Safe Patient Handling and Mobility is of nationwide importance.  </a:t>
            </a:r>
          </a:p>
        </p:txBody>
      </p:sp>
    </p:spTree>
    <p:extLst>
      <p:ext uri="{BB962C8B-B14F-4D97-AF65-F5344CB8AC3E}">
        <p14:creationId xmlns:p14="http://schemas.microsoft.com/office/powerpoint/2010/main" val="3255928944"/>
      </p:ext>
    </p:extLst>
  </p:cSld>
  <p:clrMapOvr>
    <a:masterClrMapping/>
  </p:clrMapOvr>
  <mc:AlternateContent xmlns:mc="http://schemas.openxmlformats.org/markup-compatibility/2006" xmlns:p14="http://schemas.microsoft.com/office/powerpoint/2010/main">
    <mc:Choice Requires="p14">
      <p:transition spd="slow" p14:dur="2000" advTm="29616"/>
    </mc:Choice>
    <mc:Fallback xmlns="">
      <p:transition spd="slow" advTm="29616"/>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1CCA7-43A7-48FA-AE0F-57A7D3D5DE2A}"/>
              </a:ext>
            </a:extLst>
          </p:cNvPr>
          <p:cNvSpPr>
            <a:spLocks noGrp="1"/>
          </p:cNvSpPr>
          <p:nvPr>
            <p:ph type="title"/>
          </p:nvPr>
        </p:nvSpPr>
        <p:spPr>
          <a:xfrm>
            <a:off x="1853185" y="1501902"/>
            <a:ext cx="3624602" cy="932688"/>
          </a:xfrm>
        </p:spPr>
        <p:txBody>
          <a:bodyPr vert="horz" lIns="68580" tIns="34290" rIns="68580" bIns="34290" rtlCol="0" anchor="ctr">
            <a:normAutofit/>
          </a:bodyPr>
          <a:lstStyle/>
          <a:p>
            <a:r>
              <a:rPr lang="en-US" sz="2550">
                <a:solidFill>
                  <a:schemeClr val="tx1"/>
                </a:solidFill>
              </a:rPr>
              <a:t>VHA Directive</a:t>
            </a:r>
          </a:p>
        </p:txBody>
      </p:sp>
      <p:pic>
        <p:nvPicPr>
          <p:cNvPr id="8" name="Picture 7">
            <a:extLst>
              <a:ext uri="{FF2B5EF4-FFF2-40B4-BE49-F238E27FC236}">
                <a16:creationId xmlns:a16="http://schemas.microsoft.com/office/drawing/2014/main" id="{2DFA1D40-EAB1-C8BC-1AA1-5FB30DF095A3}"/>
              </a:ext>
            </a:extLst>
          </p:cNvPr>
          <p:cNvPicPr>
            <a:picLocks noChangeAspect="1"/>
          </p:cNvPicPr>
          <p:nvPr/>
        </p:nvPicPr>
        <p:blipFill>
          <a:blip r:embed="rId2"/>
          <a:stretch>
            <a:fillRect/>
          </a:stretch>
        </p:blipFill>
        <p:spPr>
          <a:xfrm>
            <a:off x="549617" y="2434590"/>
            <a:ext cx="5738467" cy="1460754"/>
          </a:xfrm>
          <a:prstGeom prst="rect">
            <a:avLst/>
          </a:prstGeom>
        </p:spPr>
      </p:pic>
      <p:sp>
        <p:nvSpPr>
          <p:cNvPr id="14" name="TextBox 13">
            <a:extLst>
              <a:ext uri="{FF2B5EF4-FFF2-40B4-BE49-F238E27FC236}">
                <a16:creationId xmlns:a16="http://schemas.microsoft.com/office/drawing/2014/main" id="{70C54F40-AB74-C794-389C-C0ECA4E4B20E}"/>
              </a:ext>
            </a:extLst>
          </p:cNvPr>
          <p:cNvSpPr txBox="1"/>
          <p:nvPr/>
        </p:nvSpPr>
        <p:spPr>
          <a:xfrm>
            <a:off x="6557715" y="2220957"/>
            <a:ext cx="4968536" cy="2862322"/>
          </a:xfrm>
          <a:prstGeom prst="rect">
            <a:avLst/>
          </a:prstGeom>
          <a:noFill/>
        </p:spPr>
        <p:txBody>
          <a:bodyPr wrap="square">
            <a:spAutoFit/>
          </a:bodyPr>
          <a:lstStyle/>
          <a:p>
            <a:r>
              <a:rPr lang="en-US" sz="1200" dirty="0"/>
              <a:t>1. POLICY</a:t>
            </a:r>
          </a:p>
          <a:p>
            <a:r>
              <a:rPr lang="en-US" sz="1200" dirty="0"/>
              <a:t>It is Veterans Health Administration (VHA) policy that a Safe Patient Handling and Mobility (SPHM) program be implemented in every Department of Veterans Affairs (VA) medical facility and that SPHM technology be incorporated as appropriate in the planning, design and construction of new construction and renovation projects, to protect VHA health care workers and Veterans from injuries due to patient handling and mobility, ensure that all Veterans have equitable opportunity to access SPHM technology, as needed, and to meet and improve Veteran care needs. </a:t>
            </a:r>
            <a:r>
              <a:rPr lang="en-US" sz="1200" dirty="0">
                <a:highlight>
                  <a:srgbClr val="FFFF00"/>
                </a:highlight>
              </a:rPr>
              <a:t>Employees must utilize SPHM technology for routine and urgent patient handling tasks that require lifting </a:t>
            </a:r>
            <a:r>
              <a:rPr lang="en-US" sz="1200" u="sng" dirty="0">
                <a:highlight>
                  <a:srgbClr val="FFFF00"/>
                </a:highlight>
              </a:rPr>
              <a:t>over 35 pounds </a:t>
            </a:r>
            <a:r>
              <a:rPr lang="en-US" sz="1200" dirty="0">
                <a:highlight>
                  <a:srgbClr val="FFFF00"/>
                </a:highlight>
              </a:rPr>
              <a:t>of patient weight or when performing tasks that require the generation of excessive force, such as repositioning a Veteran in a bed by pushing, pulling or supporting a Veteran during mobility. </a:t>
            </a:r>
            <a:r>
              <a:rPr lang="en-US" sz="1200" dirty="0"/>
              <a:t>In addition, all design projects in spaces used by Veterans must include VA medical facility SPHM Program Manager (PM) input. </a:t>
            </a:r>
          </a:p>
        </p:txBody>
      </p:sp>
    </p:spTree>
    <p:extLst>
      <p:ext uri="{BB962C8B-B14F-4D97-AF65-F5344CB8AC3E}">
        <p14:creationId xmlns:p14="http://schemas.microsoft.com/office/powerpoint/2010/main" val="3414124358"/>
      </p:ext>
    </p:extLst>
  </p:cSld>
  <p:clrMapOvr>
    <a:masterClrMapping/>
  </p:clrMapOvr>
  <mc:AlternateContent xmlns:mc="http://schemas.openxmlformats.org/markup-compatibility/2006" xmlns:p14="http://schemas.microsoft.com/office/powerpoint/2010/main">
    <mc:Choice Requires="p14">
      <p:transition spd="slow" p14:dur="2000" advTm="34379"/>
    </mc:Choice>
    <mc:Fallback xmlns="">
      <p:transition spd="slow" advTm="34379"/>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609FA-4B2F-4EDB-A4A0-81E0A98606E9}"/>
              </a:ext>
            </a:extLst>
          </p:cNvPr>
          <p:cNvSpPr>
            <a:spLocks noGrp="1"/>
          </p:cNvSpPr>
          <p:nvPr>
            <p:ph type="title"/>
          </p:nvPr>
        </p:nvSpPr>
        <p:spPr/>
        <p:txBody>
          <a:bodyPr/>
          <a:lstStyle/>
          <a:p>
            <a:r>
              <a:rPr lang="en-US" dirty="0"/>
              <a:t>The Purpose of the SPHM program</a:t>
            </a:r>
          </a:p>
        </p:txBody>
      </p:sp>
      <p:sp>
        <p:nvSpPr>
          <p:cNvPr id="3" name="Content Placeholder 2">
            <a:extLst>
              <a:ext uri="{FF2B5EF4-FFF2-40B4-BE49-F238E27FC236}">
                <a16:creationId xmlns:a16="http://schemas.microsoft.com/office/drawing/2014/main" id="{3D6D6773-7E19-4983-8092-442B77AB7DC1}"/>
              </a:ext>
            </a:extLst>
          </p:cNvPr>
          <p:cNvSpPr>
            <a:spLocks noGrp="1"/>
          </p:cNvSpPr>
          <p:nvPr>
            <p:ph idx="1"/>
          </p:nvPr>
        </p:nvSpPr>
        <p:spPr/>
        <p:txBody>
          <a:bodyPr>
            <a:normAutofit/>
          </a:bodyPr>
          <a:lstStyle/>
          <a:p>
            <a:r>
              <a:rPr lang="en-US" sz="3200" dirty="0"/>
              <a:t>1. To reduce the risk of work-related injury as it relates to patient handling and mobility tasks.</a:t>
            </a:r>
          </a:p>
          <a:p>
            <a:endParaRPr lang="en-US" sz="3200" dirty="0"/>
          </a:p>
          <a:p>
            <a:r>
              <a:rPr lang="en-US" sz="3200" dirty="0"/>
              <a:t>2. To reduce the risk of patient injury as it relates to patient handling and mobility tasks.</a:t>
            </a:r>
          </a:p>
        </p:txBody>
      </p:sp>
    </p:spTree>
    <p:extLst>
      <p:ext uri="{BB962C8B-B14F-4D97-AF65-F5344CB8AC3E}">
        <p14:creationId xmlns:p14="http://schemas.microsoft.com/office/powerpoint/2010/main" val="887451782"/>
      </p:ext>
    </p:extLst>
  </p:cSld>
  <p:clrMapOvr>
    <a:masterClrMapping/>
  </p:clrMapOvr>
  <mc:AlternateContent xmlns:mc="http://schemas.openxmlformats.org/markup-compatibility/2006" xmlns:p14="http://schemas.microsoft.com/office/powerpoint/2010/main">
    <mc:Choice Requires="p14">
      <p:transition spd="slow" p14:dur="2000" advTm="48482"/>
    </mc:Choice>
    <mc:Fallback xmlns="">
      <p:transition spd="slow" advTm="48482"/>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16A0E3C-60E6-4F39-BC55-5F7C224E1F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1A03258A-52C6-4288-AA56-C3262A0D25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4" name="Straight Connector 13">
            <a:extLst>
              <a:ext uri="{FF2B5EF4-FFF2-40B4-BE49-F238E27FC236}">
                <a16:creationId xmlns:a16="http://schemas.microsoft.com/office/drawing/2014/main" id="{C5025DAC-8B93-4160-B017-3A274A5828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873ECEC8-0F24-45B8-950F-35FC94BCEA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9C2F4ED-2BD3-4976-BEC1-CF3569F6D5D2}"/>
              </a:ext>
            </a:extLst>
          </p:cNvPr>
          <p:cNvSpPr txBox="1"/>
          <p:nvPr/>
        </p:nvSpPr>
        <p:spPr>
          <a:xfrm>
            <a:off x="7859485" y="634946"/>
            <a:ext cx="3690257" cy="1450757"/>
          </a:xfrm>
          <a:prstGeom prst="rect">
            <a:avLst/>
          </a:prstGeom>
        </p:spPr>
        <p:txBody>
          <a:bodyPr vert="horz" lIns="91440" tIns="45720" rIns="91440" bIns="45720" rtlCol="0" anchor="b">
            <a:normAutofit/>
          </a:bodyPr>
          <a:lstStyle/>
          <a:p>
            <a:pPr defTabSz="914400">
              <a:lnSpc>
                <a:spcPct val="85000"/>
              </a:lnSpc>
              <a:spcBef>
                <a:spcPct val="0"/>
              </a:spcBef>
              <a:spcAft>
                <a:spcPts val="600"/>
              </a:spcAft>
            </a:pPr>
            <a:r>
              <a:rPr lang="en-US" sz="3400" spc="-50" dirty="0">
                <a:solidFill>
                  <a:schemeClr val="tx1">
                    <a:lumMod val="75000"/>
                    <a:lumOff val="25000"/>
                  </a:schemeClr>
                </a:solidFill>
                <a:latin typeface="+mj-lt"/>
                <a:ea typeface="+mj-ea"/>
                <a:cs typeface="+mj-cs"/>
              </a:rPr>
              <a:t>THE COST TO HEALTH CARE PROVIDERS</a:t>
            </a:r>
          </a:p>
        </p:txBody>
      </p:sp>
      <p:pic>
        <p:nvPicPr>
          <p:cNvPr id="3" name="Picture 2">
            <a:extLst>
              <a:ext uri="{FF2B5EF4-FFF2-40B4-BE49-F238E27FC236}">
                <a16:creationId xmlns:a16="http://schemas.microsoft.com/office/drawing/2014/main" id="{78AC14A7-5B9E-48D8-88E1-6073DBBDD166}"/>
              </a:ext>
            </a:extLst>
          </p:cNvPr>
          <p:cNvPicPr>
            <a:picLocks noChangeAspect="1"/>
          </p:cNvPicPr>
          <p:nvPr/>
        </p:nvPicPr>
        <p:blipFill rotWithShape="1">
          <a:blip r:embed="rId2"/>
          <a:srcRect t="20928" r="-1" b="25426"/>
          <a:stretch/>
        </p:blipFill>
        <p:spPr>
          <a:xfrm>
            <a:off x="633999" y="640081"/>
            <a:ext cx="6909801" cy="5314406"/>
          </a:xfrm>
          <a:prstGeom prst="rect">
            <a:avLst/>
          </a:prstGeom>
        </p:spPr>
      </p:pic>
      <p:cxnSp>
        <p:nvCxnSpPr>
          <p:cNvPr id="18" name="Straight Connector 17">
            <a:extLst>
              <a:ext uri="{FF2B5EF4-FFF2-40B4-BE49-F238E27FC236}">
                <a16:creationId xmlns:a16="http://schemas.microsoft.com/office/drawing/2014/main" id="{89EB8C68-FF1B-4849-867B-32D29B19F10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92143" y="2085703"/>
            <a:ext cx="356616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AE2BC23B-38CD-4CD6-B4E7-176E428FBF40}"/>
              </a:ext>
            </a:extLst>
          </p:cNvPr>
          <p:cNvSpPr txBox="1"/>
          <p:nvPr/>
        </p:nvSpPr>
        <p:spPr>
          <a:xfrm>
            <a:off x="7859485" y="2198914"/>
            <a:ext cx="3690257" cy="3670180"/>
          </a:xfrm>
          <a:prstGeom prst="rect">
            <a:avLst/>
          </a:prstGeom>
        </p:spPr>
        <p:txBody>
          <a:bodyPr vert="horz" lIns="0" tIns="45720" rIns="0" bIns="45720" rtlCol="0">
            <a:normAutofit/>
          </a:bodyPr>
          <a:lstStyle/>
          <a:p>
            <a:pPr marL="285750" indent="-285750" defTabSz="914400">
              <a:lnSpc>
                <a:spcPct val="90000"/>
              </a:lnSpc>
              <a:spcAft>
                <a:spcPts val="600"/>
              </a:spcAft>
              <a:buClr>
                <a:schemeClr val="accent1"/>
              </a:buClr>
              <a:buFont typeface="Calibri" panose="020F0502020204030204" pitchFamily="34" charset="0"/>
              <a:buChar char="•"/>
            </a:pPr>
            <a:r>
              <a:rPr lang="en-US" sz="1700" dirty="0">
                <a:solidFill>
                  <a:schemeClr val="tx1">
                    <a:lumMod val="75000"/>
                    <a:lumOff val="25000"/>
                  </a:schemeClr>
                </a:solidFill>
              </a:rPr>
              <a:t>52% OF NURSES COMPLAIN OF LOW BACK PAIN and 83% of them continue to work despite that pain.</a:t>
            </a:r>
          </a:p>
          <a:p>
            <a:pPr marL="285750" indent="-285750" defTabSz="914400">
              <a:lnSpc>
                <a:spcPct val="90000"/>
              </a:lnSpc>
              <a:spcAft>
                <a:spcPts val="600"/>
              </a:spcAft>
              <a:buClr>
                <a:schemeClr val="accent1"/>
              </a:buClr>
              <a:buFont typeface="Calibri" panose="020F0502020204030204" pitchFamily="34" charset="0"/>
              <a:buChar char="•"/>
            </a:pPr>
            <a:endParaRPr lang="en-US" sz="1700" dirty="0">
              <a:solidFill>
                <a:schemeClr val="tx1">
                  <a:lumMod val="75000"/>
                  <a:lumOff val="25000"/>
                </a:schemeClr>
              </a:solidFill>
            </a:endParaRPr>
          </a:p>
          <a:p>
            <a:pPr marL="285750" indent="-285750" defTabSz="914400">
              <a:lnSpc>
                <a:spcPct val="90000"/>
              </a:lnSpc>
              <a:spcAft>
                <a:spcPts val="600"/>
              </a:spcAft>
              <a:buClr>
                <a:schemeClr val="accent1"/>
              </a:buClr>
              <a:buFont typeface="Calibri" panose="020F0502020204030204" pitchFamily="34" charset="0"/>
              <a:buChar char="•"/>
            </a:pPr>
            <a:r>
              <a:rPr lang="en-US" sz="1700" dirty="0">
                <a:solidFill>
                  <a:schemeClr val="tx1">
                    <a:lumMod val="75000"/>
                    <a:lumOff val="25000"/>
                  </a:schemeClr>
                </a:solidFill>
              </a:rPr>
              <a:t>Lifting injuries are the #1 cause of lost workdays for CNAs and other Health Tech professions nationwide. </a:t>
            </a:r>
          </a:p>
          <a:p>
            <a:pPr marL="285750" indent="-285750" defTabSz="914400">
              <a:lnSpc>
                <a:spcPct val="90000"/>
              </a:lnSpc>
              <a:spcAft>
                <a:spcPts val="600"/>
              </a:spcAft>
              <a:buClr>
                <a:schemeClr val="accent1"/>
              </a:buClr>
              <a:buFont typeface="Calibri" panose="020F0502020204030204" pitchFamily="34" charset="0"/>
              <a:buChar char="•"/>
            </a:pPr>
            <a:endParaRPr lang="en-US" sz="1700" dirty="0">
              <a:solidFill>
                <a:schemeClr val="tx1">
                  <a:lumMod val="75000"/>
                  <a:lumOff val="25000"/>
                </a:schemeClr>
              </a:solidFill>
            </a:endParaRPr>
          </a:p>
          <a:p>
            <a:pPr marL="285750" indent="-285750" defTabSz="914400">
              <a:lnSpc>
                <a:spcPct val="90000"/>
              </a:lnSpc>
              <a:spcAft>
                <a:spcPts val="600"/>
              </a:spcAft>
              <a:buClr>
                <a:schemeClr val="accent1"/>
              </a:buClr>
              <a:buFont typeface="Calibri" panose="020F0502020204030204" pitchFamily="34" charset="0"/>
              <a:buChar char="•"/>
            </a:pPr>
            <a:r>
              <a:rPr lang="en-US" sz="1700" dirty="0">
                <a:solidFill>
                  <a:schemeClr val="tx1">
                    <a:lumMod val="75000"/>
                    <a:lumOff val="25000"/>
                  </a:schemeClr>
                </a:solidFill>
              </a:rPr>
              <a:t>According to the ANA, musculoskeletal injuries affect 38% of all nurses and CNAs.  This results in light duty status, absences, and/or long-term disability.  </a:t>
            </a:r>
          </a:p>
          <a:p>
            <a:pPr marL="742950" lvl="1" indent="-285750" defTabSz="914400">
              <a:lnSpc>
                <a:spcPct val="90000"/>
              </a:lnSpc>
              <a:spcAft>
                <a:spcPts val="600"/>
              </a:spcAft>
              <a:buClr>
                <a:schemeClr val="accent1"/>
              </a:buClr>
              <a:buFont typeface="Calibri" panose="020F0502020204030204" pitchFamily="34" charset="0"/>
              <a:buChar char="•"/>
            </a:pPr>
            <a:endParaRPr lang="en-US" sz="1700" dirty="0">
              <a:solidFill>
                <a:schemeClr val="tx1">
                  <a:lumMod val="75000"/>
                  <a:lumOff val="25000"/>
                </a:schemeClr>
              </a:solidFill>
            </a:endParaRPr>
          </a:p>
        </p:txBody>
      </p:sp>
      <p:sp>
        <p:nvSpPr>
          <p:cNvPr id="35" name="Rectangle 19">
            <a:extLst>
              <a:ext uri="{FF2B5EF4-FFF2-40B4-BE49-F238E27FC236}">
                <a16:creationId xmlns:a16="http://schemas.microsoft.com/office/drawing/2014/main" id="{7D417315-0A35-4882-ABD2-ABE3C89E5D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8B53612E-ADB2-4457-9688-89506397AF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cSld>
  <p:clrMapOvr>
    <a:masterClrMapping/>
  </p:clrMapOvr>
  <mc:AlternateContent xmlns:mc="http://schemas.openxmlformats.org/markup-compatibility/2006" xmlns:p14="http://schemas.microsoft.com/office/powerpoint/2010/main">
    <mc:Choice Requires="p14">
      <p:transition spd="slow" p14:dur="2000" advTm="34720"/>
    </mc:Choice>
    <mc:Fallback xmlns="">
      <p:transition spd="slow" advTm="3472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416A0E3C-60E6-4F39-BC55-5F7C224E1F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7" name="Rectangle 26">
            <a:extLst>
              <a:ext uri="{FF2B5EF4-FFF2-40B4-BE49-F238E27FC236}">
                <a16:creationId xmlns:a16="http://schemas.microsoft.com/office/drawing/2014/main" id="{1A03258A-52C6-4288-AA56-C3262A0D25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29" name="Straight Connector 28">
            <a:extLst>
              <a:ext uri="{FF2B5EF4-FFF2-40B4-BE49-F238E27FC236}">
                <a16:creationId xmlns:a16="http://schemas.microsoft.com/office/drawing/2014/main" id="{C5025DAC-8B93-4160-B017-3A274A5828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31" name="Rectangle 30">
            <a:extLst>
              <a:ext uri="{FF2B5EF4-FFF2-40B4-BE49-F238E27FC236}">
                <a16:creationId xmlns:a16="http://schemas.microsoft.com/office/drawing/2014/main" id="{873ECEC8-0F24-45B8-950F-35FC94BCEA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932C57F3-92C1-4F8A-AC5D-782884BE472A}"/>
              </a:ext>
            </a:extLst>
          </p:cNvPr>
          <p:cNvSpPr txBox="1"/>
          <p:nvPr/>
        </p:nvSpPr>
        <p:spPr>
          <a:xfrm>
            <a:off x="7859485" y="634946"/>
            <a:ext cx="3690257" cy="1450757"/>
          </a:xfrm>
          <a:prstGeom prst="rect">
            <a:avLst/>
          </a:prstGeom>
        </p:spPr>
        <p:txBody>
          <a:bodyPr vert="horz" lIns="91440" tIns="45720" rIns="91440" bIns="45720" rtlCol="0" anchor="b">
            <a:normAutofit/>
          </a:bodyPr>
          <a:lstStyle/>
          <a:p>
            <a:pPr defTabSz="914400">
              <a:lnSpc>
                <a:spcPct val="85000"/>
              </a:lnSpc>
              <a:spcBef>
                <a:spcPct val="0"/>
              </a:spcBef>
              <a:spcAft>
                <a:spcPts val="600"/>
              </a:spcAft>
            </a:pPr>
            <a:r>
              <a:rPr lang="en-US" sz="3700" spc="-50">
                <a:solidFill>
                  <a:schemeClr val="tx1">
                    <a:lumMod val="75000"/>
                    <a:lumOff val="25000"/>
                  </a:schemeClr>
                </a:solidFill>
                <a:latin typeface="+mj-lt"/>
                <a:ea typeface="+mj-ea"/>
                <a:cs typeface="+mj-cs"/>
              </a:rPr>
              <a:t>Bariatric Patient Handling Statistics</a:t>
            </a:r>
          </a:p>
        </p:txBody>
      </p:sp>
      <p:cxnSp>
        <p:nvCxnSpPr>
          <p:cNvPr id="33" name="Straight Connector 32">
            <a:extLst>
              <a:ext uri="{FF2B5EF4-FFF2-40B4-BE49-F238E27FC236}">
                <a16:creationId xmlns:a16="http://schemas.microsoft.com/office/drawing/2014/main" id="{89EB8C68-FF1B-4849-867B-32D29B19F10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92143" y="2085703"/>
            <a:ext cx="356616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05AA091E-07B3-44C0-8122-99D30C4AB2AD}"/>
              </a:ext>
            </a:extLst>
          </p:cNvPr>
          <p:cNvSpPr txBox="1"/>
          <p:nvPr/>
        </p:nvSpPr>
        <p:spPr>
          <a:xfrm>
            <a:off x="7859485" y="2198914"/>
            <a:ext cx="3690257" cy="3670180"/>
          </a:xfrm>
          <a:prstGeom prst="rect">
            <a:avLst/>
          </a:prstGeom>
        </p:spPr>
        <p:txBody>
          <a:bodyPr vert="horz" lIns="0" tIns="45720" rIns="0" bIns="45720" rtlCol="0">
            <a:normAutofit/>
          </a:bodyPr>
          <a:lstStyle/>
          <a:p>
            <a:pPr marL="285750" indent="-285750" defTabSz="914400">
              <a:lnSpc>
                <a:spcPct val="90000"/>
              </a:lnSpc>
              <a:spcAft>
                <a:spcPts val="600"/>
              </a:spcAft>
              <a:buClr>
                <a:schemeClr val="accent1"/>
              </a:buClr>
              <a:buFont typeface="Calibri" panose="020F0502020204030204" pitchFamily="34" charset="0"/>
              <a:buChar char="•"/>
            </a:pPr>
            <a:r>
              <a:rPr lang="en-US" dirty="0">
                <a:solidFill>
                  <a:schemeClr val="tx1">
                    <a:lumMod val="75000"/>
                    <a:lumOff val="25000"/>
                  </a:schemeClr>
                </a:solidFill>
              </a:rPr>
              <a:t>Patients with a BMI &gt;35 make up 10% of the patient population.</a:t>
            </a:r>
          </a:p>
          <a:p>
            <a:pPr defTabSz="914400">
              <a:lnSpc>
                <a:spcPct val="90000"/>
              </a:lnSpc>
              <a:spcAft>
                <a:spcPts val="600"/>
              </a:spcAft>
              <a:buClr>
                <a:schemeClr val="accent1"/>
              </a:buClr>
            </a:pPr>
            <a:r>
              <a:rPr lang="en-US" dirty="0">
                <a:solidFill>
                  <a:schemeClr val="tx1">
                    <a:lumMod val="75000"/>
                    <a:lumOff val="25000"/>
                  </a:schemeClr>
                </a:solidFill>
              </a:rPr>
              <a:t> </a:t>
            </a:r>
          </a:p>
          <a:p>
            <a:pPr marL="285750" indent="-285750" defTabSz="914400">
              <a:lnSpc>
                <a:spcPct val="90000"/>
              </a:lnSpc>
              <a:spcAft>
                <a:spcPts val="600"/>
              </a:spcAft>
              <a:buClr>
                <a:schemeClr val="accent1"/>
              </a:buClr>
              <a:buFont typeface="Calibri" panose="020F0502020204030204" pitchFamily="34" charset="0"/>
              <a:buChar char="•"/>
            </a:pPr>
            <a:r>
              <a:rPr lang="en-US" dirty="0">
                <a:solidFill>
                  <a:schemeClr val="tx1">
                    <a:lumMod val="75000"/>
                    <a:lumOff val="25000"/>
                  </a:schemeClr>
                </a:solidFill>
              </a:rPr>
              <a:t>Handling patients with a BMI &gt;35 results in:</a:t>
            </a:r>
          </a:p>
          <a:p>
            <a:pPr marL="742950" lvl="1" indent="-285750" defTabSz="914400">
              <a:lnSpc>
                <a:spcPct val="90000"/>
              </a:lnSpc>
              <a:spcAft>
                <a:spcPts val="600"/>
              </a:spcAft>
              <a:buClr>
                <a:schemeClr val="accent1"/>
              </a:buClr>
              <a:buFont typeface="Calibri" panose="020F0502020204030204" pitchFamily="34" charset="0"/>
              <a:buChar char="•"/>
            </a:pPr>
            <a:r>
              <a:rPr lang="en-US" dirty="0">
                <a:solidFill>
                  <a:schemeClr val="tx1">
                    <a:lumMod val="75000"/>
                    <a:lumOff val="25000"/>
                  </a:schemeClr>
                </a:solidFill>
              </a:rPr>
              <a:t>29.8% of injuries</a:t>
            </a:r>
          </a:p>
          <a:p>
            <a:pPr marL="742950" lvl="1" indent="-285750" defTabSz="914400">
              <a:lnSpc>
                <a:spcPct val="90000"/>
              </a:lnSpc>
              <a:spcAft>
                <a:spcPts val="600"/>
              </a:spcAft>
              <a:buClr>
                <a:schemeClr val="accent1"/>
              </a:buClr>
              <a:buFont typeface="Calibri" panose="020F0502020204030204" pitchFamily="34" charset="0"/>
              <a:buChar char="•"/>
            </a:pPr>
            <a:r>
              <a:rPr lang="en-US" dirty="0">
                <a:solidFill>
                  <a:schemeClr val="tx1">
                    <a:lumMod val="75000"/>
                    <a:lumOff val="25000"/>
                  </a:schemeClr>
                </a:solidFill>
              </a:rPr>
              <a:t>27.9% of lost time</a:t>
            </a:r>
          </a:p>
          <a:p>
            <a:pPr marL="742950" lvl="1" indent="-285750" defTabSz="914400">
              <a:lnSpc>
                <a:spcPct val="90000"/>
              </a:lnSpc>
              <a:spcAft>
                <a:spcPts val="600"/>
              </a:spcAft>
              <a:buClr>
                <a:schemeClr val="accent1"/>
              </a:buClr>
              <a:buFont typeface="Calibri" panose="020F0502020204030204" pitchFamily="34" charset="0"/>
              <a:buChar char="•"/>
            </a:pPr>
            <a:r>
              <a:rPr lang="en-US" dirty="0">
                <a:solidFill>
                  <a:schemeClr val="tx1">
                    <a:lumMod val="75000"/>
                    <a:lumOff val="25000"/>
                  </a:schemeClr>
                </a:solidFill>
              </a:rPr>
              <a:t>37.2% of light duty time</a:t>
            </a:r>
          </a:p>
          <a:p>
            <a:pPr marL="742950" lvl="1" indent="-285750" defTabSz="914400">
              <a:lnSpc>
                <a:spcPct val="90000"/>
              </a:lnSpc>
              <a:spcAft>
                <a:spcPts val="600"/>
              </a:spcAft>
              <a:buClr>
                <a:schemeClr val="accent1"/>
              </a:buClr>
              <a:buFont typeface="Calibri" panose="020F0502020204030204" pitchFamily="34" charset="0"/>
              <a:buChar char="•"/>
            </a:pPr>
            <a:endParaRPr lang="en-US" sz="1300" dirty="0">
              <a:solidFill>
                <a:schemeClr val="tx1">
                  <a:lumMod val="75000"/>
                  <a:lumOff val="25000"/>
                </a:schemeClr>
              </a:solidFill>
            </a:endParaRPr>
          </a:p>
        </p:txBody>
      </p:sp>
      <p:sp>
        <p:nvSpPr>
          <p:cNvPr id="35" name="Rectangle 34">
            <a:extLst>
              <a:ext uri="{FF2B5EF4-FFF2-40B4-BE49-F238E27FC236}">
                <a16:creationId xmlns:a16="http://schemas.microsoft.com/office/drawing/2014/main" id="{7D417315-0A35-4882-ABD2-ABE3C89E5D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7" name="Rectangle 36">
            <a:extLst>
              <a:ext uri="{FF2B5EF4-FFF2-40B4-BE49-F238E27FC236}">
                <a16:creationId xmlns:a16="http://schemas.microsoft.com/office/drawing/2014/main" id="{8B53612E-ADB2-4457-9688-89506397AF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2" name="Picture 1">
            <a:extLst>
              <a:ext uri="{FF2B5EF4-FFF2-40B4-BE49-F238E27FC236}">
                <a16:creationId xmlns:a16="http://schemas.microsoft.com/office/drawing/2014/main" id="{DBDB93F5-E0CA-30F0-BB26-8100B50751B5}"/>
              </a:ext>
            </a:extLst>
          </p:cNvPr>
          <p:cNvPicPr>
            <a:picLocks noChangeAspect="1"/>
          </p:cNvPicPr>
          <p:nvPr/>
        </p:nvPicPr>
        <p:blipFill>
          <a:blip r:embed="rId3"/>
          <a:stretch>
            <a:fillRect/>
          </a:stretch>
        </p:blipFill>
        <p:spPr>
          <a:xfrm>
            <a:off x="642258" y="1260628"/>
            <a:ext cx="6768466" cy="4166746"/>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66956"/>
    </mc:Choice>
    <mc:Fallback xmlns="">
      <p:transition spd="slow" advTm="66956"/>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36BB4-E9CD-482F-AC7E-A206BD3BA843}"/>
              </a:ext>
            </a:extLst>
          </p:cNvPr>
          <p:cNvSpPr>
            <a:spLocks noGrp="1"/>
          </p:cNvSpPr>
          <p:nvPr>
            <p:ph type="title"/>
          </p:nvPr>
        </p:nvSpPr>
        <p:spPr>
          <a:xfrm>
            <a:off x="1097280" y="286603"/>
            <a:ext cx="4036695" cy="1450757"/>
          </a:xfrm>
        </p:spPr>
        <p:txBody>
          <a:bodyPr/>
          <a:lstStyle/>
          <a:p>
            <a:pPr algn="ctr"/>
            <a:r>
              <a:rPr lang="en-US" dirty="0"/>
              <a:t>Musculoskeletal Disorders </a:t>
            </a:r>
          </a:p>
        </p:txBody>
      </p:sp>
      <p:sp>
        <p:nvSpPr>
          <p:cNvPr id="3" name="Content Placeholder 2">
            <a:extLst>
              <a:ext uri="{FF2B5EF4-FFF2-40B4-BE49-F238E27FC236}">
                <a16:creationId xmlns:a16="http://schemas.microsoft.com/office/drawing/2014/main" id="{901D1F42-94B4-4546-AA88-7B51A3B60138}"/>
              </a:ext>
            </a:extLst>
          </p:cNvPr>
          <p:cNvSpPr>
            <a:spLocks noGrp="1"/>
          </p:cNvSpPr>
          <p:nvPr>
            <p:ph idx="1"/>
          </p:nvPr>
        </p:nvSpPr>
        <p:spPr>
          <a:xfrm>
            <a:off x="1097280" y="1845734"/>
            <a:ext cx="2979420" cy="4023360"/>
          </a:xfrm>
        </p:spPr>
        <p:txBody>
          <a:bodyPr/>
          <a:lstStyle/>
          <a:p>
            <a:r>
              <a:rPr lang="en-US" dirty="0"/>
              <a:t>This is an injury to the musculoskeletal system.  It can involve muscles, bones, joints, tendons, ligaments, nerves, cartilage, and spine. It can be sudden injury or can develop over a long period of time.  Most patient handling MSDs develop chronically and affect the back, neck, shoulders, and upper limbs.  </a:t>
            </a:r>
          </a:p>
          <a:p>
            <a:endParaRPr lang="en-US" dirty="0"/>
          </a:p>
          <a:p>
            <a:pPr marL="457200" lvl="1" indent="0">
              <a:buNone/>
            </a:pPr>
            <a:endParaRPr lang="en-US" dirty="0"/>
          </a:p>
          <a:p>
            <a:endParaRPr lang="en-US" dirty="0"/>
          </a:p>
          <a:p>
            <a:endParaRPr lang="en-US" dirty="0"/>
          </a:p>
        </p:txBody>
      </p:sp>
      <p:pic>
        <p:nvPicPr>
          <p:cNvPr id="8194" name="Picture 2" descr="Know the Types of Musculoskeletal Disorders and How to Avoid ...">
            <a:extLst>
              <a:ext uri="{FF2B5EF4-FFF2-40B4-BE49-F238E27FC236}">
                <a16:creationId xmlns:a16="http://schemas.microsoft.com/office/drawing/2014/main" id="{1D9D91D8-EE82-4BEC-B2BA-529426AF9B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71987" y="1173269"/>
            <a:ext cx="7043738" cy="4695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7843466"/>
      </p:ext>
    </p:extLst>
  </p:cSld>
  <p:clrMapOvr>
    <a:masterClrMapping/>
  </p:clrMapOvr>
  <mc:AlternateContent xmlns:mc="http://schemas.openxmlformats.org/markup-compatibility/2006" xmlns:p14="http://schemas.microsoft.com/office/powerpoint/2010/main">
    <mc:Choice Requires="p14">
      <p:transition spd="slow" p14:dur="2000" advTm="22708"/>
    </mc:Choice>
    <mc:Fallback xmlns="">
      <p:transition spd="slow" advTm="22708"/>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311973C2-EB8B-452A-A698-4A252FD3A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081" name="Rectangle 3080">
            <a:extLst>
              <a:ext uri="{FF2B5EF4-FFF2-40B4-BE49-F238E27FC236}">
                <a16:creationId xmlns:a16="http://schemas.microsoft.com/office/drawing/2014/main" id="{10162E77-11AD-44A7-84EC-40C59EEFBD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50176E9-89A0-4967-8B43-33A109D7F257}"/>
              </a:ext>
            </a:extLst>
          </p:cNvPr>
          <p:cNvSpPr>
            <a:spLocks noGrp="1"/>
          </p:cNvSpPr>
          <p:nvPr>
            <p:ph type="title"/>
          </p:nvPr>
        </p:nvSpPr>
        <p:spPr>
          <a:xfrm>
            <a:off x="5181601" y="634946"/>
            <a:ext cx="6368142" cy="1450757"/>
          </a:xfrm>
        </p:spPr>
        <p:txBody>
          <a:bodyPr>
            <a:normAutofit/>
          </a:bodyPr>
          <a:lstStyle/>
          <a:p>
            <a:r>
              <a:rPr lang="en-US" sz="3400">
                <a:solidFill>
                  <a:srgbClr val="5E513F"/>
                </a:solidFill>
              </a:rPr>
              <a:t>Cumulative trauma does not cause pain until sever injury has occurred</a:t>
            </a:r>
          </a:p>
        </p:txBody>
      </p:sp>
      <p:pic>
        <p:nvPicPr>
          <p:cNvPr id="3074" name="Picture 2" descr="Degenerative Disc Disease Treatment and Self-Care">
            <a:extLst>
              <a:ext uri="{FF2B5EF4-FFF2-40B4-BE49-F238E27FC236}">
                <a16:creationId xmlns:a16="http://schemas.microsoft.com/office/drawing/2014/main" id="{C85A476A-9B1D-42DD-844E-2ADBE7FB61B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209" r="-2" b="-2"/>
          <a:stretch/>
        </p:blipFill>
        <p:spPr bwMode="auto">
          <a:xfrm>
            <a:off x="20" y="-12128"/>
            <a:ext cx="4654276" cy="6870127"/>
          </a:xfrm>
          <a:prstGeom prst="rect">
            <a:avLst/>
          </a:prstGeom>
          <a:noFill/>
          <a:extLst>
            <a:ext uri="{909E8E84-426E-40DD-AFC4-6F175D3DCCD1}">
              <a14:hiddenFill xmlns:a14="http://schemas.microsoft.com/office/drawing/2010/main">
                <a:solidFill>
                  <a:srgbClr val="FFFFFF"/>
                </a:solidFill>
              </a14:hiddenFill>
            </a:ext>
          </a:extLst>
        </p:spPr>
      </p:pic>
      <p:cxnSp>
        <p:nvCxnSpPr>
          <p:cNvPr id="3083" name="Straight Connector 3082">
            <a:extLst>
              <a:ext uri="{FF2B5EF4-FFF2-40B4-BE49-F238E27FC236}">
                <a16:creationId xmlns:a16="http://schemas.microsoft.com/office/drawing/2014/main" id="{5AB158E9-1B40-4CD6-95F0-95CA11DF7B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87617" y="2085703"/>
            <a:ext cx="6170686"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C1F7B48-C442-48C5-8D1C-B9154A2FD3BF}"/>
              </a:ext>
            </a:extLst>
          </p:cNvPr>
          <p:cNvSpPr>
            <a:spLocks noGrp="1"/>
          </p:cNvSpPr>
          <p:nvPr>
            <p:ph idx="1"/>
          </p:nvPr>
        </p:nvSpPr>
        <p:spPr>
          <a:xfrm>
            <a:off x="5181601" y="2198914"/>
            <a:ext cx="6368142" cy="3670180"/>
          </a:xfrm>
        </p:spPr>
        <p:txBody>
          <a:bodyPr>
            <a:normAutofit/>
          </a:bodyPr>
          <a:lstStyle/>
          <a:p>
            <a:r>
              <a:rPr lang="en-US" dirty="0"/>
              <a:t>This image shows the course of cumulative microtrauma over a long period of time.  </a:t>
            </a:r>
          </a:p>
          <a:p>
            <a:endParaRPr lang="en-US" dirty="0"/>
          </a:p>
          <a:p>
            <a:pPr lvl="1"/>
            <a:r>
              <a:rPr lang="en-US" sz="2400" dirty="0"/>
              <a:t>How much pain do you think this individual's lower back feels at each of these stages? </a:t>
            </a:r>
          </a:p>
          <a:p>
            <a:pPr lvl="2"/>
            <a:r>
              <a:rPr lang="en-US" sz="2000" dirty="0"/>
              <a:t>Possibly much less or much more than you expect.  </a:t>
            </a:r>
          </a:p>
          <a:p>
            <a:pPr lvl="2"/>
            <a:r>
              <a:rPr lang="en-US" sz="2000" dirty="0"/>
              <a:t>How would your back feel at each of these stages? </a:t>
            </a:r>
          </a:p>
          <a:p>
            <a:pPr lvl="1"/>
            <a:endParaRPr lang="en-US" dirty="0"/>
          </a:p>
        </p:txBody>
      </p:sp>
    </p:spTree>
    <p:extLst>
      <p:ext uri="{BB962C8B-B14F-4D97-AF65-F5344CB8AC3E}">
        <p14:creationId xmlns:p14="http://schemas.microsoft.com/office/powerpoint/2010/main" val="383742959"/>
      </p:ext>
    </p:extLst>
  </p:cSld>
  <p:clrMapOvr>
    <a:masterClrMapping/>
  </p:clrMapOvr>
  <mc:AlternateContent xmlns:mc="http://schemas.openxmlformats.org/markup-compatibility/2006" xmlns:p14="http://schemas.microsoft.com/office/powerpoint/2010/main">
    <mc:Choice Requires="p14">
      <p:transition spd="slow" p14:dur="2000" advTm="54660"/>
    </mc:Choice>
    <mc:Fallback xmlns="">
      <p:transition spd="slow" advTm="5466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38" name="Rectangle 5137">
            <a:extLst>
              <a:ext uri="{FF2B5EF4-FFF2-40B4-BE49-F238E27FC236}">
                <a16:creationId xmlns:a16="http://schemas.microsoft.com/office/drawing/2014/main" id="{3741B58E-3B65-4A01-A276-975AB2CF8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5140" name="Rectangle 5139">
            <a:extLst>
              <a:ext uri="{FF2B5EF4-FFF2-40B4-BE49-F238E27FC236}">
                <a16:creationId xmlns:a16="http://schemas.microsoft.com/office/drawing/2014/main" id="{7AAC67C3-831B-4AB1-A259-DFB839CAF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AC9AE486-BD34-4848-BFEF-581275CE066B}"/>
              </a:ext>
            </a:extLst>
          </p:cNvPr>
          <p:cNvSpPr>
            <a:spLocks noGrp="1"/>
          </p:cNvSpPr>
          <p:nvPr>
            <p:ph type="title"/>
          </p:nvPr>
        </p:nvSpPr>
        <p:spPr>
          <a:xfrm>
            <a:off x="492370" y="605896"/>
            <a:ext cx="3084844" cy="5646208"/>
          </a:xfrm>
        </p:spPr>
        <p:txBody>
          <a:bodyPr vert="horz" lIns="91440" tIns="45720" rIns="91440" bIns="45720" rtlCol="0" anchor="ctr">
            <a:normAutofit/>
          </a:bodyPr>
          <a:lstStyle/>
          <a:p>
            <a:r>
              <a:rPr lang="en-US" sz="3600">
                <a:solidFill>
                  <a:srgbClr val="FFFFFF"/>
                </a:solidFill>
              </a:rPr>
              <a:t>Your body and spine act as levers and fulcrums when lifting.</a:t>
            </a:r>
          </a:p>
        </p:txBody>
      </p:sp>
      <p:sp>
        <p:nvSpPr>
          <p:cNvPr id="5142" name="Rectangle 5141">
            <a:extLst>
              <a:ext uri="{FF2B5EF4-FFF2-40B4-BE49-F238E27FC236}">
                <a16:creationId xmlns:a16="http://schemas.microsoft.com/office/drawing/2014/main" id="{054B3F04-9EAC-45C0-B3CE-0387EEA10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Content Placeholder 2">
            <a:extLst>
              <a:ext uri="{FF2B5EF4-FFF2-40B4-BE49-F238E27FC236}">
                <a16:creationId xmlns:a16="http://schemas.microsoft.com/office/drawing/2014/main" id="{4534F85C-6C09-4CB4-A4C8-4ED4C8900556}"/>
              </a:ext>
            </a:extLst>
          </p:cNvPr>
          <p:cNvSpPr txBox="1">
            <a:spLocks/>
          </p:cNvSpPr>
          <p:nvPr/>
        </p:nvSpPr>
        <p:spPr>
          <a:xfrm>
            <a:off x="4742016" y="605896"/>
            <a:ext cx="6413663" cy="5646208"/>
          </a:xfrm>
          <a:prstGeom prst="rect">
            <a:avLst/>
          </a:prstGeom>
        </p:spPr>
        <p:txBody>
          <a:bodyPr vert="horz" lIns="0" tIns="45720" rIns="0" bIns="45720" rtlCol="0" anchor="ct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Font typeface="Calibri" panose="020F0502020204030204" pitchFamily="34" charset="0"/>
              <a:buNone/>
            </a:pPr>
            <a:r>
              <a:rPr lang="en-US" dirty="0"/>
              <a:t>A fulcrum is that point on which a lever rests or is supported when it is used. </a:t>
            </a:r>
          </a:p>
          <a:p>
            <a:pPr marL="0" indent="0">
              <a:buFont typeface="Calibri" panose="020F0502020204030204" pitchFamily="34" charset="0"/>
              <a:buNone/>
            </a:pPr>
            <a:r>
              <a:rPr lang="en-US" dirty="0"/>
              <a:t>This allows you to lift with much more force than you could without such an advantage. </a:t>
            </a:r>
          </a:p>
          <a:p>
            <a:pPr lvl="1"/>
            <a:r>
              <a:rPr lang="en-US" dirty="0"/>
              <a:t>This greatly increases the amount of weight being supported in different positions.  </a:t>
            </a:r>
          </a:p>
          <a:p>
            <a:pPr lvl="2"/>
            <a:r>
              <a:rPr lang="en-US" dirty="0"/>
              <a:t>For example: if your back is the lever and your waist is the fulcrum, the amount of weight on your low back is </a:t>
            </a:r>
            <a:r>
              <a:rPr lang="en-US" u="sng" dirty="0"/>
              <a:t>10 times </a:t>
            </a:r>
            <a:r>
              <a:rPr lang="en-US" dirty="0"/>
              <a:t>what it was!</a:t>
            </a:r>
          </a:p>
          <a:p>
            <a:pPr lvl="3"/>
            <a:r>
              <a:rPr lang="en-US" dirty="0"/>
              <a:t>That does not even include your own weight (which you are also lifting).</a:t>
            </a:r>
          </a:p>
          <a:p>
            <a:pPr lvl="3"/>
            <a:r>
              <a:rPr lang="en-US" dirty="0"/>
              <a:t>Bending, lifting, or other postures can make this weight burden even greater.</a:t>
            </a:r>
          </a:p>
        </p:txBody>
      </p:sp>
    </p:spTree>
    <p:extLst>
      <p:ext uri="{BB962C8B-B14F-4D97-AF65-F5344CB8AC3E}">
        <p14:creationId xmlns:p14="http://schemas.microsoft.com/office/powerpoint/2010/main" val="3276821471"/>
      </p:ext>
    </p:extLst>
  </p:cSld>
  <p:clrMapOvr>
    <a:masterClrMapping/>
  </p:clrMapOvr>
  <mc:AlternateContent xmlns:mc="http://schemas.openxmlformats.org/markup-compatibility/2006" xmlns:p14="http://schemas.microsoft.com/office/powerpoint/2010/main">
    <mc:Choice Requires="p14">
      <p:transition spd="slow" p14:dur="2000" advTm="38471"/>
    </mc:Choice>
    <mc:Fallback xmlns="">
      <p:transition spd="slow" advTm="38471"/>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558DB37-9FEE-48A2-8578-ED04015739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9B20E9A-B6EC-4BAE-9027-42AE6FED3E96}"/>
              </a:ext>
            </a:extLst>
          </p:cNvPr>
          <p:cNvSpPr>
            <a:spLocks noGrp="1"/>
          </p:cNvSpPr>
          <p:nvPr>
            <p:ph idx="1"/>
          </p:nvPr>
        </p:nvSpPr>
        <p:spPr>
          <a:xfrm>
            <a:off x="1097280" y="1086678"/>
            <a:ext cx="10027920" cy="3471467"/>
          </a:xfrm>
        </p:spPr>
        <p:txBody>
          <a:bodyPr>
            <a:normAutofit/>
          </a:bodyPr>
          <a:lstStyle/>
          <a:p>
            <a:r>
              <a:rPr lang="en-US" dirty="0"/>
              <a:t>The maximum amount of weight any healthcare worker should lift is less than 35 pounds. </a:t>
            </a:r>
          </a:p>
          <a:p>
            <a:pPr lvl="1"/>
            <a:r>
              <a:rPr lang="en-US" dirty="0"/>
              <a:t>Turning is also included!  When the fulcrum effect is considered, even a small person can be a serious risk. </a:t>
            </a:r>
          </a:p>
          <a:p>
            <a:pPr lvl="1"/>
            <a:endParaRPr lang="en-US" dirty="0"/>
          </a:p>
          <a:p>
            <a:pPr lvl="1"/>
            <a:r>
              <a:rPr lang="en-US" dirty="0"/>
              <a:t>If a 150-pound caregiver turns a patient from side to side with a reach of 34-36 inches, he or she places the following stress on the lower back: </a:t>
            </a:r>
          </a:p>
          <a:p>
            <a:pPr lvl="2"/>
            <a:r>
              <a:rPr lang="en-US" sz="1800" dirty="0"/>
              <a:t>100-pound (small) person: 1002 pounds</a:t>
            </a:r>
          </a:p>
          <a:p>
            <a:pPr lvl="2"/>
            <a:r>
              <a:rPr lang="en-US" sz="1800" dirty="0"/>
              <a:t>150-pound (average) person: 1314 pounds</a:t>
            </a:r>
          </a:p>
          <a:p>
            <a:pPr lvl="2"/>
            <a:r>
              <a:rPr lang="en-US" sz="1800" dirty="0"/>
              <a:t>200-pound (average) person: 1695 pounds</a:t>
            </a:r>
          </a:p>
          <a:p>
            <a:pPr lvl="2"/>
            <a:r>
              <a:rPr lang="en-US" sz="1800" dirty="0"/>
              <a:t>250-pound (large) person: 2024 pounds</a:t>
            </a:r>
          </a:p>
          <a:p>
            <a:pPr lvl="2"/>
            <a:endParaRPr lang="en-US" dirty="0"/>
          </a:p>
        </p:txBody>
      </p:sp>
      <p:sp>
        <p:nvSpPr>
          <p:cNvPr id="10" name="Rectangle 9">
            <a:extLst>
              <a:ext uri="{FF2B5EF4-FFF2-40B4-BE49-F238E27FC236}">
                <a16:creationId xmlns:a16="http://schemas.microsoft.com/office/drawing/2014/main" id="{5F7FCCA6-00E2-4F74-A105-0D769872F2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2BB1095B-518F-46DD-A7EB-CCD4F1C94D75}"/>
              </a:ext>
            </a:extLst>
          </p:cNvPr>
          <p:cNvSpPr>
            <a:spLocks noGrp="1"/>
          </p:cNvSpPr>
          <p:nvPr>
            <p:ph type="title"/>
          </p:nvPr>
        </p:nvSpPr>
        <p:spPr>
          <a:xfrm>
            <a:off x="1066800" y="5252936"/>
            <a:ext cx="10058400" cy="1028715"/>
          </a:xfrm>
        </p:spPr>
        <p:txBody>
          <a:bodyPr anchor="ctr">
            <a:normAutofit/>
          </a:bodyPr>
          <a:lstStyle/>
          <a:p>
            <a:pPr algn="ctr"/>
            <a:r>
              <a:rPr lang="en-US" sz="3400">
                <a:solidFill>
                  <a:srgbClr val="FFFFFF"/>
                </a:solidFill>
              </a:rPr>
              <a:t>With this in mind: How much force is really being applied to the low back of a healthcare worker?</a:t>
            </a:r>
          </a:p>
        </p:txBody>
      </p:sp>
      <p:sp>
        <p:nvSpPr>
          <p:cNvPr id="16" name="Rectangle 11">
            <a:extLst>
              <a:ext uri="{FF2B5EF4-FFF2-40B4-BE49-F238E27FC236}">
                <a16:creationId xmlns:a16="http://schemas.microsoft.com/office/drawing/2014/main" id="{5E1ED12F-9F06-4B37-87B7-F98F52937F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4906176"/>
            <a:ext cx="12188952"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142454762"/>
      </p:ext>
    </p:extLst>
  </p:cSld>
  <p:clrMapOvr>
    <a:masterClrMapping/>
  </p:clrMapOvr>
  <mc:AlternateContent xmlns:mc="http://schemas.openxmlformats.org/markup-compatibility/2006" xmlns:p14="http://schemas.microsoft.com/office/powerpoint/2010/main">
    <mc:Choice Requires="p14">
      <p:transition spd="slow" p14:dur="2000" advTm="29453"/>
    </mc:Choice>
    <mc:Fallback xmlns="">
      <p:transition spd="slow" advTm="29453"/>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124B5-C879-4B09-995E-6A31D4522678}"/>
              </a:ext>
            </a:extLst>
          </p:cNvPr>
          <p:cNvSpPr>
            <a:spLocks noGrp="1"/>
          </p:cNvSpPr>
          <p:nvPr>
            <p:ph type="title"/>
          </p:nvPr>
        </p:nvSpPr>
        <p:spPr/>
        <p:txBody>
          <a:bodyPr/>
          <a:lstStyle/>
          <a:p>
            <a:r>
              <a:rPr lang="en-US" dirty="0"/>
              <a:t>What are considered high risk patient care activities?</a:t>
            </a:r>
          </a:p>
        </p:txBody>
      </p:sp>
      <p:sp>
        <p:nvSpPr>
          <p:cNvPr id="4" name="Text Placeholder 3">
            <a:extLst>
              <a:ext uri="{FF2B5EF4-FFF2-40B4-BE49-F238E27FC236}">
                <a16:creationId xmlns:a16="http://schemas.microsoft.com/office/drawing/2014/main" id="{49665EE8-0775-405D-AEC7-C1942523F8C2}"/>
              </a:ext>
            </a:extLst>
          </p:cNvPr>
          <p:cNvSpPr>
            <a:spLocks noGrp="1"/>
          </p:cNvSpPr>
          <p:nvPr>
            <p:ph type="body" idx="1"/>
          </p:nvPr>
        </p:nvSpPr>
        <p:spPr/>
        <p:txBody>
          <a:bodyPr/>
          <a:lstStyle/>
          <a:p>
            <a:r>
              <a:rPr lang="en-US" dirty="0"/>
              <a:t> </a:t>
            </a:r>
          </a:p>
        </p:txBody>
      </p:sp>
      <p:sp>
        <p:nvSpPr>
          <p:cNvPr id="3" name="Content Placeholder 2">
            <a:extLst>
              <a:ext uri="{FF2B5EF4-FFF2-40B4-BE49-F238E27FC236}">
                <a16:creationId xmlns:a16="http://schemas.microsoft.com/office/drawing/2014/main" id="{47211036-4414-4089-9664-EE1BE1AE7D17}"/>
              </a:ext>
            </a:extLst>
          </p:cNvPr>
          <p:cNvSpPr>
            <a:spLocks noGrp="1"/>
          </p:cNvSpPr>
          <p:nvPr>
            <p:ph sz="half" idx="2"/>
          </p:nvPr>
        </p:nvSpPr>
        <p:spPr/>
        <p:txBody>
          <a:bodyPr>
            <a:normAutofit/>
          </a:bodyPr>
          <a:lstStyle/>
          <a:p>
            <a:r>
              <a:rPr lang="en-US" dirty="0"/>
              <a:t>Transferring a patient</a:t>
            </a:r>
          </a:p>
          <a:p>
            <a:r>
              <a:rPr lang="en-US" dirty="0"/>
              <a:t>Lifting a patient</a:t>
            </a:r>
          </a:p>
          <a:p>
            <a:r>
              <a:rPr lang="en-US" dirty="0"/>
              <a:t>Weighing a patient</a:t>
            </a:r>
          </a:p>
          <a:p>
            <a:r>
              <a:rPr lang="en-US" dirty="0"/>
              <a:t>Repositioning a patient</a:t>
            </a:r>
          </a:p>
          <a:p>
            <a:r>
              <a:rPr lang="en-US" dirty="0"/>
              <a:t>Bathing a patient</a:t>
            </a:r>
          </a:p>
          <a:p>
            <a:r>
              <a:rPr lang="en-US" dirty="0"/>
              <a:t>Undressing/dressing a patient</a:t>
            </a:r>
          </a:p>
          <a:p>
            <a:endParaRPr lang="en-US" dirty="0"/>
          </a:p>
        </p:txBody>
      </p:sp>
      <p:sp>
        <p:nvSpPr>
          <p:cNvPr id="5" name="Text Placeholder 4">
            <a:extLst>
              <a:ext uri="{FF2B5EF4-FFF2-40B4-BE49-F238E27FC236}">
                <a16:creationId xmlns:a16="http://schemas.microsoft.com/office/drawing/2014/main" id="{4453B477-71FE-4ADC-95D6-FE047D11EF7F}"/>
              </a:ext>
            </a:extLst>
          </p:cNvPr>
          <p:cNvSpPr>
            <a:spLocks noGrp="1"/>
          </p:cNvSpPr>
          <p:nvPr>
            <p:ph type="body" sz="quarter" idx="3"/>
          </p:nvPr>
        </p:nvSpPr>
        <p:spPr/>
        <p:txBody>
          <a:bodyPr/>
          <a:lstStyle/>
          <a:p>
            <a:r>
              <a:rPr lang="en-US" dirty="0"/>
              <a:t> </a:t>
            </a:r>
          </a:p>
        </p:txBody>
      </p:sp>
      <p:sp>
        <p:nvSpPr>
          <p:cNvPr id="6" name="Content Placeholder 5">
            <a:extLst>
              <a:ext uri="{FF2B5EF4-FFF2-40B4-BE49-F238E27FC236}">
                <a16:creationId xmlns:a16="http://schemas.microsoft.com/office/drawing/2014/main" id="{6A5925DA-C698-4A6C-ABB1-1BEC66E676FB}"/>
              </a:ext>
            </a:extLst>
          </p:cNvPr>
          <p:cNvSpPr>
            <a:spLocks noGrp="1"/>
          </p:cNvSpPr>
          <p:nvPr>
            <p:ph sz="quarter" idx="4"/>
          </p:nvPr>
        </p:nvSpPr>
        <p:spPr/>
        <p:txBody>
          <a:bodyPr>
            <a:normAutofit/>
          </a:bodyPr>
          <a:lstStyle/>
          <a:p>
            <a:r>
              <a:rPr lang="en-US" dirty="0"/>
              <a:t>Pulling up a patient in chair or bed</a:t>
            </a:r>
          </a:p>
          <a:p>
            <a:r>
              <a:rPr lang="en-US" dirty="0"/>
              <a:t>Feeding a patient</a:t>
            </a:r>
          </a:p>
          <a:p>
            <a:r>
              <a:rPr lang="en-US" dirty="0"/>
              <a:t>Putting ted-socks on patient</a:t>
            </a:r>
          </a:p>
          <a:p>
            <a:r>
              <a:rPr lang="en-US" dirty="0"/>
              <a:t>Providing care in awkward positions</a:t>
            </a:r>
          </a:p>
          <a:p>
            <a:r>
              <a:rPr lang="en-US" dirty="0"/>
              <a:t>Providing care in confined spaces.</a:t>
            </a:r>
          </a:p>
        </p:txBody>
      </p:sp>
    </p:spTree>
    <p:extLst>
      <p:ext uri="{BB962C8B-B14F-4D97-AF65-F5344CB8AC3E}">
        <p14:creationId xmlns:p14="http://schemas.microsoft.com/office/powerpoint/2010/main" val="735496462"/>
      </p:ext>
    </p:extLst>
  </p:cSld>
  <p:clrMapOvr>
    <a:masterClrMapping/>
  </p:clrMapOvr>
  <mc:AlternateContent xmlns:mc="http://schemas.openxmlformats.org/markup-compatibility/2006" xmlns:p14="http://schemas.microsoft.com/office/powerpoint/2010/main">
    <mc:Choice Requires="p14">
      <p:transition spd="slow" p14:dur="2000" advTm="29988"/>
    </mc:Choice>
    <mc:Fallback xmlns="">
      <p:transition spd="slow" advTm="29988"/>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741B58E-3B65-4A01-A276-975AB2CF8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AAC67C3-831B-4AB1-A259-DFB839CAF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FD4F320C-F471-4E69-8EE9-2C4FD38E0D67}"/>
              </a:ext>
            </a:extLst>
          </p:cNvPr>
          <p:cNvSpPr>
            <a:spLocks noGrp="1"/>
          </p:cNvSpPr>
          <p:nvPr>
            <p:ph type="title"/>
          </p:nvPr>
        </p:nvSpPr>
        <p:spPr>
          <a:xfrm>
            <a:off x="492370" y="605896"/>
            <a:ext cx="3084844" cy="5646208"/>
          </a:xfrm>
        </p:spPr>
        <p:txBody>
          <a:bodyPr anchor="ctr">
            <a:normAutofit/>
          </a:bodyPr>
          <a:lstStyle/>
          <a:p>
            <a:r>
              <a:rPr lang="en-US" sz="3600" dirty="0">
                <a:solidFill>
                  <a:srgbClr val="FFFFFF"/>
                </a:solidFill>
              </a:rPr>
              <a:t>What</a:t>
            </a:r>
            <a:r>
              <a:rPr lang="en-US" sz="3600" b="1" dirty="0">
                <a:solidFill>
                  <a:srgbClr val="FFFFFF"/>
                </a:solidFill>
              </a:rPr>
              <a:t> </a:t>
            </a:r>
            <a:r>
              <a:rPr lang="en-US" sz="3600" b="1" u="sng" dirty="0">
                <a:solidFill>
                  <a:srgbClr val="FFFFFF"/>
                </a:solidFill>
              </a:rPr>
              <a:t>patient </a:t>
            </a:r>
            <a:r>
              <a:rPr lang="en-US" sz="3600" dirty="0">
                <a:solidFill>
                  <a:srgbClr val="FFFFFF"/>
                </a:solidFill>
              </a:rPr>
              <a:t>factors make patient handling high risk?</a:t>
            </a:r>
          </a:p>
        </p:txBody>
      </p:sp>
      <p:sp>
        <p:nvSpPr>
          <p:cNvPr id="12" name="Rectangle 11">
            <a:extLst>
              <a:ext uri="{FF2B5EF4-FFF2-40B4-BE49-F238E27FC236}">
                <a16:creationId xmlns:a16="http://schemas.microsoft.com/office/drawing/2014/main" id="{054B3F04-9EAC-45C0-B3CE-0387EEA10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BFEC2FB8-ED02-4075-B5C5-2A3D924AEFCC}"/>
              </a:ext>
            </a:extLst>
          </p:cNvPr>
          <p:cNvSpPr>
            <a:spLocks noGrp="1"/>
          </p:cNvSpPr>
          <p:nvPr>
            <p:ph idx="1"/>
          </p:nvPr>
        </p:nvSpPr>
        <p:spPr>
          <a:xfrm>
            <a:off x="4742016" y="605896"/>
            <a:ext cx="6413663" cy="5646208"/>
          </a:xfrm>
        </p:spPr>
        <p:txBody>
          <a:bodyPr anchor="ctr">
            <a:normAutofit/>
          </a:bodyPr>
          <a:lstStyle/>
          <a:p>
            <a:pPr marL="457200" indent="-457200">
              <a:buFont typeface="+mj-lt"/>
              <a:buAutoNum type="arabicPeriod"/>
            </a:pPr>
            <a:r>
              <a:rPr lang="en-US" dirty="0"/>
              <a:t>Patients are bulky, they have no carrying handles, and they cannot be held close to the body effectively. </a:t>
            </a:r>
          </a:p>
          <a:p>
            <a:pPr marL="457200" indent="-457200">
              <a:buFont typeface="+mj-lt"/>
              <a:buAutoNum type="arabicPeriod"/>
            </a:pPr>
            <a:r>
              <a:rPr lang="en-US" dirty="0"/>
              <a:t>Patients are delicate and prone to injury if dropped. </a:t>
            </a:r>
          </a:p>
          <a:p>
            <a:pPr marL="457200" indent="-457200">
              <a:buFont typeface="+mj-lt"/>
              <a:buAutoNum type="arabicPeriod"/>
            </a:pPr>
            <a:r>
              <a:rPr lang="en-US" dirty="0"/>
              <a:t>Patients are larger and more debilitated than they used to be. </a:t>
            </a:r>
          </a:p>
          <a:p>
            <a:pPr marL="457200" indent="-457200">
              <a:buFont typeface="+mj-lt"/>
              <a:buAutoNum type="arabicPeriod"/>
            </a:pPr>
            <a:r>
              <a:rPr lang="en-US" dirty="0"/>
              <a:t>Patients may be confused or may not know their own mobility status.</a:t>
            </a:r>
          </a:p>
          <a:p>
            <a:pPr marL="457200" indent="-457200">
              <a:buFont typeface="+mj-lt"/>
              <a:buAutoNum type="arabicPeriod"/>
            </a:pPr>
            <a:r>
              <a:rPr lang="en-US" dirty="0"/>
              <a:t>Patients are sicker than they used to be and more dependent on staff.</a:t>
            </a:r>
          </a:p>
          <a:p>
            <a:pPr marL="457200" indent="-457200">
              <a:buFont typeface="+mj-lt"/>
              <a:buAutoNum type="arabicPeriod"/>
            </a:pPr>
            <a:r>
              <a:rPr lang="en-US" dirty="0"/>
              <a:t>There is now an expectation for early mobility to reduce the risk of adverse events and decrease the length of stay.  </a:t>
            </a:r>
          </a:p>
          <a:p>
            <a:endParaRPr lang="en-US" dirty="0"/>
          </a:p>
        </p:txBody>
      </p:sp>
    </p:spTree>
    <p:extLst>
      <p:ext uri="{BB962C8B-B14F-4D97-AF65-F5344CB8AC3E}">
        <p14:creationId xmlns:p14="http://schemas.microsoft.com/office/powerpoint/2010/main" val="3199510261"/>
      </p:ext>
    </p:extLst>
  </p:cSld>
  <p:clrMapOvr>
    <a:masterClrMapping/>
  </p:clrMapOvr>
  <mc:AlternateContent xmlns:mc="http://schemas.openxmlformats.org/markup-compatibility/2006" xmlns:p14="http://schemas.microsoft.com/office/powerpoint/2010/main">
    <mc:Choice Requires="p14">
      <p:transition spd="slow" p14:dur="2000" advTm="54110"/>
    </mc:Choice>
    <mc:Fallback xmlns="">
      <p:transition spd="slow" advTm="5411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741B58E-3B65-4A01-A276-975AB2CF8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AAC67C3-831B-4AB1-A259-DFB839CAF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4EBB18F9-4D9B-47AC-837B-5E8B91695A4D}"/>
              </a:ext>
            </a:extLst>
          </p:cNvPr>
          <p:cNvSpPr>
            <a:spLocks noGrp="1"/>
          </p:cNvSpPr>
          <p:nvPr>
            <p:ph type="title"/>
          </p:nvPr>
        </p:nvSpPr>
        <p:spPr>
          <a:xfrm>
            <a:off x="492370" y="605896"/>
            <a:ext cx="3084844" cy="5646208"/>
          </a:xfrm>
        </p:spPr>
        <p:txBody>
          <a:bodyPr anchor="ctr">
            <a:normAutofit/>
          </a:bodyPr>
          <a:lstStyle/>
          <a:p>
            <a:r>
              <a:rPr lang="en-US" sz="3600" dirty="0">
                <a:solidFill>
                  <a:srgbClr val="FFFFFF"/>
                </a:solidFill>
              </a:rPr>
              <a:t>What </a:t>
            </a:r>
            <a:r>
              <a:rPr lang="en-US" sz="3600" b="1" u="sng" dirty="0">
                <a:solidFill>
                  <a:srgbClr val="FFFFFF"/>
                </a:solidFill>
              </a:rPr>
              <a:t>worker</a:t>
            </a:r>
            <a:r>
              <a:rPr lang="en-US" sz="3600" dirty="0">
                <a:solidFill>
                  <a:srgbClr val="FFFFFF"/>
                </a:solidFill>
              </a:rPr>
              <a:t> factors make patient handling high risk?</a:t>
            </a:r>
          </a:p>
        </p:txBody>
      </p:sp>
      <p:sp>
        <p:nvSpPr>
          <p:cNvPr id="12" name="Rectangle 11">
            <a:extLst>
              <a:ext uri="{FF2B5EF4-FFF2-40B4-BE49-F238E27FC236}">
                <a16:creationId xmlns:a16="http://schemas.microsoft.com/office/drawing/2014/main" id="{054B3F04-9EAC-45C0-B3CE-0387EEA10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2918D403-7889-4F99-A13F-FA4548ECCB3E}"/>
              </a:ext>
            </a:extLst>
          </p:cNvPr>
          <p:cNvSpPr>
            <a:spLocks noGrp="1"/>
          </p:cNvSpPr>
          <p:nvPr>
            <p:ph idx="1"/>
          </p:nvPr>
        </p:nvSpPr>
        <p:spPr>
          <a:xfrm>
            <a:off x="4742016" y="605896"/>
            <a:ext cx="6413663" cy="5646208"/>
          </a:xfrm>
        </p:spPr>
        <p:txBody>
          <a:bodyPr anchor="ctr">
            <a:normAutofit/>
          </a:bodyPr>
          <a:lstStyle/>
          <a:p>
            <a:pPr marL="457200" indent="-457200">
              <a:buFont typeface="+mj-lt"/>
              <a:buAutoNum type="arabicPeriod"/>
            </a:pPr>
            <a:r>
              <a:rPr lang="en-US" dirty="0"/>
              <a:t>Awkward posture for long periods of time. </a:t>
            </a:r>
          </a:p>
          <a:p>
            <a:pPr marL="457200" indent="-457200">
              <a:buFont typeface="+mj-lt"/>
              <a:buAutoNum type="arabicPeriod"/>
            </a:pPr>
            <a:r>
              <a:rPr lang="en-US" dirty="0"/>
              <a:t>Co-worker assistance not predictable.</a:t>
            </a:r>
          </a:p>
          <a:p>
            <a:pPr marL="457200" indent="-457200">
              <a:buFont typeface="+mj-lt"/>
              <a:buAutoNum type="arabicPeriod"/>
            </a:pPr>
            <a:r>
              <a:rPr lang="en-US" dirty="0"/>
              <a:t>Many tasks require bent or twisted back. </a:t>
            </a:r>
          </a:p>
          <a:p>
            <a:pPr marL="457200" indent="-457200">
              <a:buFont typeface="+mj-lt"/>
              <a:buAutoNum type="arabicPeriod"/>
            </a:pPr>
            <a:r>
              <a:rPr lang="en-US" dirty="0"/>
              <a:t>Many lifting actions per shift cause fatigue and may exceed safe limits.</a:t>
            </a:r>
          </a:p>
          <a:p>
            <a:pPr marL="457200" indent="-457200">
              <a:buFont typeface="+mj-lt"/>
              <a:buAutoNum type="arabicPeriod"/>
            </a:pPr>
            <a:r>
              <a:rPr lang="en-US" dirty="0"/>
              <a:t>Aging of the workforce. </a:t>
            </a:r>
          </a:p>
          <a:p>
            <a:pPr marL="457200" indent="-457200">
              <a:buFont typeface="+mj-lt"/>
              <a:buAutoNum type="arabicPeriod"/>
            </a:pPr>
            <a:r>
              <a:rPr lang="en-US" dirty="0"/>
              <a:t>Inaccurate handoff communication.</a:t>
            </a:r>
          </a:p>
          <a:p>
            <a:pPr marL="457200" indent="-457200">
              <a:buFont typeface="+mj-lt"/>
              <a:buAutoNum type="arabicPeriod"/>
            </a:pPr>
            <a:r>
              <a:rPr lang="en-US" dirty="0"/>
              <a:t>Changes in working conditions over the last decades.  </a:t>
            </a:r>
          </a:p>
        </p:txBody>
      </p:sp>
    </p:spTree>
    <p:extLst>
      <p:ext uri="{BB962C8B-B14F-4D97-AF65-F5344CB8AC3E}">
        <p14:creationId xmlns:p14="http://schemas.microsoft.com/office/powerpoint/2010/main" val="2878844333"/>
      </p:ext>
    </p:extLst>
  </p:cSld>
  <p:clrMapOvr>
    <a:masterClrMapping/>
  </p:clrMapOvr>
  <mc:AlternateContent xmlns:mc="http://schemas.openxmlformats.org/markup-compatibility/2006" xmlns:p14="http://schemas.microsoft.com/office/powerpoint/2010/main">
    <mc:Choice Requires="p14">
      <p:transition spd="slow" p14:dur="2000" advTm="81032"/>
    </mc:Choice>
    <mc:Fallback xmlns="">
      <p:transition spd="slow" advTm="81032"/>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60041" y="1483417"/>
            <a:ext cx="2880828" cy="4355595"/>
          </a:xfrm>
        </p:spPr>
        <p:txBody>
          <a:bodyPr vert="horz" lIns="91440" tIns="45720" rIns="91440" bIns="45720" rtlCol="0" anchor="t">
            <a:normAutofit/>
          </a:bodyPr>
          <a:lstStyle/>
          <a:p>
            <a:pPr>
              <a:defRPr/>
            </a:pPr>
            <a:r>
              <a:rPr lang="en-US" sz="3200" kern="1200" dirty="0">
                <a:solidFill>
                  <a:schemeClr val="accent1">
                    <a:lumMod val="50000"/>
                  </a:schemeClr>
                </a:solidFill>
                <a:latin typeface="+mj-lt"/>
                <a:ea typeface="+mj-ea"/>
                <a:cs typeface="+mj-cs"/>
              </a:rPr>
              <a:t>Health Care Workers are the ONLY Occupation that Believe 100 pounds is light!</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502428" y="954181"/>
            <a:ext cx="7225748" cy="4949637"/>
          </a:xfrm>
          <a:prstGeom prst="rect">
            <a:avLst/>
          </a:prstGeom>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093507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ECF0FC6-D57B-48B6-9036-F4FFD91A4B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BA5F41B-F5E7-4F6E-B278-401E4418AA91}"/>
              </a:ext>
            </a:extLst>
          </p:cNvPr>
          <p:cNvSpPr>
            <a:spLocks noGrp="1"/>
          </p:cNvSpPr>
          <p:nvPr>
            <p:ph type="title"/>
          </p:nvPr>
        </p:nvSpPr>
        <p:spPr>
          <a:xfrm>
            <a:off x="990932" y="286603"/>
            <a:ext cx="6750987" cy="1450757"/>
          </a:xfrm>
        </p:spPr>
        <p:txBody>
          <a:bodyPr>
            <a:normAutofit/>
          </a:bodyPr>
          <a:lstStyle/>
          <a:p>
            <a:pPr algn="ctr"/>
            <a:r>
              <a:rPr lang="en-US" dirty="0">
                <a:solidFill>
                  <a:schemeClr val="accent2"/>
                </a:solidFill>
              </a:rPr>
              <a:t>Veterans cannot refuse SPHM equipment</a:t>
            </a:r>
          </a:p>
        </p:txBody>
      </p:sp>
      <p:sp>
        <p:nvSpPr>
          <p:cNvPr id="3" name="Content Placeholder 2">
            <a:extLst>
              <a:ext uri="{FF2B5EF4-FFF2-40B4-BE49-F238E27FC236}">
                <a16:creationId xmlns:a16="http://schemas.microsoft.com/office/drawing/2014/main" id="{10C986CD-E656-4739-A1E1-F827B3B388EF}"/>
              </a:ext>
            </a:extLst>
          </p:cNvPr>
          <p:cNvSpPr>
            <a:spLocks noGrp="1"/>
          </p:cNvSpPr>
          <p:nvPr>
            <p:ph idx="1"/>
          </p:nvPr>
        </p:nvSpPr>
        <p:spPr>
          <a:xfrm>
            <a:off x="1044204" y="2023962"/>
            <a:ext cx="6697715" cy="3845131"/>
          </a:xfrm>
        </p:spPr>
        <p:txBody>
          <a:bodyPr>
            <a:normAutofit/>
          </a:bodyPr>
          <a:lstStyle/>
          <a:p>
            <a:r>
              <a:rPr lang="en-US" sz="1400" dirty="0"/>
              <a:t>Except in very specific circumstances, any patient can refuse any care offered to them.  The patient cannot, however, demand that staff provide care in an unsafe manner.  If a veteran attempts to do so this should be handled as follows: </a:t>
            </a:r>
          </a:p>
          <a:p>
            <a:pPr lvl="1"/>
            <a:r>
              <a:rPr lang="en-US" sz="1400" dirty="0"/>
              <a:t>Carefully and thoroughly document the care refusal in a nursing note.  Be sure to include all options offered to, and refused by, the veteran.  If a solution is found, document it and pass on to following shifts. </a:t>
            </a:r>
          </a:p>
          <a:p>
            <a:pPr lvl="1"/>
            <a:r>
              <a:rPr lang="en-US" sz="1400" dirty="0"/>
              <a:t>Discuss the issue with the veteran to try and figure out why he or she does not wish to use the SPHM equipment. </a:t>
            </a:r>
          </a:p>
          <a:p>
            <a:pPr lvl="1"/>
            <a:r>
              <a:rPr lang="en-US" sz="1400" dirty="0"/>
              <a:t>Escalate the issue to your Unit Peer Leader or your unit management so they can find an alternative solution.  If they are unable to do so, they will escalate the issue to the Safe Patient Handling and Mobility Facility Coordinator.  </a:t>
            </a:r>
          </a:p>
          <a:p>
            <a:pPr lvl="1"/>
            <a:r>
              <a:rPr lang="en-US" sz="1400" dirty="0"/>
              <a:t>If the veteran refuses all safe methods, escalate to management again.  They will explain to the veteran that staff are not allowed to use handling and mobility methods that could endanger their own safety and/or that of the veteran.  Unit management will also explain to the veteran that a safe method must be used (per policy) or care cannot be provided. </a:t>
            </a:r>
          </a:p>
        </p:txBody>
      </p:sp>
      <p:sp>
        <p:nvSpPr>
          <p:cNvPr id="10" name="Rectangle 9">
            <a:extLst>
              <a:ext uri="{FF2B5EF4-FFF2-40B4-BE49-F238E27FC236}">
                <a16:creationId xmlns:a16="http://schemas.microsoft.com/office/drawing/2014/main" id="{717A211C-5863-4303-AC3D-AEBFDF6D6A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44150"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087519CD-2FFF-42E3-BB0C-FEAA828BA5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32823"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851744801"/>
      </p:ext>
    </p:extLst>
  </p:cSld>
  <p:clrMapOvr>
    <a:masterClrMapping/>
  </p:clrMapOvr>
  <mc:AlternateContent xmlns:mc="http://schemas.openxmlformats.org/markup-compatibility/2006" xmlns:p14="http://schemas.microsoft.com/office/powerpoint/2010/main">
    <mc:Choice Requires="p14">
      <p:transition spd="slow" p14:dur="2000" advTm="112649"/>
    </mc:Choice>
    <mc:Fallback xmlns="">
      <p:transition spd="slow" advTm="112649"/>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28109-2AD2-442D-BF65-EB955A27637D}"/>
              </a:ext>
            </a:extLst>
          </p:cNvPr>
          <p:cNvSpPr>
            <a:spLocks noGrp="1"/>
          </p:cNvSpPr>
          <p:nvPr>
            <p:ph type="title"/>
          </p:nvPr>
        </p:nvSpPr>
        <p:spPr>
          <a:xfrm>
            <a:off x="4965430" y="629268"/>
            <a:ext cx="6586491" cy="1286160"/>
          </a:xfrm>
        </p:spPr>
        <p:txBody>
          <a:bodyPr anchor="b">
            <a:normAutofit/>
          </a:bodyPr>
          <a:lstStyle/>
          <a:p>
            <a:r>
              <a:rPr lang="en-US" sz="4100" dirty="0"/>
              <a:t>To whom can you direct  questions?</a:t>
            </a:r>
          </a:p>
        </p:txBody>
      </p:sp>
      <p:sp>
        <p:nvSpPr>
          <p:cNvPr id="3" name="Content Placeholder 2">
            <a:extLst>
              <a:ext uri="{FF2B5EF4-FFF2-40B4-BE49-F238E27FC236}">
                <a16:creationId xmlns:a16="http://schemas.microsoft.com/office/drawing/2014/main" id="{3BC97A37-2E47-47B7-85B8-F9A68FBA1FBE}"/>
              </a:ext>
            </a:extLst>
          </p:cNvPr>
          <p:cNvSpPr>
            <a:spLocks noGrp="1"/>
          </p:cNvSpPr>
          <p:nvPr>
            <p:ph idx="1"/>
          </p:nvPr>
        </p:nvSpPr>
        <p:spPr>
          <a:xfrm>
            <a:off x="4965430" y="2110154"/>
            <a:ext cx="6586489" cy="3785419"/>
          </a:xfrm>
        </p:spPr>
        <p:txBody>
          <a:bodyPr>
            <a:normAutofit/>
          </a:bodyPr>
          <a:lstStyle/>
          <a:p>
            <a:r>
              <a:rPr lang="en-US" sz="1700" dirty="0"/>
              <a:t>Every unit has leaders who have extra training in SPHM equipment and technology.  They are the </a:t>
            </a:r>
            <a:r>
              <a:rPr lang="en-US" sz="1700" b="1" dirty="0"/>
              <a:t>Unit Peer Leaders (UPLs).</a:t>
            </a:r>
          </a:p>
          <a:p>
            <a:pPr lvl="1"/>
            <a:r>
              <a:rPr lang="en-US" sz="1700" dirty="0"/>
              <a:t>The UPL helps with ergonomic assessments.</a:t>
            </a:r>
          </a:p>
          <a:p>
            <a:pPr lvl="1"/>
            <a:r>
              <a:rPr lang="en-US" sz="1700" dirty="0"/>
              <a:t>The UPL signs off clinical skills competencies. </a:t>
            </a:r>
          </a:p>
          <a:p>
            <a:pPr lvl="1"/>
            <a:r>
              <a:rPr lang="en-US" sz="1700" dirty="0"/>
              <a:t>The UPL provides education on SPHM issues when necessary. </a:t>
            </a:r>
          </a:p>
          <a:p>
            <a:pPr lvl="1"/>
            <a:r>
              <a:rPr lang="en-US" sz="1700" dirty="0"/>
              <a:t>The UPL communicates needs to unit management and to the program manager. </a:t>
            </a:r>
          </a:p>
          <a:p>
            <a:pPr lvl="1"/>
            <a:endParaRPr lang="en-US" sz="1700" dirty="0"/>
          </a:p>
          <a:p>
            <a:pPr lvl="1"/>
            <a:r>
              <a:rPr lang="en-US" sz="1700" dirty="0"/>
              <a:t>If you cannot locate a UPL, contact unit management with questions.  </a:t>
            </a:r>
          </a:p>
          <a:p>
            <a:pPr lvl="1"/>
            <a:r>
              <a:rPr lang="en-US" sz="1700" dirty="0"/>
              <a:t>If unit management cannot assist, contact the SPHM Program Manager.</a:t>
            </a:r>
          </a:p>
        </p:txBody>
      </p:sp>
      <p:pic>
        <p:nvPicPr>
          <p:cNvPr id="8194" name="Picture 2" descr="Freehand drawn cartoon question mark Royalty Free Vector">
            <a:extLst>
              <a:ext uri="{FF2B5EF4-FFF2-40B4-BE49-F238E27FC236}">
                <a16:creationId xmlns:a16="http://schemas.microsoft.com/office/drawing/2014/main" id="{5E489C47-A7E1-4DAE-BD7A-D94841E4F49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4467" r="12618" b="9247"/>
          <a:stretch/>
        </p:blipFill>
        <p:spPr bwMode="auto">
          <a:xfrm>
            <a:off x="0" y="317097"/>
            <a:ext cx="4635571" cy="6223805"/>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066835"/>
      </p:ext>
    </p:extLst>
  </p:cSld>
  <p:clrMapOvr>
    <a:masterClrMapping/>
  </p:clrMapOvr>
  <mc:AlternateContent xmlns:mc="http://schemas.openxmlformats.org/markup-compatibility/2006" xmlns:p14="http://schemas.microsoft.com/office/powerpoint/2010/main">
    <mc:Choice Requires="p14">
      <p:transition spd="slow" p14:dur="2000" advTm="72192"/>
    </mc:Choice>
    <mc:Fallback xmlns="">
      <p:transition spd="slow" advTm="72192"/>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FAEDF91-DF20-42E5-88C9-DCEB45FFDA4C}"/>
              </a:ext>
            </a:extLst>
          </p:cNvPr>
          <p:cNvPicPr>
            <a:picLocks noChangeAspect="1"/>
          </p:cNvPicPr>
          <p:nvPr/>
        </p:nvPicPr>
        <p:blipFill rotWithShape="1">
          <a:blip r:embed="rId2">
            <a:alphaModFix amt="35000"/>
          </a:blip>
          <a:srcRect t="8018" b="7712"/>
          <a:stretch/>
        </p:blipFill>
        <p:spPr>
          <a:xfrm>
            <a:off x="20" y="10"/>
            <a:ext cx="12191980" cy="6857990"/>
          </a:xfrm>
          <a:prstGeom prst="rect">
            <a:avLst/>
          </a:prstGeom>
        </p:spPr>
      </p:pic>
      <p:sp>
        <p:nvSpPr>
          <p:cNvPr id="2" name="Title 1">
            <a:extLst>
              <a:ext uri="{FF2B5EF4-FFF2-40B4-BE49-F238E27FC236}">
                <a16:creationId xmlns:a16="http://schemas.microsoft.com/office/drawing/2014/main" id="{347A317A-FECC-48B3-9A13-5F4349A77803}"/>
              </a:ext>
            </a:extLst>
          </p:cNvPr>
          <p:cNvSpPr>
            <a:spLocks noGrp="1"/>
          </p:cNvSpPr>
          <p:nvPr>
            <p:ph type="title"/>
          </p:nvPr>
        </p:nvSpPr>
        <p:spPr>
          <a:xfrm>
            <a:off x="838200" y="365125"/>
            <a:ext cx="10515600" cy="1325563"/>
          </a:xfrm>
        </p:spPr>
        <p:txBody>
          <a:bodyPr>
            <a:normAutofit/>
          </a:bodyPr>
          <a:lstStyle/>
          <a:p>
            <a:r>
              <a:rPr lang="en-US" sz="6000" dirty="0">
                <a:solidFill>
                  <a:schemeClr val="accent1">
                    <a:lumMod val="50000"/>
                  </a:schemeClr>
                </a:solidFill>
              </a:rPr>
              <a:t>Take the TIME</a:t>
            </a:r>
          </a:p>
        </p:txBody>
      </p:sp>
      <p:graphicFrame>
        <p:nvGraphicFramePr>
          <p:cNvPr id="5" name="Content Placeholder 2">
            <a:extLst>
              <a:ext uri="{FF2B5EF4-FFF2-40B4-BE49-F238E27FC236}">
                <a16:creationId xmlns:a16="http://schemas.microsoft.com/office/drawing/2014/main" id="{5CC4E070-AA08-49FC-8DF5-7F2EEC2F23AF}"/>
              </a:ext>
            </a:extLst>
          </p:cNvPr>
          <p:cNvGraphicFramePr>
            <a:graphicFrameLocks noGrp="1"/>
          </p:cNvGraphicFramePr>
          <p:nvPr>
            <p:ph idx="1"/>
          </p:nvPr>
        </p:nvGraphicFramePr>
        <p:xfrm>
          <a:off x="838200" y="1825625"/>
          <a:ext cx="10515600" cy="26964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a:extLst>
              <a:ext uri="{FF2B5EF4-FFF2-40B4-BE49-F238E27FC236}">
                <a16:creationId xmlns:a16="http://schemas.microsoft.com/office/drawing/2014/main" id="{19BFBE88-8A03-470E-B623-FFC48E1AA54E}"/>
              </a:ext>
            </a:extLst>
          </p:cNvPr>
          <p:cNvSpPr txBox="1"/>
          <p:nvPr/>
        </p:nvSpPr>
        <p:spPr>
          <a:xfrm>
            <a:off x="1270000" y="5286895"/>
            <a:ext cx="9296400" cy="707886"/>
          </a:xfrm>
          <a:prstGeom prst="rect">
            <a:avLst/>
          </a:prstGeom>
          <a:noFill/>
        </p:spPr>
        <p:txBody>
          <a:bodyPr wrap="square" rtlCol="0">
            <a:spAutoFit/>
          </a:bodyPr>
          <a:lstStyle/>
          <a:p>
            <a:r>
              <a:rPr lang="en-US" sz="4000" dirty="0"/>
              <a:t>REMEMBER:  Do not lift more than 35 lbs. !</a:t>
            </a:r>
          </a:p>
        </p:txBody>
      </p:sp>
    </p:spTree>
    <p:extLst>
      <p:ext uri="{BB962C8B-B14F-4D97-AF65-F5344CB8AC3E}">
        <p14:creationId xmlns:p14="http://schemas.microsoft.com/office/powerpoint/2010/main" val="33926954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5" name="Rectangle 1030">
            <a:extLst>
              <a:ext uri="{FF2B5EF4-FFF2-40B4-BE49-F238E27FC236}">
                <a16:creationId xmlns:a16="http://schemas.microsoft.com/office/drawing/2014/main" id="{AE1AF813-2D2F-4B78-9216-388AF161ED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36" name="Rectangle 1032">
            <a:extLst>
              <a:ext uri="{FF2B5EF4-FFF2-40B4-BE49-F238E27FC236}">
                <a16:creationId xmlns:a16="http://schemas.microsoft.com/office/drawing/2014/main" id="{C47181D2-95D5-4439-9BDF-14D4FDC7BD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026" name="Picture 2" descr="1435+ Editable Thank You Images for PowerPoint | SlideUpLift">
            <a:extLst>
              <a:ext uri="{FF2B5EF4-FFF2-40B4-BE49-F238E27FC236}">
                <a16:creationId xmlns:a16="http://schemas.microsoft.com/office/drawing/2014/main" id="{D27E109A-B6C7-D514-4952-6E24BB4919E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3732" b="11268"/>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9034858"/>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e95f1b23-abaf-45ee-821d-b7ab251ab3bf}" enabled="0" method="" siteId="{e95f1b23-abaf-45ee-821d-b7ab251ab3bf}" removed="1"/>
</clbl:labelList>
</file>

<file path=docProps/app.xml><?xml version="1.0" encoding="utf-8"?>
<Properties xmlns="http://schemas.openxmlformats.org/officeDocument/2006/extended-properties" xmlns:vt="http://schemas.openxmlformats.org/officeDocument/2006/docPropsVTypes">
  <Template/>
  <TotalTime>5257</TotalTime>
  <Words>1539</Words>
  <Application>Microsoft Office PowerPoint</Application>
  <PresentationFormat>Widescreen</PresentationFormat>
  <Paragraphs>130</Paragraphs>
  <Slides>18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Calibri</vt:lpstr>
      <vt:lpstr>Calibri Light</vt:lpstr>
      <vt:lpstr>Retrospect</vt:lpstr>
      <vt:lpstr>SPHM (Safe Patient Handling &amp; Mobility)</vt:lpstr>
      <vt:lpstr>PowerPoint Presentation</vt:lpstr>
      <vt:lpstr>VHA Directive</vt:lpstr>
      <vt:lpstr>The Purpose of the SPHM program</vt:lpstr>
      <vt:lpstr>PowerPoint Presentation</vt:lpstr>
      <vt:lpstr>PowerPoint Presentation</vt:lpstr>
      <vt:lpstr>Musculoskeletal Disorders </vt:lpstr>
      <vt:lpstr>Cumulative trauma does not cause pain until sever injury has occurred</vt:lpstr>
      <vt:lpstr>Your body and spine act as levers and fulcrums when lifting.</vt:lpstr>
      <vt:lpstr>With this in mind: How much force is really being applied to the low back of a healthcare worker?</vt:lpstr>
      <vt:lpstr>What are considered high risk patient care activities?</vt:lpstr>
      <vt:lpstr>What patient factors make patient handling high risk?</vt:lpstr>
      <vt:lpstr>What worker factors make patient handling high risk?</vt:lpstr>
      <vt:lpstr>Health Care Workers are the ONLY Occupation that Believe 100 pounds is light!</vt:lpstr>
      <vt:lpstr>Veterans cannot refuse SPHM equipment</vt:lpstr>
      <vt:lpstr>To whom can you direct  questions?</vt:lpstr>
      <vt:lpstr>Take the TIME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Safe Patient Handling and Mobitiy</dc:title>
  <dc:creator>Reese, Jason D.</dc:creator>
  <cp:lastModifiedBy>Daniel Agbogidi</cp:lastModifiedBy>
  <cp:revision>31</cp:revision>
  <dcterms:created xsi:type="dcterms:W3CDTF">2022-11-13T12:03:12Z</dcterms:created>
  <dcterms:modified xsi:type="dcterms:W3CDTF">2026-10-06T17:52:05Z</dcterms:modified>
</cp:coreProperties>
</file>