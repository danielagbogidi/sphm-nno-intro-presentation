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7"/>
  </p:notesMasterIdLst>
  <p:sldIdLst>
    <p:sldId id="256" r:id="rId5"/>
    <p:sldId id="275" r:id="rId6"/>
    <p:sldId id="259" r:id="rId7"/>
    <p:sldId id="260" r:id="rId8"/>
    <p:sldId id="262" r:id="rId9"/>
    <p:sldId id="271" r:id="rId10"/>
    <p:sldId id="272" r:id="rId11"/>
    <p:sldId id="273" r:id="rId12"/>
    <p:sldId id="274" r:id="rId13"/>
    <p:sldId id="263" r:id="rId14"/>
    <p:sldId id="264" r:id="rId15"/>
    <p:sldId id="276" r:id="rId16"/>
    <p:sldId id="267" r:id="rId17"/>
    <p:sldId id="282" r:id="rId18"/>
    <p:sldId id="279" r:id="rId19"/>
    <p:sldId id="283" r:id="rId20"/>
    <p:sldId id="280" r:id="rId21"/>
    <p:sldId id="284" r:id="rId22"/>
    <p:sldId id="269" r:id="rId23"/>
    <p:sldId id="285" r:id="rId24"/>
    <p:sldId id="281" r:id="rId25"/>
    <p:sldId id="265" r:id="rId26"/>
  </p:sldIdLst>
  <p:sldSz cx="9144000" cy="6858000" type="screen4x3"/>
  <p:notesSz cx="7010400" cy="9236075"/>
  <p:custShowLst>
    <p:custShow name="Custom Show 1" id="0">
      <p:sldLst>
        <p:sld r:id="rId5"/>
        <p:sld r:id="rId7"/>
        <p:sld r:id="rId8"/>
        <p:sld r:id="rId9"/>
        <p:sld r:id="rId14"/>
        <p:sld r:id="rId15"/>
        <p:sld r:id="rId26"/>
        <p:sld r:id="rId23"/>
        <p:sld r:id="rId17"/>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4A2B95-F7BA-4FC3-B846-3CDC439438ED}" v="24" dt="2026-10-06T05:08:43.9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15" autoAdjust="0"/>
    <p:restoredTop sz="86369" autoAdjust="0"/>
  </p:normalViewPr>
  <p:slideViewPr>
    <p:cSldViewPr>
      <p:cViewPr varScale="1">
        <p:scale>
          <a:sx n="49" d="100"/>
          <a:sy n="49" d="100"/>
        </p:scale>
        <p:origin x="53" y="46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a:defRPr sz="1200"/>
            </a:lvl1pPr>
          </a:lstStyle>
          <a:p>
            <a:endParaRPr lang="en-US" dirty="0"/>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a:defRPr sz="1200"/>
            </a:lvl1pPr>
          </a:lstStyle>
          <a:p>
            <a:fld id="{0D6304B7-6560-41B6-9379-BEDFC834FB9B}" type="datetimeFigureOut">
              <a:rPr lang="en-US" smtClean="0"/>
              <a:pPr/>
              <a:t>10/5/2026</a:t>
            </a:fld>
            <a:endParaRPr lang="en-US" dirty="0"/>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2830" tIns="46415" rIns="92830" bIns="46415" rtlCol="0" anchor="ctr"/>
          <a:lstStyle/>
          <a:p>
            <a:endParaRPr lang="en-US" dirty="0"/>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a:defRPr sz="1200"/>
            </a:lvl1pPr>
          </a:lstStyle>
          <a:p>
            <a:fld id="{2012352B-F7A3-4523-889A-B2A3EE822C34}" type="slidenum">
              <a:rPr lang="en-US" smtClean="0"/>
              <a:pPr/>
              <a:t>‹#›</a:t>
            </a:fld>
            <a:endParaRPr lang="en-US" dirty="0"/>
          </a:p>
        </p:txBody>
      </p:sp>
    </p:spTree>
    <p:extLst>
      <p:ext uri="{BB962C8B-B14F-4D97-AF65-F5344CB8AC3E}">
        <p14:creationId xmlns:p14="http://schemas.microsoft.com/office/powerpoint/2010/main" val="3326627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 3000  3:35 mins</a:t>
            </a:r>
          </a:p>
          <a:p>
            <a:r>
              <a:rPr lang="en-US" dirty="0"/>
              <a:t>Steady 4:35 mins</a:t>
            </a:r>
          </a:p>
        </p:txBody>
      </p:sp>
      <p:sp>
        <p:nvSpPr>
          <p:cNvPr id="4" name="Slide Number Placeholder 3"/>
          <p:cNvSpPr>
            <a:spLocks noGrp="1"/>
          </p:cNvSpPr>
          <p:nvPr>
            <p:ph type="sldNum" sz="quarter" idx="5"/>
          </p:nvPr>
        </p:nvSpPr>
        <p:spPr/>
        <p:txBody>
          <a:bodyPr/>
          <a:lstStyle/>
          <a:p>
            <a:fld id="{2012352B-F7A3-4523-889A-B2A3EE822C34}" type="slidenum">
              <a:rPr lang="en-US" smtClean="0"/>
              <a:pPr/>
              <a:t>13</a:t>
            </a:fld>
            <a:endParaRPr lang="en-US" dirty="0"/>
          </a:p>
        </p:txBody>
      </p:sp>
    </p:spTree>
    <p:extLst>
      <p:ext uri="{BB962C8B-B14F-4D97-AF65-F5344CB8AC3E}">
        <p14:creationId xmlns:p14="http://schemas.microsoft.com/office/powerpoint/2010/main" val="1124443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3:47 mins</a:t>
            </a:r>
          </a:p>
          <a:p>
            <a:endParaRPr lang="en-US" dirty="0"/>
          </a:p>
        </p:txBody>
      </p:sp>
      <p:sp>
        <p:nvSpPr>
          <p:cNvPr id="4" name="Slide Number Placeholder 3"/>
          <p:cNvSpPr>
            <a:spLocks noGrp="1"/>
          </p:cNvSpPr>
          <p:nvPr>
            <p:ph type="sldNum" sz="quarter" idx="5"/>
          </p:nvPr>
        </p:nvSpPr>
        <p:spPr/>
        <p:txBody>
          <a:bodyPr/>
          <a:lstStyle/>
          <a:p>
            <a:fld id="{2012352B-F7A3-4523-889A-B2A3EE822C34}" type="slidenum">
              <a:rPr lang="en-US" smtClean="0"/>
              <a:pPr/>
              <a:t>15</a:t>
            </a:fld>
            <a:endParaRPr lang="en-US" dirty="0"/>
          </a:p>
        </p:txBody>
      </p:sp>
    </p:spTree>
    <p:extLst>
      <p:ext uri="{BB962C8B-B14F-4D97-AF65-F5344CB8AC3E}">
        <p14:creationId xmlns:p14="http://schemas.microsoft.com/office/powerpoint/2010/main" val="173902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3:22 mins</a:t>
            </a:r>
          </a:p>
        </p:txBody>
      </p:sp>
      <p:sp>
        <p:nvSpPr>
          <p:cNvPr id="4" name="Slide Number Placeholder 3"/>
          <p:cNvSpPr>
            <a:spLocks noGrp="1"/>
          </p:cNvSpPr>
          <p:nvPr>
            <p:ph type="sldNum" sz="quarter" idx="5"/>
          </p:nvPr>
        </p:nvSpPr>
        <p:spPr/>
        <p:txBody>
          <a:bodyPr/>
          <a:lstStyle/>
          <a:p>
            <a:fld id="{2012352B-F7A3-4523-889A-B2A3EE822C34}" type="slidenum">
              <a:rPr lang="en-US" smtClean="0"/>
              <a:pPr/>
              <a:t>17</a:t>
            </a:fld>
            <a:endParaRPr lang="en-US" dirty="0"/>
          </a:p>
        </p:txBody>
      </p:sp>
    </p:spTree>
    <p:extLst>
      <p:ext uri="{BB962C8B-B14F-4D97-AF65-F5344CB8AC3E}">
        <p14:creationId xmlns:p14="http://schemas.microsoft.com/office/powerpoint/2010/main" val="183856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F1ED6BED-F6C4-448D-A499-F7EAE3BAE9C9}" type="datetimeFigureOut">
              <a:rPr lang="en-US" smtClean="0"/>
              <a:pPr/>
              <a:t>10/5/2026</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96F3B079-3A15-42FA-A3F2-B2FFDF775CC0}" type="slidenum">
              <a:rPr lang="en-US" smtClean="0"/>
              <a:pPr/>
              <a:t>‹#›</a:t>
            </a:fld>
            <a:endParaRPr lang="en-US" dirty="0"/>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F1ED6BED-F6C4-448D-A499-F7EAE3BAE9C9}" type="datetimeFigureOut">
              <a:rPr lang="en-US" smtClean="0"/>
              <a:pPr/>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361688" y="1026372"/>
            <a:ext cx="457200" cy="441325"/>
          </a:xfrm>
        </p:spPr>
        <p:txBody>
          <a:bodyPr/>
          <a:lstStyle/>
          <a:p>
            <a:fld id="{96F3B079-3A15-42FA-A3F2-B2FFDF775CC0}" type="slidenum">
              <a:rPr lang="en-US" smtClean="0"/>
              <a:pPr/>
              <a:t>‹#›</a:t>
            </a:fld>
            <a:endParaRPr lang="en-US" dirty="0"/>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F1ED6BED-F6C4-448D-A499-F7EAE3BAE9C9}" type="datetimeFigureOut">
              <a:rPr lang="en-US" smtClean="0"/>
              <a:pPr/>
              <a:t>10/5/2026</a:t>
            </a:fld>
            <a:endParaRPr lang="en-US" dirty="0"/>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96F3B079-3A15-42FA-A3F2-B2FFDF775CC0}" type="slidenum">
              <a:rPr lang="en-US" smtClean="0"/>
              <a:pPr/>
              <a:t>‹#›</a:t>
            </a:fld>
            <a:endParaRPr lang="en-US" dirty="0"/>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fld id="{F1ED6BED-F6C4-448D-A499-F7EAE3BAE9C9}" type="datetimeFigureOut">
              <a:rPr lang="en-US" smtClean="0"/>
              <a:pPr/>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6F3B079-3A15-42FA-A3F2-B2FFDF775CC0}" type="slidenum">
              <a:rPr lang="en-US" smtClean="0"/>
              <a:pPr/>
              <a:t>‹#›</a:t>
            </a:fld>
            <a:endParaRPr lang="en-US" dirty="0"/>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F1ED6BED-F6C4-448D-A499-F7EAE3BAE9C9}" type="datetimeFigureOut">
              <a:rPr lang="en-US" smtClean="0"/>
              <a:pPr/>
              <a:t>10/5/2026</a:t>
            </a:fld>
            <a:endParaRPr lang="en-US" dirty="0"/>
          </a:p>
        </p:txBody>
      </p:sp>
      <p:sp>
        <p:nvSpPr>
          <p:cNvPr id="8" name="Footer Placeholder 7"/>
          <p:cNvSpPr>
            <a:spLocks noGrp="1"/>
          </p:cNvSpPr>
          <p:nvPr>
            <p:ph type="ftr" sz="quarter" idx="11"/>
          </p:nvPr>
        </p:nvSpPr>
        <p:spPr>
          <a:xfrm>
            <a:off x="304800" y="6409944"/>
            <a:ext cx="3581400" cy="365760"/>
          </a:xfrm>
        </p:spPr>
        <p:txBody>
          <a:bodyPr/>
          <a:lstStyle/>
          <a:p>
            <a:endParaRPr lang="en-US" dirty="0"/>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96F3B079-3A15-42FA-A3F2-B2FFDF775CC0}" type="slidenum">
              <a:rPr lang="en-US" smtClean="0"/>
              <a:pPr/>
              <a:t>‹#›</a:t>
            </a:fld>
            <a:endParaRPr lang="en-US" dirty="0"/>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F1ED6BED-F6C4-448D-A499-F7EAE3BAE9C9}" type="datetimeFigureOut">
              <a:rPr lang="en-US" smtClean="0"/>
              <a:pPr/>
              <a:t>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a:xfrm>
            <a:off x="4343400" y="1036020"/>
            <a:ext cx="457200" cy="441325"/>
          </a:xfrm>
        </p:spPr>
        <p:txBody>
          <a:bodyPr/>
          <a:lstStyle/>
          <a:p>
            <a:fld id="{96F3B079-3A15-42FA-A3F2-B2FFDF775CC0}"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F1ED6BED-F6C4-448D-A499-F7EAE3BAE9C9}" type="datetimeFigureOut">
              <a:rPr lang="en-US" smtClean="0"/>
              <a:pPr/>
              <a:t>10/5/2026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96F3B079-3A15-42FA-A3F2-B2FFDF775CC0}"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96F3B079-3A15-42FA-A3F2-B2FFDF775CC0}" type="slidenum">
              <a:rPr lang="en-US" smtClean="0"/>
              <a:pPr/>
              <a:t>‹#›</a:t>
            </a:fld>
            <a:endParaRPr lang="en-US" dirty="0"/>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Date Placeholder 4"/>
          <p:cNvSpPr>
            <a:spLocks noGrp="1"/>
          </p:cNvSpPr>
          <p:nvPr>
            <p:ph type="dt" sz="half" idx="10"/>
          </p:nvPr>
        </p:nvSpPr>
        <p:spPr/>
        <p:txBody>
          <a:bodyPr/>
          <a:lstStyle/>
          <a:p>
            <a:fld id="{F1ED6BED-F6C4-448D-A499-F7EAE3BAE9C9}" type="datetimeFigureOut">
              <a:rPr lang="en-US" smtClean="0"/>
              <a:pPr/>
              <a:t>10/5/2026</a:t>
            </a:fld>
            <a:endParaRPr lang="en-US" dirty="0"/>
          </a:p>
        </p:txBody>
      </p:sp>
      <p:sp>
        <p:nvSpPr>
          <p:cNvPr id="6" name="Footer Placeholder 5"/>
          <p:cNvSpPr>
            <a:spLocks noGrp="1"/>
          </p:cNvSpPr>
          <p:nvPr>
            <p:ph type="ftr" sz="quarter" idx="11"/>
          </p:nvPr>
        </p:nvSpPr>
        <p:spPr>
          <a:xfrm>
            <a:off x="301752" y="6410848"/>
            <a:ext cx="3383280" cy="365760"/>
          </a:xfrm>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7" name="Slide Number Placeholder 6"/>
          <p:cNvSpPr>
            <a:spLocks noGrp="1"/>
          </p:cNvSpPr>
          <p:nvPr>
            <p:ph type="sldNum" sz="quarter" idx="12"/>
          </p:nvPr>
        </p:nvSpPr>
        <p:spPr>
          <a:xfrm>
            <a:off x="1371600" y="312738"/>
            <a:ext cx="457200" cy="441325"/>
          </a:xfrm>
        </p:spPr>
        <p:txBody>
          <a:bodyPr/>
          <a:lstStyle/>
          <a:p>
            <a:fld id="{96F3B079-3A15-42FA-A3F2-B2FFDF775CC0}" type="slidenum">
              <a:rPr lang="en-US" smtClean="0"/>
              <a:pPr/>
              <a:t>‹#›</a:t>
            </a:fld>
            <a:endParaRPr lang="en-US" dirty="0"/>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dirty="0"/>
              <a:t>Click icon to add picture</a:t>
            </a:r>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Date Placeholder 4"/>
          <p:cNvSpPr>
            <a:spLocks noGrp="1"/>
          </p:cNvSpPr>
          <p:nvPr>
            <p:ph type="dt" sz="half" idx="10"/>
          </p:nvPr>
        </p:nvSpPr>
        <p:spPr>
          <a:xfrm>
            <a:off x="5788152" y="6404984"/>
            <a:ext cx="3044952" cy="365760"/>
          </a:xfrm>
        </p:spPr>
        <p:txBody>
          <a:bodyPr/>
          <a:lstStyle/>
          <a:p>
            <a:fld id="{F1ED6BED-F6C4-448D-A499-F7EAE3BAE9C9}" type="datetimeFigureOut">
              <a:rPr lang="en-US" smtClean="0"/>
              <a:pPr/>
              <a:t>10/5/2026</a:t>
            </a:fld>
            <a:endParaRPr lang="en-US" dirty="0"/>
          </a:p>
        </p:txBody>
      </p:sp>
      <p:sp>
        <p:nvSpPr>
          <p:cNvPr id="6" name="Footer Placeholder 5"/>
          <p:cNvSpPr>
            <a:spLocks noGrp="1"/>
          </p:cNvSpPr>
          <p:nvPr>
            <p:ph type="ftr" sz="quarter" idx="11"/>
          </p:nvPr>
        </p:nvSpPr>
        <p:spPr>
          <a:xfrm>
            <a:off x="301752" y="6410848"/>
            <a:ext cx="3584448" cy="365760"/>
          </a:xfrm>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1ED6BED-F6C4-448D-A499-F7EAE3BAE9C9}" type="datetimeFigureOut">
              <a:rPr lang="en-US" smtClean="0"/>
              <a:pPr/>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6F3B079-3A15-42FA-A3F2-B2FFDF775CC0}"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6915912" y="3009901"/>
            <a:ext cx="457200" cy="441325"/>
          </a:xfrm>
        </p:spPr>
        <p:txBody>
          <a:bodyPr/>
          <a:lstStyle/>
          <a:p>
            <a:fld id="{96F3B079-3A15-42FA-A3F2-B2FFDF775CC0}" type="slidenum">
              <a:rPr lang="en-US" smtClean="0"/>
              <a:pPr/>
              <a:t>‹#›</a:t>
            </a:fld>
            <a:endParaRPr lang="en-US" dirty="0"/>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1ED6BED-F6C4-448D-A499-F7EAE3BAE9C9}" type="datetimeFigureOut">
              <a:rPr lang="en-US" smtClean="0"/>
              <a:pPr/>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F1ED6BED-F6C4-448D-A499-F7EAE3BAE9C9}" type="datetimeFigureOut">
              <a:rPr lang="en-US" smtClean="0"/>
              <a:pPr/>
              <a:t>10/5/2026</a:t>
            </a:fld>
            <a:endParaRPr lang="en-US" dirty="0"/>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dirty="0"/>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96F3B079-3A15-42FA-A3F2-B2FFDF775CC0}" type="slidenum">
              <a:rPr lang="en-US" smtClean="0"/>
              <a:pPr/>
              <a:t>‹#›</a:t>
            </a:fld>
            <a:endParaRPr lang="en-US" dirty="0"/>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cid:image003.jpg@01CE83AE.05745020" TargetMode="External"/><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cid:image004.jpg@01CE83AE.05745020" TargetMode="Externa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cid:image005.jpg@01CE83AE.05745020" TargetMode="External"/><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jpg"/><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youtu.be/lTtYo0gv-0c"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7.xml"/><Relationship Id="rId1" Type="http://schemas.openxmlformats.org/officeDocument/2006/relationships/video" Target="https://www.youtube.com/embed/lTtYo0gv-0c?feature=oembed"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youtu.be/4yJVH2rnehM"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7.xml"/><Relationship Id="rId1" Type="http://schemas.openxmlformats.org/officeDocument/2006/relationships/video" Target="https://www.youtube.com/embed/4yJVH2rnehM?feature=oembed"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youtu.be/kh2KM0ooxIY"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7.xml"/><Relationship Id="rId1" Type="http://schemas.openxmlformats.org/officeDocument/2006/relationships/video" Target="https://www.youtube.com/embed/kh2KM0ooxIY?feature=oembed"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hyperlink" Target="https://youtu.be/fTBAI7H9-Eg" TargetMode="Externa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slideLayout" Target="../slideLayouts/slideLayout7.xml"/><Relationship Id="rId1" Type="http://schemas.openxmlformats.org/officeDocument/2006/relationships/video" Target="https://www.youtube.com/embed/fTBAI7H9-Eg?feature=oembe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www.nursingworld.org/osh" TargetMode="External"/><Relationship Id="rId2" Type="http://schemas.openxmlformats.org/officeDocument/2006/relationships/hyperlink" Target="http://www.visn8.med.va.gov/patientsafetycenter" TargetMode="External"/><Relationship Id="rId1" Type="http://schemas.openxmlformats.org/officeDocument/2006/relationships/slideLayout" Target="../slideLayouts/slideLayout2.xml"/><Relationship Id="rId4" Type="http://schemas.openxmlformats.org/officeDocument/2006/relationships/hyperlink" Target="http://www.osha.gov/SLTC/ergonomics/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SAFE PATIENT HANDLING and Mobility</a:t>
            </a:r>
          </a:p>
        </p:txBody>
      </p:sp>
      <p:sp>
        <p:nvSpPr>
          <p:cNvPr id="4" name="TextBox 3">
            <a:extLst>
              <a:ext uri="{FF2B5EF4-FFF2-40B4-BE49-F238E27FC236}">
                <a16:creationId xmlns:a16="http://schemas.microsoft.com/office/drawing/2014/main" id="{D8C6FA00-75BC-776F-5D02-931C1D6BC9C1}"/>
              </a:ext>
            </a:extLst>
          </p:cNvPr>
          <p:cNvSpPr txBox="1"/>
          <p:nvPr/>
        </p:nvSpPr>
        <p:spPr>
          <a:xfrm>
            <a:off x="1946922" y="3429000"/>
            <a:ext cx="5044971" cy="1508105"/>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Reggie Diaz Lamborn, BSN, RN, CSPHA</a:t>
            </a:r>
          </a:p>
          <a:p>
            <a:r>
              <a:rPr lang="en-US" dirty="0">
                <a:latin typeface="Times New Roman" panose="02020603050405020304" pitchFamily="18" charset="0"/>
                <a:cs typeface="Times New Roman" panose="02020603050405020304" pitchFamily="18" charset="0"/>
              </a:rPr>
              <a:t>Safe Patient Handling &amp; Mobility Program Manager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Office: 559-255-6100 x5743</a:t>
            </a:r>
          </a:p>
          <a:p>
            <a:r>
              <a:rPr lang="en-US" dirty="0">
                <a:latin typeface="Times New Roman" panose="02020603050405020304" pitchFamily="18" charset="0"/>
                <a:cs typeface="Times New Roman" panose="02020603050405020304" pitchFamily="18" charset="0"/>
              </a:rPr>
              <a:t>VA Mobile: 559-287-1227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155" y="228600"/>
            <a:ext cx="2891441" cy="5168185"/>
          </a:xfrm>
        </p:spPr>
        <p:txBody>
          <a:bodyPr>
            <a:normAutofit/>
          </a:bodyPr>
          <a:lstStyle/>
          <a:p>
            <a:r>
              <a:rPr lang="en-US" sz="2250" dirty="0">
                <a:solidFill>
                  <a:schemeClr val="tx1"/>
                </a:solidFill>
              </a:rPr>
              <a:t>Did you know? Direct Patient Care Workers have 7 times the national average of musculoskeletal disorders. Lifting over 35 </a:t>
            </a:r>
            <a:r>
              <a:rPr lang="en-US" sz="2250" dirty="0" err="1">
                <a:solidFill>
                  <a:schemeClr val="tx1"/>
                </a:solidFill>
              </a:rPr>
              <a:t>lbs</a:t>
            </a:r>
            <a:r>
              <a:rPr lang="en-US" sz="2250" dirty="0">
                <a:solidFill>
                  <a:schemeClr val="tx1"/>
                </a:solidFill>
              </a:rPr>
              <a:t> without use of assistive equipment puts you at risk for injury!</a:t>
            </a:r>
          </a:p>
        </p:txBody>
      </p:sp>
      <p:pic>
        <p:nvPicPr>
          <p:cNvPr id="4" name="Content Placeholder 3"/>
          <p:cNvPicPr>
            <a:picLocks noGrp="1" noChangeAspect="1"/>
          </p:cNvPicPr>
          <p:nvPr>
            <p:ph idx="1"/>
          </p:nvPr>
        </p:nvPicPr>
        <p:blipFill>
          <a:blip r:embed="rId2"/>
          <a:stretch>
            <a:fillRect/>
          </a:stretch>
        </p:blipFill>
        <p:spPr>
          <a:xfrm>
            <a:off x="3193841" y="2612162"/>
            <a:ext cx="5143670" cy="3318023"/>
          </a:xfrm>
          <a:prstGeom prst="rect">
            <a:avLst/>
          </a:prstGeom>
        </p:spPr>
      </p:pic>
      <p:pic>
        <p:nvPicPr>
          <p:cNvPr id="5" name="Picture 4">
            <a:extLst>
              <a:ext uri="{FF2B5EF4-FFF2-40B4-BE49-F238E27FC236}">
                <a16:creationId xmlns:a16="http://schemas.microsoft.com/office/drawing/2014/main" id="{835452D2-EF97-40A4-BF73-D2E0D3EE04D7}"/>
              </a:ext>
            </a:extLst>
          </p:cNvPr>
          <p:cNvPicPr>
            <a:picLocks noChangeAspect="1"/>
          </p:cNvPicPr>
          <p:nvPr/>
        </p:nvPicPr>
        <p:blipFill>
          <a:blip r:embed="rId3"/>
          <a:stretch>
            <a:fillRect/>
          </a:stretch>
        </p:blipFill>
        <p:spPr>
          <a:xfrm>
            <a:off x="4209674" y="857250"/>
            <a:ext cx="2004744" cy="1754912"/>
          </a:xfrm>
          <a:prstGeom prst="rect">
            <a:avLst/>
          </a:prstGeom>
        </p:spPr>
      </p:pic>
    </p:spTree>
    <p:extLst>
      <p:ext uri="{BB962C8B-B14F-4D97-AF65-F5344CB8AC3E}">
        <p14:creationId xmlns:p14="http://schemas.microsoft.com/office/powerpoint/2010/main" val="1785866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DISABLING  INJURIES</a:t>
            </a:r>
          </a:p>
        </p:txBody>
      </p:sp>
      <p:sp>
        <p:nvSpPr>
          <p:cNvPr id="3" name="Content Placeholder 2"/>
          <p:cNvSpPr>
            <a:spLocks noGrp="1"/>
          </p:cNvSpPr>
          <p:nvPr>
            <p:ph sz="quarter" idx="1"/>
          </p:nvPr>
        </p:nvSpPr>
        <p:spPr/>
        <p:txBody>
          <a:bodyPr>
            <a:normAutofit lnSpcReduction="10000"/>
          </a:bodyPr>
          <a:lstStyle/>
          <a:p>
            <a:r>
              <a:rPr lang="en-US" dirty="0"/>
              <a:t>Everyday nurses suffer debilitating and often career-ending and life-altering injuries from repeatedly lifting and moving patients.</a:t>
            </a:r>
          </a:p>
          <a:p>
            <a:r>
              <a:rPr lang="en-US" dirty="0"/>
              <a:t>More than any other work-related injury or illness, musculoskeletal disorders are responsible for lost work time, protracted medical care, and permanent disability among health care workers. </a:t>
            </a:r>
          </a:p>
          <a:p>
            <a:pPr lvl="0">
              <a:buClr>
                <a:srgbClr val="D16349"/>
              </a:buClr>
            </a:pPr>
            <a:r>
              <a:rPr lang="en-US" sz="2500" dirty="0">
                <a:solidFill>
                  <a:prstClr val="black"/>
                </a:solidFill>
              </a:rPr>
              <a:t>Nursing career field suffers more musculoskeletal injuries than people in any other profession, including Firefighters, according to the latest data from the Bureau of Labor Statistics. </a:t>
            </a:r>
          </a:p>
          <a:p>
            <a:pPr marL="0" indent="0">
              <a:buNone/>
            </a:pPr>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DISABLING  INJURIES</a:t>
            </a:r>
          </a:p>
        </p:txBody>
      </p:sp>
      <p:sp>
        <p:nvSpPr>
          <p:cNvPr id="3" name="Content Placeholder 2"/>
          <p:cNvSpPr>
            <a:spLocks noGrp="1"/>
          </p:cNvSpPr>
          <p:nvPr>
            <p:ph sz="quarter" idx="1"/>
          </p:nvPr>
        </p:nvSpPr>
        <p:spPr/>
        <p:txBody>
          <a:bodyPr/>
          <a:lstStyle/>
          <a:p>
            <a:r>
              <a:rPr lang="en-US" dirty="0"/>
              <a:t>Repeated lifting and forceful movements with patient care activities lead to serious health problems for health care workers.</a:t>
            </a:r>
          </a:p>
          <a:p>
            <a:pPr>
              <a:buNone/>
            </a:pPr>
            <a:endParaRPr lang="en-US" dirty="0"/>
          </a:p>
          <a:p>
            <a:r>
              <a:rPr lang="en-US" dirty="0"/>
              <a:t>Lifting, transferring, and repositioning patients are the most common tasks that lead to injury.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SAFE PATIENT HANDLING AND MOVEMENT</a:t>
            </a:r>
          </a:p>
        </p:txBody>
      </p:sp>
      <p:sp>
        <p:nvSpPr>
          <p:cNvPr id="3" name="Content Placeholder 2"/>
          <p:cNvSpPr>
            <a:spLocks noGrp="1"/>
          </p:cNvSpPr>
          <p:nvPr>
            <p:ph sz="quarter" idx="1"/>
          </p:nvPr>
        </p:nvSpPr>
        <p:spPr/>
        <p:txBody>
          <a:bodyPr>
            <a:normAutofit/>
          </a:bodyPr>
          <a:lstStyle/>
          <a:p>
            <a:r>
              <a:rPr lang="en-US" dirty="0"/>
              <a:t>VA Central California has a designated SPHM program.</a:t>
            </a:r>
          </a:p>
          <a:p>
            <a:r>
              <a:rPr lang="en-US" dirty="0"/>
              <a:t>Unit Peer Leaders are on each unit.</a:t>
            </a:r>
          </a:p>
          <a:p>
            <a:r>
              <a:rPr lang="en-US" dirty="0"/>
              <a:t>Lifting equipment is available, including ceiling lifts, Sara lifts, Maxi lifts, Hover Jack/mats, roll boards, Stand Aids.</a:t>
            </a:r>
          </a:p>
          <a:p>
            <a:r>
              <a:rPr lang="en-US" dirty="0"/>
              <a:t>Remember to ask for help and use the lifting equipment. </a:t>
            </a:r>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5" descr="http://ts1.mm.bing.net/th?id=H.4902122102063736&amp;pid=1.7&amp;w=160&amp;h=90&amp;c=7&amp;rs=1"/>
          <p:cNvPicPr>
            <a:picLocks noChangeAspect="1" noChangeArrowheads="1"/>
          </p:cNvPicPr>
          <p:nvPr/>
        </p:nvPicPr>
        <p:blipFill>
          <a:blip r:embed="rId2" cstate="print"/>
          <a:srcRect/>
          <a:stretch>
            <a:fillRect/>
          </a:stretch>
        </p:blipFill>
        <p:spPr bwMode="auto">
          <a:xfrm>
            <a:off x="914400" y="533400"/>
            <a:ext cx="4724400" cy="2662369"/>
          </a:xfrm>
          <a:prstGeom prst="rect">
            <a:avLst/>
          </a:prstGeom>
          <a:noFill/>
          <a:ln w="9525">
            <a:noFill/>
            <a:miter lim="800000"/>
            <a:headEnd/>
            <a:tailEnd/>
          </a:ln>
        </p:spPr>
      </p:pic>
      <p:sp>
        <p:nvSpPr>
          <p:cNvPr id="4" name="Rectangle 3"/>
          <p:cNvSpPr/>
          <p:nvPr/>
        </p:nvSpPr>
        <p:spPr>
          <a:xfrm rot="10800000" flipV="1">
            <a:off x="1600200" y="3598278"/>
            <a:ext cx="6934200" cy="954107"/>
          </a:xfrm>
          <a:prstGeom prst="rect">
            <a:avLst/>
          </a:prstGeom>
        </p:spPr>
        <p:txBody>
          <a:bodyPr wrap="square">
            <a:spAutoFit/>
          </a:bodyPr>
          <a:lstStyle/>
          <a:p>
            <a:pPr lvl="0" fontAlgn="base">
              <a:spcBef>
                <a:spcPct val="0"/>
              </a:spcBef>
              <a:spcAft>
                <a:spcPct val="0"/>
              </a:spcAft>
            </a:pPr>
            <a:r>
              <a:rPr lang="en-US" sz="2800" dirty="0">
                <a:solidFill>
                  <a:srgbClr val="3D3D3D"/>
                </a:solidFill>
                <a:latin typeface="Verdana" pitchFamily="34" charset="0"/>
                <a:ea typeface="Calibri" pitchFamily="34" charset="0"/>
                <a:cs typeface="Times New Roman" pitchFamily="18" charset="0"/>
              </a:rPr>
              <a:t>Think about this the next time you choose not to use the lift –</a:t>
            </a:r>
            <a:endParaRPr lang="en-US" sz="2800" dirty="0">
              <a:latin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ChangeArrowheads="1"/>
          </p:cNvSpPr>
          <p:nvPr/>
        </p:nvSpPr>
        <p:spPr bwMode="auto">
          <a:xfrm rot="10800000" flipV="1">
            <a:off x="228600" y="213280"/>
            <a:ext cx="86106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rgbClr val="3D3D3D"/>
                </a:solidFill>
                <a:effectLst/>
                <a:latin typeface="Tahoma" pitchFamily="34" charset="0"/>
                <a:ea typeface="Calibri" pitchFamily="34" charset="0"/>
                <a:cs typeface="Tahoma" pitchFamily="34" charset="0"/>
              </a:rPr>
              <a:t>Nurses lift an average of </a:t>
            </a:r>
            <a:r>
              <a:rPr kumimoji="0" lang="en-US" sz="2800" b="1" i="0" u="none" strike="noStrike" cap="none" normalizeH="0" baseline="0" dirty="0">
                <a:ln>
                  <a:noFill/>
                </a:ln>
                <a:solidFill>
                  <a:srgbClr val="3D3D3D"/>
                </a:solidFill>
                <a:effectLst/>
                <a:latin typeface="Tahoma" pitchFamily="34" charset="0"/>
                <a:ea typeface="Calibri" pitchFamily="34" charset="0"/>
                <a:cs typeface="Tahoma" pitchFamily="34" charset="0"/>
              </a:rPr>
              <a:t>1.8 tons</a:t>
            </a:r>
            <a:r>
              <a:rPr kumimoji="0" lang="en-US" sz="2800" b="0" i="0" u="none" strike="noStrike" cap="none" normalizeH="0" baseline="0" dirty="0">
                <a:ln>
                  <a:noFill/>
                </a:ln>
                <a:solidFill>
                  <a:srgbClr val="3D3D3D"/>
                </a:solidFill>
                <a:effectLst/>
                <a:latin typeface="Tahoma" pitchFamily="34" charset="0"/>
                <a:ea typeface="Calibri" pitchFamily="34" charset="0"/>
                <a:cs typeface="Tahoma" pitchFamily="34" charset="0"/>
              </a:rPr>
              <a:t> every shift</a:t>
            </a:r>
            <a:r>
              <a:rPr kumimoji="0" lang="en-US" sz="2800" b="0" i="0" u="none" strike="noStrike" cap="none" normalizeH="0" baseline="0" dirty="0">
                <a:ln>
                  <a:noFill/>
                </a:ln>
                <a:solidFill>
                  <a:srgbClr val="3D3D3D"/>
                </a:solidFill>
                <a:effectLst/>
                <a:latin typeface="Verdana" pitchFamily="34" charset="0"/>
                <a:ea typeface="Calibri" pitchFamily="34" charset="0"/>
                <a:cs typeface="Times New Roman" pitchFamily="18" charset="0"/>
              </a:rPr>
              <a:t>. This amounts to</a:t>
            </a:r>
            <a:endParaRPr kumimoji="0" lang="en-US" sz="2800" b="0" i="0" u="none" strike="noStrike" cap="none" normalizeH="0" baseline="0" dirty="0">
              <a:ln>
                <a:noFill/>
              </a:ln>
              <a:solidFill>
                <a:schemeClr val="tx1"/>
              </a:solidFill>
              <a:effectLst/>
              <a:latin typeface="Arial" pitchFamily="34" charset="0"/>
            </a:endParaRPr>
          </a:p>
        </p:txBody>
      </p:sp>
      <p:pic>
        <p:nvPicPr>
          <p:cNvPr id="29699" name="Picture 4" descr="http://ts2.mm.bing.net/th?id=H.4750020161701749&amp;pid=1.7&amp;w=243&amp;h=181&amp;c=7&amp;rs=1"/>
          <p:cNvPicPr>
            <a:picLocks noChangeAspect="1" noChangeArrowheads="1"/>
          </p:cNvPicPr>
          <p:nvPr/>
        </p:nvPicPr>
        <p:blipFill>
          <a:blip r:embed="rId2" r:link="rId3" cstate="print"/>
          <a:srcRect/>
          <a:stretch>
            <a:fillRect/>
          </a:stretch>
        </p:blipFill>
        <p:spPr bwMode="auto">
          <a:xfrm>
            <a:off x="1014664" y="1905000"/>
            <a:ext cx="1661862" cy="1238250"/>
          </a:xfrm>
          <a:prstGeom prst="rect">
            <a:avLst/>
          </a:prstGeom>
          <a:noFill/>
        </p:spPr>
      </p:pic>
      <p:pic>
        <p:nvPicPr>
          <p:cNvPr id="29698" name="Picture 3" descr="http://ts4.mm.bing.net/th?id=H.4960001076889839&amp;pid=1.7&amp;w=175&amp;h=188&amp;c=7&amp;rs=1"/>
          <p:cNvPicPr>
            <a:picLocks noChangeAspect="1" noChangeArrowheads="1"/>
          </p:cNvPicPr>
          <p:nvPr/>
        </p:nvPicPr>
        <p:blipFill>
          <a:blip r:embed="rId4" r:link="rId5" cstate="print"/>
          <a:srcRect/>
          <a:stretch>
            <a:fillRect/>
          </a:stretch>
        </p:blipFill>
        <p:spPr bwMode="auto">
          <a:xfrm>
            <a:off x="1239864" y="4038600"/>
            <a:ext cx="1331886" cy="1428750"/>
          </a:xfrm>
          <a:prstGeom prst="rect">
            <a:avLst/>
          </a:prstGeom>
          <a:noFill/>
        </p:spPr>
      </p:pic>
      <p:sp>
        <p:nvSpPr>
          <p:cNvPr id="29700"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9701" name="Rectangle 5"/>
          <p:cNvSpPr>
            <a:spLocks noChangeArrowheads="1"/>
          </p:cNvSpPr>
          <p:nvPr/>
        </p:nvSpPr>
        <p:spPr bwMode="auto">
          <a:xfrm rot="10800000" flipV="1">
            <a:off x="2971797" y="2263260"/>
            <a:ext cx="5866833"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rgbClr val="3D3D3D"/>
                </a:solidFill>
                <a:effectLst/>
                <a:latin typeface="Tahoma" pitchFamily="34" charset="0"/>
                <a:ea typeface="Calibri" pitchFamily="34" charset="0"/>
                <a:cs typeface="Tahoma" pitchFamily="34" charset="0"/>
              </a:rPr>
              <a:t>576,000 pennies</a:t>
            </a:r>
            <a:r>
              <a:rPr kumimoji="0" lang="en-US" sz="2400" b="1" i="0" u="none" strike="noStrike" cap="none" normalizeH="0" baseline="0" dirty="0">
                <a:ln>
                  <a:noFill/>
                </a:ln>
                <a:solidFill>
                  <a:srgbClr val="3D3D3D"/>
                </a:solidFill>
                <a:effectLst/>
                <a:latin typeface="Tahoma" pitchFamily="34" charset="0"/>
                <a:ea typeface="Calibri" pitchFamily="34" charset="0"/>
                <a:cs typeface="Tahoma" pitchFamily="34" charset="0"/>
              </a:rPr>
              <a:t>,</a:t>
            </a:r>
            <a:r>
              <a:rPr kumimoji="0" lang="en-US" sz="2400" b="0" i="0" u="none" strike="noStrike" cap="none" normalizeH="0" baseline="0" dirty="0">
                <a:ln>
                  <a:noFill/>
                </a:ln>
                <a:solidFill>
                  <a:schemeClr val="tx1"/>
                </a:solidFill>
                <a:effectLst/>
                <a:latin typeface="Verdana" pitchFamily="34" charset="0"/>
                <a:ea typeface="Calibri" pitchFamily="34" charset="0"/>
                <a:cs typeface="Times New Roman" pitchFamily="18" charset="0"/>
              </a:rPr>
              <a:t> </a:t>
            </a:r>
            <a:endParaRPr kumimoji="0" lang="en-US" sz="2400" b="0" i="0" u="none" strike="noStrike" cap="none" normalizeH="0" baseline="0" dirty="0">
              <a:ln>
                <a:noFill/>
              </a:ln>
              <a:solidFill>
                <a:schemeClr val="tx1"/>
              </a:solidFill>
              <a:effectLst/>
              <a:latin typeface="Arial" pitchFamily="34" charset="0"/>
            </a:endParaRPr>
          </a:p>
        </p:txBody>
      </p:sp>
      <p:sp>
        <p:nvSpPr>
          <p:cNvPr id="8" name="Rectangle 7"/>
          <p:cNvSpPr/>
          <p:nvPr/>
        </p:nvSpPr>
        <p:spPr>
          <a:xfrm rot="10800000" flipV="1">
            <a:off x="2971800" y="4488851"/>
            <a:ext cx="4800600" cy="523220"/>
          </a:xfrm>
          <a:prstGeom prst="rect">
            <a:avLst/>
          </a:prstGeom>
        </p:spPr>
        <p:txBody>
          <a:bodyPr wrap="square">
            <a:spAutoFit/>
          </a:bodyPr>
          <a:lstStyle/>
          <a:p>
            <a:pPr lvl="0" fontAlgn="base">
              <a:spcBef>
                <a:spcPct val="0"/>
              </a:spcBef>
              <a:spcAft>
                <a:spcPct val="0"/>
              </a:spcAft>
            </a:pPr>
            <a:r>
              <a:rPr lang="en-US" sz="2800" b="1" dirty="0">
                <a:solidFill>
                  <a:srgbClr val="3D3D3D"/>
                </a:solidFill>
                <a:latin typeface="Tahoma" pitchFamily="34" charset="0"/>
                <a:ea typeface="Calibri" pitchFamily="34" charset="0"/>
                <a:cs typeface="Tahoma" pitchFamily="34" charset="0"/>
              </a:rPr>
              <a:t>549 bricks,</a:t>
            </a:r>
            <a:r>
              <a:rPr lang="en-US" sz="2800" dirty="0">
                <a:solidFill>
                  <a:srgbClr val="3D3D3D"/>
                </a:solidFill>
                <a:latin typeface="Verdana" pitchFamily="34" charset="0"/>
                <a:ea typeface="Calibri" pitchFamily="34" charset="0"/>
                <a:cs typeface="Times New Roman" pitchFamily="18" charset="0"/>
              </a:rPr>
              <a:t> </a:t>
            </a:r>
            <a:r>
              <a:rPr lang="en-US" sz="2800" b="1" dirty="0">
                <a:solidFill>
                  <a:srgbClr val="3D3D3D"/>
                </a:solidFill>
                <a:latin typeface="Tahoma" pitchFamily="34" charset="0"/>
                <a:ea typeface="Calibri" pitchFamily="34" charset="0"/>
                <a:cs typeface="Tahoma" pitchFamily="34" charset="0"/>
              </a:rPr>
              <a:t>and yes</a:t>
            </a:r>
            <a:endParaRPr lang="en-US" sz="2800" dirty="0">
              <a:latin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endParaRPr>
          </a:p>
        </p:txBody>
      </p:sp>
      <p:pic>
        <p:nvPicPr>
          <p:cNvPr id="30721" name="Picture 2" descr="http://ts2.mm.bing.net/th?id=H.5046467348464217&amp;pid=1.7&amp;w=313&amp;h=188&amp;c=7&amp;rs=1"/>
          <p:cNvPicPr>
            <a:picLocks noChangeAspect="1" noChangeArrowheads="1"/>
          </p:cNvPicPr>
          <p:nvPr/>
        </p:nvPicPr>
        <p:blipFill>
          <a:blip r:embed="rId2" r:link="rId3" cstate="print"/>
          <a:srcRect/>
          <a:stretch>
            <a:fillRect/>
          </a:stretch>
        </p:blipFill>
        <p:spPr bwMode="auto">
          <a:xfrm>
            <a:off x="381000" y="228600"/>
            <a:ext cx="6217368" cy="3733800"/>
          </a:xfrm>
          <a:prstGeom prst="rect">
            <a:avLst/>
          </a:prstGeom>
          <a:noFill/>
        </p:spPr>
      </p:pic>
      <p:sp>
        <p:nvSpPr>
          <p:cNvPr id="30723" name="Rectangle 3"/>
          <p:cNvSpPr>
            <a:spLocks noChangeArrowheads="1"/>
          </p:cNvSpPr>
          <p:nvPr/>
        </p:nvSpPr>
        <p:spPr bwMode="auto">
          <a:xfrm>
            <a:off x="5486400" y="3962400"/>
            <a:ext cx="2895600"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rgbClr val="3D3D3D"/>
                </a:solidFill>
                <a:effectLst/>
                <a:latin typeface="Tahoma" pitchFamily="34" charset="0"/>
                <a:ea typeface="Calibri" pitchFamily="34" charset="0"/>
                <a:cs typeface="Tahoma" pitchFamily="34" charset="0"/>
              </a:rPr>
              <a:t>one Hippo!</a:t>
            </a:r>
            <a:r>
              <a:rPr kumimoji="0" lang="en-US" sz="2800" b="0" i="0" u="none" strike="noStrike" cap="none" normalizeH="0" baseline="0" dirty="0">
                <a:ln>
                  <a:noFill/>
                </a:ln>
                <a:solidFill>
                  <a:srgbClr val="3D3D3D"/>
                </a:solidFill>
                <a:effectLst/>
                <a:latin typeface="Verdana" pitchFamily="34" charset="0"/>
                <a:ea typeface="Calibri" pitchFamily="34" charset="0"/>
                <a:cs typeface="Times New Roman" pitchFamily="18" charset="0"/>
              </a:rPr>
              <a:t> </a:t>
            </a:r>
            <a:endParaRPr kumimoji="0" lang="en-US" sz="28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rot="10800000" flipV="1">
            <a:off x="228600" y="245469"/>
            <a:ext cx="8686800" cy="544764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2800" dirty="0">
                <a:solidFill>
                  <a:srgbClr val="3D3D3D"/>
                </a:solidFill>
                <a:latin typeface="Verdana" pitchFamily="34" charset="0"/>
                <a:ea typeface="Calibri" pitchFamily="34" charset="0"/>
                <a:cs typeface="Times New Roman" pitchFamily="18" charset="0"/>
              </a:rPr>
              <a:t>S</a:t>
            </a:r>
            <a:r>
              <a:rPr kumimoji="0" lang="en-US" sz="2800" b="0" i="0" u="none" strike="noStrike" cap="none" normalizeH="0" baseline="0" dirty="0">
                <a:ln>
                  <a:noFill/>
                </a:ln>
                <a:solidFill>
                  <a:srgbClr val="3D3D3D"/>
                </a:solidFill>
                <a:effectLst/>
                <a:latin typeface="Verdana" pitchFamily="34" charset="0"/>
                <a:ea typeface="Calibri" pitchFamily="34" charset="0"/>
                <a:cs typeface="Times New Roman" pitchFamily="18" charset="0"/>
              </a:rPr>
              <a:t>uch strain over time results in career ending and life altering musculoskeletal disorders - in what other industry would it be permissible to lift 1.8 tons day-in and day-out?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dirty="0">
              <a:ln>
                <a:noFill/>
              </a:ln>
              <a:solidFill>
                <a:schemeClr val="tx1"/>
              </a:solidFill>
              <a:effectLst/>
              <a:latin typeface="Verdana"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3D3D3D"/>
                </a:solidFill>
                <a:effectLst/>
                <a:latin typeface="Verdana" pitchFamily="34" charset="0"/>
                <a:ea typeface="Calibri" pitchFamily="34" charset="0"/>
                <a:cs typeface="Times New Roman" pitchFamily="18" charset="0"/>
              </a:rPr>
              <a:t>Why should nursing be any different?!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chemeClr val="tx1"/>
              </a:solidFill>
              <a:effectLst/>
              <a:latin typeface="Verdana"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a:ln>
                  <a:noFill/>
                </a:ln>
                <a:solidFill>
                  <a:srgbClr val="3D3D3D"/>
                </a:solidFill>
                <a:effectLst/>
                <a:latin typeface="Tahoma" pitchFamily="34" charset="0"/>
                <a:ea typeface="Calibri" pitchFamily="34" charset="0"/>
                <a:cs typeface="Tahoma" pitchFamily="34" charset="0"/>
              </a:rPr>
              <a:t>Using equipment is</a:t>
            </a:r>
            <a:r>
              <a:rPr kumimoji="0" lang="en-US" sz="2800" b="0" i="0" u="none" strike="noStrike" cap="none" normalizeH="0" baseline="0" dirty="0">
                <a:ln>
                  <a:noFill/>
                </a:ln>
                <a:solidFill>
                  <a:srgbClr val="3D3D3D"/>
                </a:solidFill>
                <a:effectLst/>
                <a:latin typeface="Verdana" pitchFamily="34" charset="0"/>
                <a:ea typeface="Calibri" pitchFamily="34" charset="0"/>
                <a:cs typeface="Times New Roman" pitchFamily="18" charset="0"/>
              </a:rPr>
              <a:t> like gloving and washing hands </a:t>
            </a:r>
            <a:r>
              <a:rPr kumimoji="0" lang="en-US" sz="2800" b="0" i="0" u="none" strike="noStrike" cap="none" normalizeH="0" baseline="0" dirty="0">
                <a:ln>
                  <a:noFill/>
                </a:ln>
                <a:solidFill>
                  <a:srgbClr val="3D3D3D"/>
                </a:solidFill>
                <a:effectLst/>
                <a:latin typeface="Tahoma" pitchFamily="34" charset="0"/>
                <a:ea typeface="Calibri" pitchFamily="34" charset="0"/>
                <a:cs typeface="Tahoma" pitchFamily="34" charset="0"/>
              </a:rPr>
              <a:t>– not a mere suggestion –</a:t>
            </a:r>
            <a:r>
              <a:rPr kumimoji="0" lang="en-US" sz="2800" b="1" i="0" u="none" strike="noStrike" cap="none" normalizeH="0" baseline="0" dirty="0">
                <a:ln>
                  <a:noFill/>
                </a:ln>
                <a:solidFill>
                  <a:srgbClr val="3D3D3D"/>
                </a:solidFill>
                <a:effectLst/>
                <a:latin typeface="Tahoma" pitchFamily="34" charset="0"/>
                <a:ea typeface="Calibri" pitchFamily="34" charset="0"/>
                <a:cs typeface="Tahoma"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chemeClr val="tx1"/>
              </a:solidFill>
              <a:effectLst/>
              <a:latin typeface="Verdana"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4000" b="1" dirty="0">
                <a:solidFill>
                  <a:srgbClr val="3D3D3D"/>
                </a:solidFill>
                <a:latin typeface="Tahoma" pitchFamily="34" charset="0"/>
                <a:ea typeface="Calibri" pitchFamily="34" charset="0"/>
                <a:cs typeface="Tahoma" pitchFamily="34" charset="0"/>
              </a:rPr>
              <a:t>A</a:t>
            </a:r>
            <a:r>
              <a:rPr kumimoji="0" lang="en-US" sz="4000" b="1" i="0" u="none" strike="noStrike" cap="none" normalizeH="0" baseline="0" dirty="0">
                <a:ln>
                  <a:noFill/>
                </a:ln>
                <a:solidFill>
                  <a:srgbClr val="3D3D3D"/>
                </a:solidFill>
                <a:effectLst/>
                <a:latin typeface="Tahoma" pitchFamily="34" charset="0"/>
                <a:ea typeface="Calibri" pitchFamily="34" charset="0"/>
                <a:cs typeface="Tahoma" pitchFamily="34" charset="0"/>
              </a:rPr>
              <a:t>n expectation all day every day!</a:t>
            </a:r>
            <a:endParaRPr kumimoji="0" lang="en-US" sz="4000" b="0" i="0" u="none" strike="noStrike" cap="none" normalizeH="0" baseline="0" dirty="0">
              <a:ln>
                <a:noFill/>
              </a:ln>
              <a:solidFill>
                <a:schemeClr val="tx1"/>
              </a:solidFill>
              <a:effectLst/>
              <a:latin typeface="Verdana"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534400" cy="987552"/>
          </a:xfrm>
        </p:spPr>
        <p:txBody>
          <a:bodyPr>
            <a:normAutofit/>
          </a:bodyPr>
          <a:lstStyle/>
          <a:p>
            <a:r>
              <a:rPr lang="en-US" sz="2400" b="1" dirty="0"/>
              <a:t>SOLUTIONS ACCORDING TO DEPENDENCY LEVEL</a:t>
            </a:r>
          </a:p>
        </p:txBody>
      </p:sp>
      <p:sp>
        <p:nvSpPr>
          <p:cNvPr id="3" name="Content Placeholder 2"/>
          <p:cNvSpPr>
            <a:spLocks noGrp="1"/>
          </p:cNvSpPr>
          <p:nvPr>
            <p:ph sz="half" idx="1"/>
          </p:nvPr>
        </p:nvSpPr>
        <p:spPr/>
        <p:txBody>
          <a:bodyPr/>
          <a:lstStyle/>
          <a:p>
            <a:r>
              <a:rPr lang="en-US" dirty="0"/>
              <a:t>Totally dependent patient.</a:t>
            </a:r>
          </a:p>
          <a:p>
            <a:r>
              <a:rPr lang="en-US" dirty="0"/>
              <a:t>Extensive assistance level.</a:t>
            </a:r>
          </a:p>
          <a:p>
            <a:r>
              <a:rPr lang="en-US" dirty="0"/>
              <a:t>Lifts from floor (dependent).</a:t>
            </a:r>
          </a:p>
          <a:p>
            <a:r>
              <a:rPr lang="en-US" dirty="0"/>
              <a:t>Limited patient assistance.</a:t>
            </a:r>
          </a:p>
        </p:txBody>
      </p:sp>
      <p:sp>
        <p:nvSpPr>
          <p:cNvPr id="4" name="Content Placeholder 3"/>
          <p:cNvSpPr>
            <a:spLocks noGrp="1"/>
          </p:cNvSpPr>
          <p:nvPr>
            <p:ph sz="half" idx="2"/>
          </p:nvPr>
        </p:nvSpPr>
        <p:spPr/>
        <p:txBody>
          <a:bodyPr/>
          <a:lstStyle/>
          <a:p>
            <a:r>
              <a:rPr lang="en-US" dirty="0"/>
              <a:t>Full sling mechanical lift device.</a:t>
            </a:r>
          </a:p>
          <a:p>
            <a:r>
              <a:rPr lang="en-US" dirty="0"/>
              <a:t>Full sling or stand assist lift.</a:t>
            </a:r>
          </a:p>
          <a:p>
            <a:r>
              <a:rPr lang="en-US" dirty="0"/>
              <a:t>Full sling mechanical lift: have enough help.</a:t>
            </a:r>
          </a:p>
          <a:p>
            <a:r>
              <a:rPr lang="en-US" dirty="0"/>
              <a:t>Stand/assist lift: friction-reducing device.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 INJURIES TO YOURSELF AND PATIENTS</a:t>
            </a:r>
          </a:p>
        </p:txBody>
      </p:sp>
      <p:sp>
        <p:nvSpPr>
          <p:cNvPr id="8" name="Picture Placeholder 7"/>
          <p:cNvSpPr>
            <a:spLocks noGrp="1"/>
          </p:cNvSpPr>
          <p:nvPr>
            <p:ph type="pic" idx="1"/>
          </p:nvPr>
        </p:nvSpPr>
        <p:spPr/>
        <p:txBody>
          <a:bodyPr/>
          <a:lstStyle/>
          <a:p>
            <a:endParaRPr lang="en-US"/>
          </a:p>
        </p:txBody>
      </p:sp>
      <p:sp>
        <p:nvSpPr>
          <p:cNvPr id="4" name="Text Placeholder 3"/>
          <p:cNvSpPr>
            <a:spLocks noGrp="1"/>
          </p:cNvSpPr>
          <p:nvPr>
            <p:ph type="body" sz="half" idx="2"/>
          </p:nvPr>
        </p:nvSpPr>
        <p:spPr/>
        <p:txBody>
          <a:bodyPr/>
          <a:lstStyle/>
          <a:p>
            <a:r>
              <a:rPr lang="en-US" dirty="0"/>
              <a:t>KNOW YOUR UNIT PEER LEADERS .</a:t>
            </a:r>
          </a:p>
          <a:p>
            <a:r>
              <a:rPr lang="en-US" dirty="0"/>
              <a:t>USE THE LIFT EQUIPMENT.</a:t>
            </a:r>
          </a:p>
          <a:p>
            <a:r>
              <a:rPr lang="en-US" dirty="0"/>
              <a:t>ASK FOR HELP.</a:t>
            </a:r>
          </a:p>
        </p:txBody>
      </p:sp>
      <p:pic>
        <p:nvPicPr>
          <p:cNvPr id="6146" name="Picture 2" descr="C:\Documents and Settings\vhabecsmithd12\Local Settings\Temporary Internet Files\Content.IE5\36QC73U7\MP900409781[1].jpg"/>
          <p:cNvPicPr>
            <a:picLocks noChangeAspect="1" noChangeArrowheads="1"/>
          </p:cNvPicPr>
          <p:nvPr/>
        </p:nvPicPr>
        <p:blipFill>
          <a:blip r:embed="rId2" cstate="print"/>
          <a:srcRect/>
          <a:stretch>
            <a:fillRect/>
          </a:stretch>
        </p:blipFill>
        <p:spPr bwMode="auto">
          <a:xfrm>
            <a:off x="3048000" y="609600"/>
            <a:ext cx="5899863" cy="41910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rotWithShape="1">
          <a:blip r:embed="rId2"/>
          <a:srcRect b="45529"/>
          <a:stretch/>
        </p:blipFill>
        <p:spPr>
          <a:xfrm>
            <a:off x="2080802" y="932987"/>
            <a:ext cx="5269706" cy="2152650"/>
          </a:xfrm>
          <a:prstGeom prst="rect">
            <a:avLst/>
          </a:prstGeom>
        </p:spPr>
      </p:pic>
      <p:pic>
        <p:nvPicPr>
          <p:cNvPr id="7" name="Picture 6">
            <a:extLst>
              <a:ext uri="{FF2B5EF4-FFF2-40B4-BE49-F238E27FC236}">
                <a16:creationId xmlns:a16="http://schemas.microsoft.com/office/drawing/2014/main" id="{4AE42098-CF61-447D-9236-4D6F7EFD3523}"/>
              </a:ext>
            </a:extLst>
          </p:cNvPr>
          <p:cNvPicPr>
            <a:picLocks noChangeAspect="1"/>
          </p:cNvPicPr>
          <p:nvPr/>
        </p:nvPicPr>
        <p:blipFill>
          <a:blip r:embed="rId3"/>
          <a:stretch>
            <a:fillRect/>
          </a:stretch>
        </p:blipFill>
        <p:spPr>
          <a:xfrm>
            <a:off x="4238453" y="3391186"/>
            <a:ext cx="1183562" cy="1183562"/>
          </a:xfrm>
          <a:prstGeom prst="rect">
            <a:avLst/>
          </a:prstGeom>
        </p:spPr>
      </p:pic>
      <p:pic>
        <p:nvPicPr>
          <p:cNvPr id="9" name="Picture 8">
            <a:extLst>
              <a:ext uri="{FF2B5EF4-FFF2-40B4-BE49-F238E27FC236}">
                <a16:creationId xmlns:a16="http://schemas.microsoft.com/office/drawing/2014/main" id="{B9E85EA0-3B07-4475-B0F3-1B3EE90CF80C}"/>
              </a:ext>
            </a:extLst>
          </p:cNvPr>
          <p:cNvPicPr>
            <a:picLocks noChangeAspect="1"/>
          </p:cNvPicPr>
          <p:nvPr/>
        </p:nvPicPr>
        <p:blipFill>
          <a:blip r:embed="rId4"/>
          <a:stretch>
            <a:fillRect/>
          </a:stretch>
        </p:blipFill>
        <p:spPr>
          <a:xfrm>
            <a:off x="7151040" y="4366521"/>
            <a:ext cx="1628775" cy="1578769"/>
          </a:xfrm>
          <a:prstGeom prst="rect">
            <a:avLst/>
          </a:prstGeom>
        </p:spPr>
      </p:pic>
      <p:pic>
        <p:nvPicPr>
          <p:cNvPr id="11" name="Picture 10">
            <a:extLst>
              <a:ext uri="{FF2B5EF4-FFF2-40B4-BE49-F238E27FC236}">
                <a16:creationId xmlns:a16="http://schemas.microsoft.com/office/drawing/2014/main" id="{EF37999B-1724-4EBE-A615-102483AC9F18}"/>
              </a:ext>
            </a:extLst>
          </p:cNvPr>
          <p:cNvPicPr>
            <a:picLocks noChangeAspect="1"/>
          </p:cNvPicPr>
          <p:nvPr/>
        </p:nvPicPr>
        <p:blipFill>
          <a:blip r:embed="rId5"/>
          <a:stretch>
            <a:fillRect/>
          </a:stretch>
        </p:blipFill>
        <p:spPr>
          <a:xfrm>
            <a:off x="4356445" y="4393407"/>
            <a:ext cx="1607344" cy="1607344"/>
          </a:xfrm>
          <a:prstGeom prst="rect">
            <a:avLst/>
          </a:prstGeom>
        </p:spPr>
      </p:pic>
      <p:pic>
        <p:nvPicPr>
          <p:cNvPr id="13" name="Picture 12">
            <a:extLst>
              <a:ext uri="{FF2B5EF4-FFF2-40B4-BE49-F238E27FC236}">
                <a16:creationId xmlns:a16="http://schemas.microsoft.com/office/drawing/2014/main" id="{FE8EAD00-0C09-4AF7-85B9-A323498658DE}"/>
              </a:ext>
            </a:extLst>
          </p:cNvPr>
          <p:cNvPicPr>
            <a:picLocks noChangeAspect="1"/>
          </p:cNvPicPr>
          <p:nvPr/>
        </p:nvPicPr>
        <p:blipFill>
          <a:blip r:embed="rId6"/>
          <a:stretch>
            <a:fillRect/>
          </a:stretch>
        </p:blipFill>
        <p:spPr>
          <a:xfrm>
            <a:off x="2289624" y="4434386"/>
            <a:ext cx="1785938" cy="1443038"/>
          </a:xfrm>
          <a:prstGeom prst="rect">
            <a:avLst/>
          </a:prstGeom>
        </p:spPr>
      </p:pic>
      <p:pic>
        <p:nvPicPr>
          <p:cNvPr id="15" name="Picture 14">
            <a:extLst>
              <a:ext uri="{FF2B5EF4-FFF2-40B4-BE49-F238E27FC236}">
                <a16:creationId xmlns:a16="http://schemas.microsoft.com/office/drawing/2014/main" id="{6FFB2A90-1D97-4B29-A8D5-003820A59C02}"/>
              </a:ext>
            </a:extLst>
          </p:cNvPr>
          <p:cNvPicPr>
            <a:picLocks noChangeAspect="1"/>
          </p:cNvPicPr>
          <p:nvPr/>
        </p:nvPicPr>
        <p:blipFill>
          <a:blip r:embed="rId7"/>
          <a:stretch>
            <a:fillRect/>
          </a:stretch>
        </p:blipFill>
        <p:spPr>
          <a:xfrm>
            <a:off x="108503" y="4460256"/>
            <a:ext cx="1900238" cy="1357313"/>
          </a:xfrm>
          <a:prstGeom prst="rect">
            <a:avLst/>
          </a:prstGeom>
        </p:spPr>
      </p:pic>
      <p:pic>
        <p:nvPicPr>
          <p:cNvPr id="17" name="Picture 16">
            <a:extLst>
              <a:ext uri="{FF2B5EF4-FFF2-40B4-BE49-F238E27FC236}">
                <a16:creationId xmlns:a16="http://schemas.microsoft.com/office/drawing/2014/main" id="{ABBBD9C8-A984-49ED-AE68-06615A70F41B}"/>
              </a:ext>
            </a:extLst>
          </p:cNvPr>
          <p:cNvPicPr>
            <a:picLocks noChangeAspect="1"/>
          </p:cNvPicPr>
          <p:nvPr/>
        </p:nvPicPr>
        <p:blipFill>
          <a:blip r:embed="rId8"/>
          <a:stretch>
            <a:fillRect/>
          </a:stretch>
        </p:blipFill>
        <p:spPr>
          <a:xfrm>
            <a:off x="497317" y="2459033"/>
            <a:ext cx="2143125" cy="1200150"/>
          </a:xfrm>
          <a:prstGeom prst="rect">
            <a:avLst/>
          </a:prstGeom>
        </p:spPr>
      </p:pic>
      <p:pic>
        <p:nvPicPr>
          <p:cNvPr id="19" name="Picture 18">
            <a:extLst>
              <a:ext uri="{FF2B5EF4-FFF2-40B4-BE49-F238E27FC236}">
                <a16:creationId xmlns:a16="http://schemas.microsoft.com/office/drawing/2014/main" id="{EF417F06-7704-4E89-B43C-60E68584F411}"/>
              </a:ext>
            </a:extLst>
          </p:cNvPr>
          <p:cNvPicPr>
            <a:picLocks noChangeAspect="1"/>
          </p:cNvPicPr>
          <p:nvPr/>
        </p:nvPicPr>
        <p:blipFill>
          <a:blip r:embed="rId9"/>
          <a:stretch>
            <a:fillRect/>
          </a:stretch>
        </p:blipFill>
        <p:spPr>
          <a:xfrm>
            <a:off x="5496443" y="4617419"/>
            <a:ext cx="2143125" cy="1200150"/>
          </a:xfrm>
          <a:prstGeom prst="rect">
            <a:avLst/>
          </a:prstGeom>
        </p:spPr>
      </p:pic>
      <p:pic>
        <p:nvPicPr>
          <p:cNvPr id="21" name="Picture 20">
            <a:extLst>
              <a:ext uri="{FF2B5EF4-FFF2-40B4-BE49-F238E27FC236}">
                <a16:creationId xmlns:a16="http://schemas.microsoft.com/office/drawing/2014/main" id="{68860C97-4D69-48C5-8B45-11EA15C9CCE9}"/>
              </a:ext>
            </a:extLst>
          </p:cNvPr>
          <p:cNvPicPr>
            <a:picLocks noChangeAspect="1"/>
          </p:cNvPicPr>
          <p:nvPr/>
        </p:nvPicPr>
        <p:blipFill>
          <a:blip r:embed="rId10"/>
          <a:stretch>
            <a:fillRect/>
          </a:stretch>
        </p:blipFill>
        <p:spPr>
          <a:xfrm>
            <a:off x="6893865" y="2652173"/>
            <a:ext cx="2143125" cy="1200150"/>
          </a:xfrm>
          <a:prstGeom prst="rect">
            <a:avLst/>
          </a:prstGeom>
        </p:spPr>
      </p:pic>
      <p:pic>
        <p:nvPicPr>
          <p:cNvPr id="23" name="Picture 22">
            <a:extLst>
              <a:ext uri="{FF2B5EF4-FFF2-40B4-BE49-F238E27FC236}">
                <a16:creationId xmlns:a16="http://schemas.microsoft.com/office/drawing/2014/main" id="{3B5BCDC3-6E96-4A6F-AB84-691A9B2AA344}"/>
              </a:ext>
            </a:extLst>
          </p:cNvPr>
          <p:cNvPicPr>
            <a:picLocks noChangeAspect="1"/>
          </p:cNvPicPr>
          <p:nvPr/>
        </p:nvPicPr>
        <p:blipFill rotWithShape="1">
          <a:blip r:embed="rId11"/>
          <a:srcRect l="26582" r="26666"/>
          <a:stretch/>
        </p:blipFill>
        <p:spPr>
          <a:xfrm>
            <a:off x="6142382" y="3062220"/>
            <a:ext cx="751484" cy="1607344"/>
          </a:xfrm>
          <a:prstGeom prst="rect">
            <a:avLst/>
          </a:prstGeom>
        </p:spPr>
      </p:pic>
      <p:pic>
        <p:nvPicPr>
          <p:cNvPr id="25" name="Picture 24">
            <a:extLst>
              <a:ext uri="{FF2B5EF4-FFF2-40B4-BE49-F238E27FC236}">
                <a16:creationId xmlns:a16="http://schemas.microsoft.com/office/drawing/2014/main" id="{604FE83C-B8A9-4D52-AB6D-E8235F4462EE}"/>
              </a:ext>
            </a:extLst>
          </p:cNvPr>
          <p:cNvPicPr>
            <a:picLocks noChangeAspect="1"/>
          </p:cNvPicPr>
          <p:nvPr/>
        </p:nvPicPr>
        <p:blipFill rotWithShape="1">
          <a:blip r:embed="rId12"/>
          <a:srcRect l="15217" r="35253" b="13354"/>
          <a:stretch/>
        </p:blipFill>
        <p:spPr>
          <a:xfrm>
            <a:off x="2843530" y="3463026"/>
            <a:ext cx="1061477" cy="1039882"/>
          </a:xfrm>
          <a:prstGeom prst="rect">
            <a:avLst/>
          </a:prstGeom>
        </p:spPr>
      </p:pic>
    </p:spTree>
    <p:extLst>
      <p:ext uri="{BB962C8B-B14F-4D97-AF65-F5344CB8AC3E}">
        <p14:creationId xmlns:p14="http://schemas.microsoft.com/office/powerpoint/2010/main" val="3997766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ara20060209080704.jpg"/>
          <p:cNvPicPr>
            <a:picLocks noGrp="1" noChangeAspect="1"/>
          </p:cNvPicPr>
          <p:nvPr isPhoto="1"/>
        </p:nvPicPr>
        <p:blipFill>
          <a:blip r:embed="rId3" cstate="print">
            <a:lum/>
          </a:blip>
          <a:stretch>
            <a:fillRect/>
          </a:stretch>
        </p:blipFill>
        <p:spPr>
          <a:xfrm>
            <a:off x="4876800" y="336947"/>
            <a:ext cx="3886200" cy="5246370"/>
          </a:xfrm>
          <a:prstGeom prst="rect">
            <a:avLst/>
          </a:prstGeom>
          <a:noFill/>
          <a:ln>
            <a:noFill/>
          </a:ln>
        </p:spPr>
      </p:pic>
      <p:sp>
        <p:nvSpPr>
          <p:cNvPr id="3" name="TextBox 2">
            <a:extLst>
              <a:ext uri="{FF2B5EF4-FFF2-40B4-BE49-F238E27FC236}">
                <a16:creationId xmlns:a16="http://schemas.microsoft.com/office/drawing/2014/main" id="{2E267895-C1AC-47C6-A616-7E463DC8853B}"/>
              </a:ext>
            </a:extLst>
          </p:cNvPr>
          <p:cNvSpPr txBox="1"/>
          <p:nvPr/>
        </p:nvSpPr>
        <p:spPr>
          <a:xfrm>
            <a:off x="566056" y="838200"/>
            <a:ext cx="2405743" cy="3231654"/>
          </a:xfrm>
          <a:prstGeom prst="rect">
            <a:avLst/>
          </a:prstGeom>
          <a:noFill/>
        </p:spPr>
        <p:txBody>
          <a:bodyPr wrap="square" rtlCol="0">
            <a:spAutoFit/>
          </a:bodyPr>
          <a:lstStyle/>
          <a:p>
            <a:endParaRPr lang="en-US" dirty="0"/>
          </a:p>
          <a:p>
            <a:r>
              <a:rPr lang="en-US" sz="6600" dirty="0"/>
              <a:t>SARA 3000 </a:t>
            </a:r>
          </a:p>
          <a:p>
            <a:r>
              <a:rPr lang="en-US" dirty="0">
                <a:hlinkClick r:id="rId4"/>
              </a:rPr>
              <a:t>https://youtu.be/lTtYo0gv-0c</a:t>
            </a:r>
            <a:r>
              <a:rPr lang="en-US" dirty="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Sara 3000 from MedMartOnline.com">
            <a:hlinkClick r:id="" action="ppaction://media"/>
            <a:extLst>
              <a:ext uri="{FF2B5EF4-FFF2-40B4-BE49-F238E27FC236}">
                <a16:creationId xmlns:a16="http://schemas.microsoft.com/office/drawing/2014/main" id="{81C2E9AA-68FA-9F46-DC33-96F2C3833ED0}"/>
              </a:ext>
            </a:extLst>
          </p:cNvPr>
          <p:cNvPicPr>
            <a:picLocks noRot="1" noChangeAspect="1"/>
          </p:cNvPicPr>
          <p:nvPr>
            <a:videoFile r:link="rId1"/>
          </p:nvPr>
        </p:nvPicPr>
        <p:blipFill>
          <a:blip r:embed="rId3"/>
          <a:stretch>
            <a:fillRect/>
          </a:stretch>
        </p:blipFill>
        <p:spPr>
          <a:xfrm>
            <a:off x="593416" y="1066800"/>
            <a:ext cx="7957168" cy="4495800"/>
          </a:xfrm>
          <a:prstGeom prst="rect">
            <a:avLst/>
          </a:prstGeom>
        </p:spPr>
      </p:pic>
    </p:spTree>
    <p:extLst>
      <p:ext uri="{BB962C8B-B14F-4D97-AF65-F5344CB8AC3E}">
        <p14:creationId xmlns:p14="http://schemas.microsoft.com/office/powerpoint/2010/main" val="154516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A85529-BB29-4BA3-B676-8CA2A485C34B}"/>
              </a:ext>
            </a:extLst>
          </p:cNvPr>
          <p:cNvSpPr txBox="1"/>
          <p:nvPr/>
        </p:nvSpPr>
        <p:spPr>
          <a:xfrm>
            <a:off x="533400" y="914400"/>
            <a:ext cx="4572000" cy="861774"/>
          </a:xfrm>
          <a:prstGeom prst="rect">
            <a:avLst/>
          </a:prstGeom>
          <a:noFill/>
        </p:spPr>
        <p:txBody>
          <a:bodyPr wrap="square">
            <a:spAutoFit/>
          </a:bodyPr>
          <a:lstStyle/>
          <a:p>
            <a:r>
              <a:rPr lang="en-US" sz="3200" dirty="0"/>
              <a:t>ARJO Maxi Sky 600</a:t>
            </a:r>
          </a:p>
          <a:p>
            <a:r>
              <a:rPr lang="en-US" dirty="0">
                <a:hlinkClick r:id="rId3"/>
              </a:rPr>
              <a:t>https://youtu.be/4yJVH2rnehM</a:t>
            </a:r>
            <a:r>
              <a:rPr lang="en-US" dirty="0"/>
              <a:t> </a:t>
            </a:r>
          </a:p>
        </p:txBody>
      </p:sp>
      <p:sp>
        <p:nvSpPr>
          <p:cNvPr id="4" name="TextBox 3">
            <a:extLst>
              <a:ext uri="{FF2B5EF4-FFF2-40B4-BE49-F238E27FC236}">
                <a16:creationId xmlns:a16="http://schemas.microsoft.com/office/drawing/2014/main" id="{CD74B511-9E95-4BCD-BB58-692E1A104146}"/>
              </a:ext>
            </a:extLst>
          </p:cNvPr>
          <p:cNvSpPr txBox="1"/>
          <p:nvPr/>
        </p:nvSpPr>
        <p:spPr>
          <a:xfrm>
            <a:off x="533400" y="1981200"/>
            <a:ext cx="7391400" cy="1477328"/>
          </a:xfrm>
          <a:prstGeom prst="rect">
            <a:avLst/>
          </a:prstGeom>
          <a:noFill/>
        </p:spPr>
        <p:txBody>
          <a:bodyPr wrap="square">
            <a:spAutoFit/>
          </a:bodyPr>
          <a:lstStyle/>
          <a:p>
            <a:pPr marL="285750" indent="-285750">
              <a:buFont typeface="Arial" panose="020B0604020202020204" pitchFamily="34" charset="0"/>
              <a:buChar char="•"/>
            </a:pPr>
            <a:r>
              <a:rPr lang="en-US" sz="1800" spc="-100" dirty="0"/>
              <a:t>Ceiling Lift installation started in 2008.  With the goal of 100% of inpatient beds have ceiling lift coverage . </a:t>
            </a:r>
          </a:p>
          <a:p>
            <a:pPr marL="285750" indent="-285750">
              <a:buFont typeface="Arial" panose="020B0604020202020204" pitchFamily="34" charset="0"/>
              <a:buChar char="•"/>
            </a:pPr>
            <a:r>
              <a:rPr lang="en-US" sz="1800" spc="-100" dirty="0"/>
              <a:t>We are continually expanding our SPHM program through equipment procurement and training initiatives. Your Unit Peer Leader is your expert, find them, and utilize them to improve SPHM in your work area!</a:t>
            </a:r>
            <a:endParaRPr lang="en-US" dirty="0"/>
          </a:p>
        </p:txBody>
      </p:sp>
      <p:pic>
        <p:nvPicPr>
          <p:cNvPr id="5" name="Picture 4">
            <a:extLst>
              <a:ext uri="{FF2B5EF4-FFF2-40B4-BE49-F238E27FC236}">
                <a16:creationId xmlns:a16="http://schemas.microsoft.com/office/drawing/2014/main" id="{E3482C0B-2929-6D80-7EC9-09D4962094E9}"/>
              </a:ext>
            </a:extLst>
          </p:cNvPr>
          <p:cNvPicPr>
            <a:picLocks noChangeAspect="1"/>
          </p:cNvPicPr>
          <p:nvPr/>
        </p:nvPicPr>
        <p:blipFill>
          <a:blip r:embed="rId4"/>
          <a:stretch>
            <a:fillRect/>
          </a:stretch>
        </p:blipFill>
        <p:spPr>
          <a:xfrm>
            <a:off x="1928212" y="3485324"/>
            <a:ext cx="4601776" cy="2590800"/>
          </a:xfrm>
          <a:prstGeom prst="rect">
            <a:avLst/>
          </a:prstGeom>
        </p:spPr>
      </p:pic>
    </p:spTree>
    <p:extLst>
      <p:ext uri="{BB962C8B-B14F-4D97-AF65-F5344CB8AC3E}">
        <p14:creationId xmlns:p14="http://schemas.microsoft.com/office/powerpoint/2010/main" val="2374320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Arjo Maxi Sky 600 Controls and Functions">
            <a:hlinkClick r:id="" action="ppaction://media"/>
            <a:extLst>
              <a:ext uri="{FF2B5EF4-FFF2-40B4-BE49-F238E27FC236}">
                <a16:creationId xmlns:a16="http://schemas.microsoft.com/office/drawing/2014/main" id="{E10A34EC-86E4-1D33-3488-4BABAC57418D}"/>
              </a:ext>
            </a:extLst>
          </p:cNvPr>
          <p:cNvPicPr>
            <a:picLocks noRot="1" noChangeAspect="1"/>
          </p:cNvPicPr>
          <p:nvPr>
            <a:videoFile r:link="rId1"/>
          </p:nvPr>
        </p:nvPicPr>
        <p:blipFill>
          <a:blip r:embed="rId3"/>
          <a:stretch>
            <a:fillRect/>
          </a:stretch>
        </p:blipFill>
        <p:spPr>
          <a:xfrm>
            <a:off x="391115" y="1066800"/>
            <a:ext cx="8295685" cy="4687062"/>
          </a:xfrm>
          <a:prstGeom prst="rect">
            <a:avLst/>
          </a:prstGeom>
        </p:spPr>
      </p:pic>
    </p:spTree>
    <p:extLst>
      <p:ext uri="{BB962C8B-B14F-4D97-AF65-F5344CB8AC3E}">
        <p14:creationId xmlns:p14="http://schemas.microsoft.com/office/powerpoint/2010/main" val="2972136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20E17A-BE20-4085-9A2C-938D2CE2AD45}"/>
              </a:ext>
            </a:extLst>
          </p:cNvPr>
          <p:cNvSpPr txBox="1"/>
          <p:nvPr/>
        </p:nvSpPr>
        <p:spPr>
          <a:xfrm>
            <a:off x="990600" y="2209800"/>
            <a:ext cx="3962400" cy="1077218"/>
          </a:xfrm>
          <a:prstGeom prst="rect">
            <a:avLst/>
          </a:prstGeom>
          <a:noFill/>
        </p:spPr>
        <p:txBody>
          <a:bodyPr wrap="square" rtlCol="0">
            <a:spAutoFit/>
          </a:bodyPr>
          <a:lstStyle/>
          <a:p>
            <a:r>
              <a:rPr lang="en-US" sz="2800" dirty="0"/>
              <a:t>WY’ East Denali 600</a:t>
            </a:r>
          </a:p>
          <a:p>
            <a:r>
              <a:rPr lang="en-US" dirty="0">
                <a:hlinkClick r:id="rId3"/>
              </a:rPr>
              <a:t>https://youtu.be/kh2KM0ooxIY</a:t>
            </a:r>
            <a:r>
              <a:rPr lang="en-US" dirty="0"/>
              <a:t> </a:t>
            </a:r>
          </a:p>
          <a:p>
            <a:endParaRPr lang="en-US" dirty="0"/>
          </a:p>
        </p:txBody>
      </p:sp>
      <p:sp>
        <p:nvSpPr>
          <p:cNvPr id="3" name="TextBox 2">
            <a:extLst>
              <a:ext uri="{FF2B5EF4-FFF2-40B4-BE49-F238E27FC236}">
                <a16:creationId xmlns:a16="http://schemas.microsoft.com/office/drawing/2014/main" id="{5BE186A9-63E0-108A-54D7-98106B3CCCDE}"/>
              </a:ext>
            </a:extLst>
          </p:cNvPr>
          <p:cNvSpPr txBox="1"/>
          <p:nvPr/>
        </p:nvSpPr>
        <p:spPr>
          <a:xfrm>
            <a:off x="838200" y="4419600"/>
            <a:ext cx="55626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Denali 600 is a great all around lift that is used in place of ceiling lift if room is without lift or workorder for repair has been placed. </a:t>
            </a:r>
          </a:p>
        </p:txBody>
      </p:sp>
      <p:pic>
        <p:nvPicPr>
          <p:cNvPr id="4" name="Picture 3">
            <a:extLst>
              <a:ext uri="{FF2B5EF4-FFF2-40B4-BE49-F238E27FC236}">
                <a16:creationId xmlns:a16="http://schemas.microsoft.com/office/drawing/2014/main" id="{A38F6B98-BF23-24DE-0E64-805923872F6B}"/>
              </a:ext>
            </a:extLst>
          </p:cNvPr>
          <p:cNvPicPr>
            <a:picLocks noChangeAspect="1"/>
          </p:cNvPicPr>
          <p:nvPr/>
        </p:nvPicPr>
        <p:blipFill>
          <a:blip r:embed="rId4"/>
          <a:stretch>
            <a:fillRect/>
          </a:stretch>
        </p:blipFill>
        <p:spPr>
          <a:xfrm>
            <a:off x="4587073" y="471487"/>
            <a:ext cx="3505200" cy="3476625"/>
          </a:xfrm>
          <a:prstGeom prst="rect">
            <a:avLst/>
          </a:prstGeom>
        </p:spPr>
      </p:pic>
    </p:spTree>
    <p:extLst>
      <p:ext uri="{BB962C8B-B14F-4D97-AF65-F5344CB8AC3E}">
        <p14:creationId xmlns:p14="http://schemas.microsoft.com/office/powerpoint/2010/main" val="1183622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Denali 600 Basic Functions &amp; Safety">
            <a:hlinkClick r:id="" action="ppaction://media"/>
            <a:extLst>
              <a:ext uri="{FF2B5EF4-FFF2-40B4-BE49-F238E27FC236}">
                <a16:creationId xmlns:a16="http://schemas.microsoft.com/office/drawing/2014/main" id="{859A1DF7-0375-B5F1-3DC1-DDA45A4D4718}"/>
              </a:ext>
            </a:extLst>
          </p:cNvPr>
          <p:cNvPicPr>
            <a:picLocks noRot="1" noChangeAspect="1"/>
          </p:cNvPicPr>
          <p:nvPr>
            <a:videoFile r:link="rId1"/>
          </p:nvPr>
        </p:nvPicPr>
        <p:blipFill>
          <a:blip r:embed="rId3"/>
          <a:stretch>
            <a:fillRect/>
          </a:stretch>
        </p:blipFill>
        <p:spPr>
          <a:xfrm>
            <a:off x="391115" y="1066800"/>
            <a:ext cx="8361770" cy="4724400"/>
          </a:xfrm>
          <a:prstGeom prst="rect">
            <a:avLst/>
          </a:prstGeom>
        </p:spPr>
      </p:pic>
    </p:spTree>
    <p:extLst>
      <p:ext uri="{BB962C8B-B14F-4D97-AF65-F5344CB8AC3E}">
        <p14:creationId xmlns:p14="http://schemas.microsoft.com/office/powerpoint/2010/main" val="96898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HOVER MAT</a:t>
            </a:r>
            <a:br>
              <a:rPr lang="en-US" dirty="0"/>
            </a:br>
            <a:r>
              <a:rPr lang="en-US" dirty="0">
                <a:hlinkClick r:id="rId2"/>
              </a:rPr>
              <a:t>https://youtu.be/fTBAI7H9-Eg</a:t>
            </a:r>
            <a:r>
              <a:rPr lang="en-US" dirty="0"/>
              <a:t> </a:t>
            </a:r>
          </a:p>
        </p:txBody>
      </p:sp>
      <p:sp>
        <p:nvSpPr>
          <p:cNvPr id="4" name="Text Placeholder 3"/>
          <p:cNvSpPr>
            <a:spLocks noGrp="1"/>
          </p:cNvSpPr>
          <p:nvPr>
            <p:ph type="body" sz="half" idx="2"/>
          </p:nvPr>
        </p:nvSpPr>
        <p:spPr/>
        <p:txBody>
          <a:bodyPr/>
          <a:lstStyle/>
          <a:p>
            <a:r>
              <a:rPr lang="en-US" dirty="0"/>
              <a:t>SAFE PATIENT HANDLING EQUIPMENT</a:t>
            </a:r>
          </a:p>
        </p:txBody>
      </p:sp>
      <p:pic>
        <p:nvPicPr>
          <p:cNvPr id="5" name="Picture Placeholder 4" descr="Hovermatt-1266331211.jpg"/>
          <p:cNvPicPr>
            <a:picLocks noGrp="1" noChangeAspect="1"/>
          </p:cNvPicPr>
          <p:nvPr isPhoto="1">
            <p:ph type="pic" idx="1"/>
          </p:nvPr>
        </p:nvPicPr>
        <p:blipFill>
          <a:blip r:embed="rId3" cstate="print">
            <a:lum/>
          </a:blip>
          <a:srcRect t="4978" b="4978"/>
          <a:stretch>
            <a:fillRect/>
          </a:stretch>
        </p:blipFill>
        <p:spPr>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Hovermatt video">
            <a:hlinkClick r:id="" action="ppaction://media"/>
            <a:extLst>
              <a:ext uri="{FF2B5EF4-FFF2-40B4-BE49-F238E27FC236}">
                <a16:creationId xmlns:a16="http://schemas.microsoft.com/office/drawing/2014/main" id="{6A7F2A21-9671-A747-7DA6-BB6936B3FCA2}"/>
              </a:ext>
            </a:extLst>
          </p:cNvPr>
          <p:cNvPicPr>
            <a:picLocks noRot="1" noChangeAspect="1"/>
          </p:cNvPicPr>
          <p:nvPr>
            <a:videoFile r:link="rId1"/>
          </p:nvPr>
        </p:nvPicPr>
        <p:blipFill>
          <a:blip r:embed="rId3"/>
          <a:stretch>
            <a:fillRect/>
          </a:stretch>
        </p:blipFill>
        <p:spPr>
          <a:xfrm>
            <a:off x="914400" y="533400"/>
            <a:ext cx="7467600" cy="5600700"/>
          </a:xfrm>
          <a:prstGeom prst="rect">
            <a:avLst/>
          </a:prstGeom>
        </p:spPr>
      </p:pic>
    </p:spTree>
    <p:extLst>
      <p:ext uri="{BB962C8B-B14F-4D97-AF65-F5344CB8AC3E}">
        <p14:creationId xmlns:p14="http://schemas.microsoft.com/office/powerpoint/2010/main" val="120342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0A459D7-8E99-48F6-D803-A86AE9103A6A}"/>
              </a:ext>
            </a:extLst>
          </p:cNvPr>
          <p:cNvSpPr>
            <a:spLocks noGrp="1"/>
          </p:cNvSpPr>
          <p:nvPr>
            <p:ph type="subTitle" idx="1"/>
          </p:nvPr>
        </p:nvSpPr>
        <p:spPr/>
        <p:txBody>
          <a:bodyPr/>
          <a:lstStyle/>
          <a:p>
            <a:r>
              <a:rPr lang="en-US" dirty="0">
                <a:solidFill>
                  <a:schemeClr val="tx1"/>
                </a:solidFill>
              </a:rPr>
              <a:t>Welcome to VA Central California Health care system</a:t>
            </a:r>
          </a:p>
        </p:txBody>
      </p:sp>
      <p:sp>
        <p:nvSpPr>
          <p:cNvPr id="3" name="Title 2">
            <a:extLst>
              <a:ext uri="{FF2B5EF4-FFF2-40B4-BE49-F238E27FC236}">
                <a16:creationId xmlns:a16="http://schemas.microsoft.com/office/drawing/2014/main" id="{F04D6157-464A-D88A-DF7F-0405F695B6F6}"/>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1842704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RECOURCES</a:t>
            </a:r>
          </a:p>
        </p:txBody>
      </p:sp>
      <p:sp>
        <p:nvSpPr>
          <p:cNvPr id="3" name="Content Placeholder 2"/>
          <p:cNvSpPr>
            <a:spLocks noGrp="1"/>
          </p:cNvSpPr>
          <p:nvPr>
            <p:ph sz="quarter" idx="1"/>
          </p:nvPr>
        </p:nvSpPr>
        <p:spPr/>
        <p:txBody>
          <a:bodyPr/>
          <a:lstStyle/>
          <a:p>
            <a:r>
              <a:rPr lang="en-US" dirty="0"/>
              <a:t>VHA Patient Safety Center: </a:t>
            </a:r>
            <a:r>
              <a:rPr lang="en-US" dirty="0">
                <a:hlinkClick r:id="rId2"/>
              </a:rPr>
              <a:t>www.visn8.med.va.gov/patientsafetycenter</a:t>
            </a:r>
            <a:endParaRPr lang="en-US" dirty="0"/>
          </a:p>
          <a:p>
            <a:pPr>
              <a:buNone/>
            </a:pPr>
            <a:endParaRPr lang="en-US" dirty="0"/>
          </a:p>
          <a:p>
            <a:r>
              <a:rPr lang="en-US" dirty="0"/>
              <a:t>ANA: </a:t>
            </a:r>
            <a:r>
              <a:rPr lang="en-US" dirty="0">
                <a:hlinkClick r:id="rId3"/>
              </a:rPr>
              <a:t>www.nursingworld.org/osh</a:t>
            </a:r>
            <a:endParaRPr lang="en-US" dirty="0"/>
          </a:p>
          <a:p>
            <a:pPr>
              <a:buNone/>
            </a:pPr>
            <a:endParaRPr lang="en-US" dirty="0"/>
          </a:p>
          <a:p>
            <a:r>
              <a:rPr lang="en-US" dirty="0"/>
              <a:t>OSHA: </a:t>
            </a:r>
            <a:r>
              <a:rPr lang="en-US" dirty="0">
                <a:hlinkClick r:id="rId4"/>
              </a:rPr>
              <a:t>www.osha.gov/SLTC/ergonomics/index.html</a:t>
            </a:r>
            <a:endParaRPr lang="en-US" dirty="0"/>
          </a:p>
          <a:p>
            <a:pPr>
              <a:buNone/>
            </a:pPr>
            <a:endParaRPr lang="en-US" dirty="0"/>
          </a:p>
        </p:txBody>
      </p:sp>
    </p:spTree>
    <p:extLst>
      <p:ext uri="{BB962C8B-B14F-4D97-AF65-F5344CB8AC3E}">
        <p14:creationId xmlns:p14="http://schemas.microsoft.com/office/powerpoint/2010/main" val="179297240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6c7cbfae-09b3-446b-8042-326ae5c03660" xsi:nil="true"/>
    <lcf76f155ced4ddcb4097134ff3c332f xmlns="f0b6ede9-c9f9-4023-b8f4-f82022981aa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52FAC2C7ECB7B45B867F95F8EDA5ADA" ma:contentTypeVersion="11" ma:contentTypeDescription="Create a new document." ma:contentTypeScope="" ma:versionID="61c9c74a4fe6aa90a3b9b6b97a5672f3">
  <xsd:schema xmlns:xsd="http://www.w3.org/2001/XMLSchema" xmlns:xs="http://www.w3.org/2001/XMLSchema" xmlns:p="http://schemas.microsoft.com/office/2006/metadata/properties" xmlns:ns1="http://schemas.microsoft.com/sharepoint/v3" xmlns:ns2="f0b6ede9-c9f9-4023-b8f4-f82022981aa9" xmlns:ns3="b937e61a-f6e1-4453-8113-9036fc5b17db" xmlns:ns4="6c7cbfae-09b3-446b-8042-326ae5c03660" targetNamespace="http://schemas.microsoft.com/office/2006/metadata/properties" ma:root="true" ma:fieldsID="2a86fa2d39617355139221dddb83233d" ns1:_="" ns2:_="" ns3:_="" ns4:_="">
    <xsd:import namespace="http://schemas.microsoft.com/sharepoint/v3"/>
    <xsd:import namespace="f0b6ede9-c9f9-4023-b8f4-f82022981aa9"/>
    <xsd:import namespace="b937e61a-f6e1-4453-8113-9036fc5b17db"/>
    <xsd:import namespace="6c7cbfae-09b3-446b-8042-326ae5c03660"/>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3:SharedWithUsers" minOccurs="0"/>
                <xsd:element ref="ns3:SharedWithDetails" minOccurs="0"/>
                <xsd:element ref="ns2:lcf76f155ced4ddcb4097134ff3c332f" minOccurs="0"/>
                <xsd:element ref="ns4: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b6ede9-c9f9-4023-b8f4-f82022981a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37e61a-f6e1-4453-8113-9036fc5b17d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c7cbfae-09b3-446b-8042-326ae5c036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9f1ae89-b122-4820-aba4-559d5d1f5ee3}" ma:internalName="TaxCatchAll" ma:showField="CatchAllData" ma:web="6c7cbfae-09b3-446b-8042-326ae5c036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50B254-9C1E-447B-A89C-DB8B2ED90FA1}">
  <ds:schemaRefs>
    <ds:schemaRef ds:uri="http://schemas.microsoft.com/sharepoint/v3/contenttype/forms"/>
  </ds:schemaRefs>
</ds:datastoreItem>
</file>

<file path=customXml/itemProps2.xml><?xml version="1.0" encoding="utf-8"?>
<ds:datastoreItem xmlns:ds="http://schemas.openxmlformats.org/officeDocument/2006/customXml" ds:itemID="{B161DB9B-2952-4504-AB15-639A03022819}">
  <ds:schemaRefs>
    <ds:schemaRef ds:uri="http://schemas.microsoft.com/office/2006/metadata/properties"/>
    <ds:schemaRef ds:uri="http://schemas.microsoft.com/office/infopath/2007/PartnerControls"/>
    <ds:schemaRef ds:uri="http://schemas.microsoft.com/sharepoint/v3"/>
    <ds:schemaRef ds:uri="6c7cbfae-09b3-446b-8042-326ae5c03660"/>
    <ds:schemaRef ds:uri="f0b6ede9-c9f9-4023-b8f4-f82022981aa9"/>
  </ds:schemaRefs>
</ds:datastoreItem>
</file>

<file path=customXml/itemProps3.xml><?xml version="1.0" encoding="utf-8"?>
<ds:datastoreItem xmlns:ds="http://schemas.openxmlformats.org/officeDocument/2006/customXml" ds:itemID="{7058323E-794E-499B-9364-C72EB75B8A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0b6ede9-c9f9-4023-b8f4-f82022981aa9"/>
    <ds:schemaRef ds:uri="b937e61a-f6e1-4453-8113-9036fc5b17db"/>
    <ds:schemaRef ds:uri="6c7cbfae-09b3-446b-8042-326ae5c036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Civic</Template>
  <TotalTime>7498</TotalTime>
  <Words>606</Words>
  <Application>Microsoft Office PowerPoint</Application>
  <PresentationFormat>On-screen Show (4:3)</PresentationFormat>
  <Paragraphs>72</Paragraphs>
  <Slides>22</Slides>
  <Notes>3</Notes>
  <HiddenSlides>0</HiddenSlides>
  <MMClips>4</MMClips>
  <ScaleCrop>false</ScaleCrop>
  <HeadingPairs>
    <vt:vector size="8" baseType="variant">
      <vt:variant>
        <vt:lpstr>Fonts Used</vt:lpstr>
      </vt:variant>
      <vt:variant>
        <vt:i4>8</vt:i4>
      </vt:variant>
      <vt:variant>
        <vt:lpstr>Theme</vt:lpstr>
      </vt:variant>
      <vt:variant>
        <vt:i4>1</vt:i4>
      </vt:variant>
      <vt:variant>
        <vt:lpstr>Slide Titles</vt:lpstr>
      </vt:variant>
      <vt:variant>
        <vt:i4>22</vt:i4>
      </vt:variant>
      <vt:variant>
        <vt:lpstr>Custom Shows</vt:lpstr>
      </vt:variant>
      <vt:variant>
        <vt:i4>1</vt:i4>
      </vt:variant>
    </vt:vector>
  </HeadingPairs>
  <TitlesOfParts>
    <vt:vector size="32" baseType="lpstr">
      <vt:lpstr>Arial</vt:lpstr>
      <vt:lpstr>Calibri</vt:lpstr>
      <vt:lpstr>Georgia</vt:lpstr>
      <vt:lpstr>Tahoma</vt:lpstr>
      <vt:lpstr>Times New Roman</vt:lpstr>
      <vt:lpstr>Verdana</vt:lpstr>
      <vt:lpstr>Wingdings</vt:lpstr>
      <vt:lpstr>Wingdings 2</vt:lpstr>
      <vt:lpstr>Civic</vt:lpstr>
      <vt:lpstr>SAFE PATIENT HANDLING and Mobility</vt:lpstr>
      <vt:lpstr>Did you know? Direct Patient Care Workers have 7 times the national average of musculoskeletal disorders. Lifting over 35 lbs without use of assistive equipment puts you at risk for injury!</vt:lpstr>
      <vt:lpstr>DISABLING  INJURIES</vt:lpstr>
      <vt:lpstr>DISABLING  INJURIES</vt:lpstr>
      <vt:lpstr>SAFE PATIENT HANDLING AND MOVEMENT</vt:lpstr>
      <vt:lpstr>PowerPoint Presentation</vt:lpstr>
      <vt:lpstr>PowerPoint Presentation</vt:lpstr>
      <vt:lpstr>PowerPoint Presentation</vt:lpstr>
      <vt:lpstr>PowerPoint Presentation</vt:lpstr>
      <vt:lpstr>SOLUTIONS ACCORDING TO DEPENDENCY LEVEL</vt:lpstr>
      <vt:lpstr>PREVENT INJURIES TO YOURSELF AND PATIENTS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HOVER MAT https://youtu.be/fTBAI7H9-Eg </vt:lpstr>
      <vt:lpstr>PowerPoint Presentation</vt:lpstr>
      <vt:lpstr>Thank you!</vt:lpstr>
      <vt:lpstr>RECOURCES</vt:lpstr>
      <vt:lpstr>Custom Show 1</vt:lpstr>
    </vt:vector>
  </TitlesOfParts>
  <Company>Department of Veterans Affairs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PATIENT HANDLING and Movement</dc:title>
  <dc:creator>EIE Desktop Technologies</dc:creator>
  <cp:lastModifiedBy>Daniel Agbogidi</cp:lastModifiedBy>
  <cp:revision>56</cp:revision>
  <cp:lastPrinted>2019-11-01T12:33:23Z</cp:lastPrinted>
  <dcterms:created xsi:type="dcterms:W3CDTF">2012-11-07T14:29:58Z</dcterms:created>
  <dcterms:modified xsi:type="dcterms:W3CDTF">2026-10-06T05:08:52Z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0x010100D52FAC2C7ECB7B45B867F95F8EDA5ADA</vt:lpwstr>
  </property>
</Properties>
</file>