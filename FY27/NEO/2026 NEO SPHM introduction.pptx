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79" r:id="rId3"/>
    <p:sldId id="1400" r:id="rId4"/>
    <p:sldId id="707" r:id="rId5"/>
    <p:sldId id="281" r:id="rId6"/>
    <p:sldId id="304" r:id="rId7"/>
    <p:sldId id="292" r:id="rId8"/>
    <p:sldId id="307" r:id="rId9"/>
    <p:sldId id="293" r:id="rId10"/>
    <p:sldId id="280" r:id="rId11"/>
    <p:sldId id="305" r:id="rId12"/>
    <p:sldId id="291" r:id="rId13"/>
    <p:sldId id="1401" r:id="rId14"/>
    <p:sldId id="1397" r:id="rId15"/>
    <p:sldId id="302" r:id="rId16"/>
    <p:sldId id="303" r:id="rId17"/>
    <p:sldId id="269" r:id="rId18"/>
    <p:sldId id="1399"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7" autoAdjust="0"/>
    <p:restoredTop sz="83196" autoAdjust="0"/>
  </p:normalViewPr>
  <p:slideViewPr>
    <p:cSldViewPr snapToGrid="0">
      <p:cViewPr varScale="1">
        <p:scale>
          <a:sx n="65" d="100"/>
          <a:sy n="65" d="100"/>
        </p:scale>
        <p:origin x="724" y="27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C67367-7A1F-4CD6-A9F3-64FCDD773905}" type="doc">
      <dgm:prSet loTypeId="urn:microsoft.com/office/officeart/2016/7/layout/BasicLinearProcessNumbered" loCatId="process" qsTypeId="urn:microsoft.com/office/officeart/2005/8/quickstyle/simple2" qsCatId="simple" csTypeId="urn:microsoft.com/office/officeart/2005/8/colors/colorful2" csCatId="colorful" phldr="1"/>
      <dgm:spPr/>
      <dgm:t>
        <a:bodyPr/>
        <a:lstStyle/>
        <a:p>
          <a:endParaRPr lang="en-US"/>
        </a:p>
      </dgm:t>
    </dgm:pt>
    <dgm:pt modelId="{D09C7E84-5845-4CF0-AC24-F38653100C02}">
      <dgm:prSet/>
      <dgm:spPr/>
      <dgm:t>
        <a:bodyPr/>
        <a:lstStyle/>
        <a:p>
          <a:r>
            <a:rPr lang="en-US" dirty="0"/>
            <a:t>National Directive 1611 establishes Safe Patient Handling and Mobility as a Veterans Administration Priority. </a:t>
          </a:r>
        </a:p>
      </dgm:t>
    </dgm:pt>
    <dgm:pt modelId="{B9AE6782-7C6B-446B-BBF5-8107B7BB22D1}" type="parTrans" cxnId="{1A62776F-C65E-4F57-8294-C38E69CD5382}">
      <dgm:prSet/>
      <dgm:spPr/>
      <dgm:t>
        <a:bodyPr/>
        <a:lstStyle/>
        <a:p>
          <a:endParaRPr lang="en-US"/>
        </a:p>
      </dgm:t>
    </dgm:pt>
    <dgm:pt modelId="{CA6C71B0-D2FA-4AC9-9C45-5F9E5B037587}" type="sibTrans" cxnId="{1A62776F-C65E-4F57-8294-C38E69CD5382}">
      <dgm:prSet phldrT="1"/>
      <dgm:spPr/>
      <dgm:t>
        <a:bodyPr/>
        <a:lstStyle/>
        <a:p>
          <a:r>
            <a:rPr lang="en-US"/>
            <a:t>1</a:t>
          </a:r>
        </a:p>
      </dgm:t>
    </dgm:pt>
    <dgm:pt modelId="{B0D7D1A7-531F-4FB6-BB30-6A79E0F8DD22}">
      <dgm:prSet/>
      <dgm:spPr/>
      <dgm:t>
        <a:bodyPr/>
        <a:lstStyle/>
        <a:p>
          <a:r>
            <a:rPr lang="en-US" dirty="0"/>
            <a:t>Medical Center Policy 118-21-013 establishes the Safe Patient Handling and Mobility policy for the VACCHS.  </a:t>
          </a:r>
        </a:p>
      </dgm:t>
    </dgm:pt>
    <dgm:pt modelId="{485971C6-6FEC-4910-8460-6F8968F8D583}" type="parTrans" cxnId="{E16FD0BE-96AB-4C0E-B927-450D92335E32}">
      <dgm:prSet/>
      <dgm:spPr/>
      <dgm:t>
        <a:bodyPr/>
        <a:lstStyle/>
        <a:p>
          <a:endParaRPr lang="en-US"/>
        </a:p>
      </dgm:t>
    </dgm:pt>
    <dgm:pt modelId="{9395CB89-2C12-4471-A740-9A5607E8CE4F}" type="sibTrans" cxnId="{E16FD0BE-96AB-4C0E-B927-450D92335E32}">
      <dgm:prSet phldrT="2"/>
      <dgm:spPr/>
      <dgm:t>
        <a:bodyPr/>
        <a:lstStyle/>
        <a:p>
          <a:r>
            <a:rPr lang="en-US"/>
            <a:t>2</a:t>
          </a:r>
        </a:p>
      </dgm:t>
    </dgm:pt>
    <dgm:pt modelId="{C0E9D2B4-0288-4088-AA27-26C19FC8D133}" type="pres">
      <dgm:prSet presAssocID="{FFC67367-7A1F-4CD6-A9F3-64FCDD773905}" presName="Name0" presStyleCnt="0">
        <dgm:presLayoutVars>
          <dgm:animLvl val="lvl"/>
          <dgm:resizeHandles val="exact"/>
        </dgm:presLayoutVars>
      </dgm:prSet>
      <dgm:spPr/>
    </dgm:pt>
    <dgm:pt modelId="{0C16461E-8DAF-41D0-B857-AD08AE322034}" type="pres">
      <dgm:prSet presAssocID="{D09C7E84-5845-4CF0-AC24-F38653100C02}" presName="compositeNode" presStyleCnt="0">
        <dgm:presLayoutVars>
          <dgm:bulletEnabled val="1"/>
        </dgm:presLayoutVars>
      </dgm:prSet>
      <dgm:spPr/>
    </dgm:pt>
    <dgm:pt modelId="{DC2D3ACC-B6EE-45B8-8B42-BCDF561B9A9F}" type="pres">
      <dgm:prSet presAssocID="{D09C7E84-5845-4CF0-AC24-F38653100C02}" presName="bgRect" presStyleLbl="bgAccFollowNode1" presStyleIdx="0" presStyleCnt="2" custLinFactNeighborX="-2283" custLinFactNeighborY="-32850"/>
      <dgm:spPr/>
    </dgm:pt>
    <dgm:pt modelId="{D215D34B-58AD-4B43-8E9C-BD29DFF79314}" type="pres">
      <dgm:prSet presAssocID="{CA6C71B0-D2FA-4AC9-9C45-5F9E5B037587}" presName="sibTransNodeCircle" presStyleLbl="alignNode1" presStyleIdx="0" presStyleCnt="4">
        <dgm:presLayoutVars>
          <dgm:chMax val="0"/>
          <dgm:bulletEnabled/>
        </dgm:presLayoutVars>
      </dgm:prSet>
      <dgm:spPr/>
    </dgm:pt>
    <dgm:pt modelId="{6872B321-E546-46D3-B4BC-09C46ECDE8DC}" type="pres">
      <dgm:prSet presAssocID="{D09C7E84-5845-4CF0-AC24-F38653100C02}" presName="bottomLine" presStyleLbl="alignNode1" presStyleIdx="1" presStyleCnt="4">
        <dgm:presLayoutVars/>
      </dgm:prSet>
      <dgm:spPr/>
    </dgm:pt>
    <dgm:pt modelId="{1904893A-FD30-432E-9F13-BC8FFD8EF1E4}" type="pres">
      <dgm:prSet presAssocID="{D09C7E84-5845-4CF0-AC24-F38653100C02}" presName="nodeText" presStyleLbl="bgAccFollowNode1" presStyleIdx="0" presStyleCnt="2">
        <dgm:presLayoutVars>
          <dgm:bulletEnabled val="1"/>
        </dgm:presLayoutVars>
      </dgm:prSet>
      <dgm:spPr/>
    </dgm:pt>
    <dgm:pt modelId="{0ED9B4A6-A982-4038-8A54-D1E823B78562}" type="pres">
      <dgm:prSet presAssocID="{CA6C71B0-D2FA-4AC9-9C45-5F9E5B037587}" presName="sibTrans" presStyleCnt="0"/>
      <dgm:spPr/>
    </dgm:pt>
    <dgm:pt modelId="{17A9CD4F-4028-44E2-A16E-2CC466984E75}" type="pres">
      <dgm:prSet presAssocID="{B0D7D1A7-531F-4FB6-BB30-6A79E0F8DD22}" presName="compositeNode" presStyleCnt="0">
        <dgm:presLayoutVars>
          <dgm:bulletEnabled val="1"/>
        </dgm:presLayoutVars>
      </dgm:prSet>
      <dgm:spPr/>
    </dgm:pt>
    <dgm:pt modelId="{115CE93C-607C-403E-BEC9-62DE43E64F01}" type="pres">
      <dgm:prSet presAssocID="{B0D7D1A7-531F-4FB6-BB30-6A79E0F8DD22}" presName="bgRect" presStyleLbl="bgAccFollowNode1" presStyleIdx="1" presStyleCnt="2"/>
      <dgm:spPr/>
    </dgm:pt>
    <dgm:pt modelId="{001E5A51-F2E3-4D20-852F-FEDE8095C5C3}" type="pres">
      <dgm:prSet presAssocID="{9395CB89-2C12-4471-A740-9A5607E8CE4F}" presName="sibTransNodeCircle" presStyleLbl="alignNode1" presStyleIdx="2" presStyleCnt="4">
        <dgm:presLayoutVars>
          <dgm:chMax val="0"/>
          <dgm:bulletEnabled/>
        </dgm:presLayoutVars>
      </dgm:prSet>
      <dgm:spPr/>
    </dgm:pt>
    <dgm:pt modelId="{2F1A5268-CCEA-4E8A-A870-C7916ADAF43D}" type="pres">
      <dgm:prSet presAssocID="{B0D7D1A7-531F-4FB6-BB30-6A79E0F8DD22}" presName="bottomLine" presStyleLbl="alignNode1" presStyleIdx="3" presStyleCnt="4">
        <dgm:presLayoutVars/>
      </dgm:prSet>
      <dgm:spPr/>
    </dgm:pt>
    <dgm:pt modelId="{8DF91CB0-4C0E-45DE-AF72-3DA510739772}" type="pres">
      <dgm:prSet presAssocID="{B0D7D1A7-531F-4FB6-BB30-6A79E0F8DD22}" presName="nodeText" presStyleLbl="bgAccFollowNode1" presStyleIdx="1" presStyleCnt="2">
        <dgm:presLayoutVars>
          <dgm:bulletEnabled val="1"/>
        </dgm:presLayoutVars>
      </dgm:prSet>
      <dgm:spPr/>
    </dgm:pt>
  </dgm:ptLst>
  <dgm:cxnLst>
    <dgm:cxn modelId="{4B0C810D-D430-40B0-95E0-5F38D6CB804E}" type="presOf" srcId="{FFC67367-7A1F-4CD6-A9F3-64FCDD773905}" destId="{C0E9D2B4-0288-4088-AA27-26C19FC8D133}" srcOrd="0" destOrd="0" presId="urn:microsoft.com/office/officeart/2016/7/layout/BasicLinearProcessNumbered"/>
    <dgm:cxn modelId="{BB532027-73F9-45C6-BA8E-FE29191979EF}" type="presOf" srcId="{CA6C71B0-D2FA-4AC9-9C45-5F9E5B037587}" destId="{D215D34B-58AD-4B43-8E9C-BD29DFF79314}" srcOrd="0" destOrd="0" presId="urn:microsoft.com/office/officeart/2016/7/layout/BasicLinearProcessNumbered"/>
    <dgm:cxn modelId="{1BB62160-6014-4B5B-9D62-240BBFF619B3}" type="presOf" srcId="{D09C7E84-5845-4CF0-AC24-F38653100C02}" destId="{DC2D3ACC-B6EE-45B8-8B42-BCDF561B9A9F}" srcOrd="0" destOrd="0" presId="urn:microsoft.com/office/officeart/2016/7/layout/BasicLinearProcessNumbered"/>
    <dgm:cxn modelId="{8D0EFC6B-C5FD-4118-A398-F0B7F3E0F248}" type="presOf" srcId="{B0D7D1A7-531F-4FB6-BB30-6A79E0F8DD22}" destId="{8DF91CB0-4C0E-45DE-AF72-3DA510739772}" srcOrd="1" destOrd="0" presId="urn:microsoft.com/office/officeart/2016/7/layout/BasicLinearProcessNumbered"/>
    <dgm:cxn modelId="{1A62776F-C65E-4F57-8294-C38E69CD5382}" srcId="{FFC67367-7A1F-4CD6-A9F3-64FCDD773905}" destId="{D09C7E84-5845-4CF0-AC24-F38653100C02}" srcOrd="0" destOrd="0" parTransId="{B9AE6782-7C6B-446B-BBF5-8107B7BB22D1}" sibTransId="{CA6C71B0-D2FA-4AC9-9C45-5F9E5B037587}"/>
    <dgm:cxn modelId="{C9087673-3154-4922-A8F0-44BACBA66508}" type="presOf" srcId="{D09C7E84-5845-4CF0-AC24-F38653100C02}" destId="{1904893A-FD30-432E-9F13-BC8FFD8EF1E4}" srcOrd="1" destOrd="0" presId="urn:microsoft.com/office/officeart/2016/7/layout/BasicLinearProcessNumbered"/>
    <dgm:cxn modelId="{F4315887-06E2-407E-A7A8-EC678C93059E}" type="presOf" srcId="{9395CB89-2C12-4471-A740-9A5607E8CE4F}" destId="{001E5A51-F2E3-4D20-852F-FEDE8095C5C3}" srcOrd="0" destOrd="0" presId="urn:microsoft.com/office/officeart/2016/7/layout/BasicLinearProcessNumbered"/>
    <dgm:cxn modelId="{E16FD0BE-96AB-4C0E-B927-450D92335E32}" srcId="{FFC67367-7A1F-4CD6-A9F3-64FCDD773905}" destId="{B0D7D1A7-531F-4FB6-BB30-6A79E0F8DD22}" srcOrd="1" destOrd="0" parTransId="{485971C6-6FEC-4910-8460-6F8968F8D583}" sibTransId="{9395CB89-2C12-4471-A740-9A5607E8CE4F}"/>
    <dgm:cxn modelId="{34178FFB-8A4F-4723-B5C3-F24C60ED31C7}" type="presOf" srcId="{B0D7D1A7-531F-4FB6-BB30-6A79E0F8DD22}" destId="{115CE93C-607C-403E-BEC9-62DE43E64F01}" srcOrd="0" destOrd="0" presId="urn:microsoft.com/office/officeart/2016/7/layout/BasicLinearProcessNumbered"/>
    <dgm:cxn modelId="{BCB054CE-C549-458B-9707-C7FEFA497F07}" type="presParOf" srcId="{C0E9D2B4-0288-4088-AA27-26C19FC8D133}" destId="{0C16461E-8DAF-41D0-B857-AD08AE322034}" srcOrd="0" destOrd="0" presId="urn:microsoft.com/office/officeart/2016/7/layout/BasicLinearProcessNumbered"/>
    <dgm:cxn modelId="{AAECEB7A-3FA0-444F-97F0-AA0064A78097}" type="presParOf" srcId="{0C16461E-8DAF-41D0-B857-AD08AE322034}" destId="{DC2D3ACC-B6EE-45B8-8B42-BCDF561B9A9F}" srcOrd="0" destOrd="0" presId="urn:microsoft.com/office/officeart/2016/7/layout/BasicLinearProcessNumbered"/>
    <dgm:cxn modelId="{854C6DB8-DC41-489A-B5D2-FF7A43BBFC65}" type="presParOf" srcId="{0C16461E-8DAF-41D0-B857-AD08AE322034}" destId="{D215D34B-58AD-4B43-8E9C-BD29DFF79314}" srcOrd="1" destOrd="0" presId="urn:microsoft.com/office/officeart/2016/7/layout/BasicLinearProcessNumbered"/>
    <dgm:cxn modelId="{82B848CC-3E9F-49B4-9D71-0A8F36FF5E08}" type="presParOf" srcId="{0C16461E-8DAF-41D0-B857-AD08AE322034}" destId="{6872B321-E546-46D3-B4BC-09C46ECDE8DC}" srcOrd="2" destOrd="0" presId="urn:microsoft.com/office/officeart/2016/7/layout/BasicLinearProcessNumbered"/>
    <dgm:cxn modelId="{F50D44C6-74E2-4B34-80D1-00546AAFEF99}" type="presParOf" srcId="{0C16461E-8DAF-41D0-B857-AD08AE322034}" destId="{1904893A-FD30-432E-9F13-BC8FFD8EF1E4}" srcOrd="3" destOrd="0" presId="urn:microsoft.com/office/officeart/2016/7/layout/BasicLinearProcessNumbered"/>
    <dgm:cxn modelId="{6FE76B77-76F4-4288-9FBA-D6E41DBD3D38}" type="presParOf" srcId="{C0E9D2B4-0288-4088-AA27-26C19FC8D133}" destId="{0ED9B4A6-A982-4038-8A54-D1E823B78562}" srcOrd="1" destOrd="0" presId="urn:microsoft.com/office/officeart/2016/7/layout/BasicLinearProcessNumbered"/>
    <dgm:cxn modelId="{96C47C7F-8810-4140-A3B9-B4BC9CEA2B3B}" type="presParOf" srcId="{C0E9D2B4-0288-4088-AA27-26C19FC8D133}" destId="{17A9CD4F-4028-44E2-A16E-2CC466984E75}" srcOrd="2" destOrd="0" presId="urn:microsoft.com/office/officeart/2016/7/layout/BasicLinearProcessNumbered"/>
    <dgm:cxn modelId="{554F3144-E50F-42DA-B3AA-4A452DBC746A}" type="presParOf" srcId="{17A9CD4F-4028-44E2-A16E-2CC466984E75}" destId="{115CE93C-607C-403E-BEC9-62DE43E64F01}" srcOrd="0" destOrd="0" presId="urn:microsoft.com/office/officeart/2016/7/layout/BasicLinearProcessNumbered"/>
    <dgm:cxn modelId="{B0C63890-D72A-4F4F-82A9-B5E8AEE9CAE8}" type="presParOf" srcId="{17A9CD4F-4028-44E2-A16E-2CC466984E75}" destId="{001E5A51-F2E3-4D20-852F-FEDE8095C5C3}" srcOrd="1" destOrd="0" presId="urn:microsoft.com/office/officeart/2016/7/layout/BasicLinearProcessNumbered"/>
    <dgm:cxn modelId="{438D8A47-317E-453D-A2C6-FF2822B6907C}" type="presParOf" srcId="{17A9CD4F-4028-44E2-A16E-2CC466984E75}" destId="{2F1A5268-CCEA-4E8A-A870-C7916ADAF43D}" srcOrd="2" destOrd="0" presId="urn:microsoft.com/office/officeart/2016/7/layout/BasicLinearProcessNumbered"/>
    <dgm:cxn modelId="{492F637F-02E0-4C56-901E-864DA374EA14}" type="presParOf" srcId="{17A9CD4F-4028-44E2-A16E-2CC466984E75}" destId="{8DF91CB0-4C0E-45DE-AF72-3DA510739772}" srcOrd="3" destOrd="0" presId="urn:microsoft.com/office/officeart/2016/7/layout/BasicLinear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3A640A-7E1F-4E1E-A7F4-A97ED734357C}"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4E1B7B57-B600-46BD-96E7-661DA5239629}">
      <dgm:prSet custT="1"/>
      <dgm:spPr/>
      <dgm:t>
        <a:bodyPr/>
        <a:lstStyle/>
        <a:p>
          <a:r>
            <a:rPr lang="en-US" sz="2400" b="1" i="1" dirty="0"/>
            <a:t>Musculoskeletal Injuries in Caregivers</a:t>
          </a:r>
          <a:endParaRPr lang="en-US" sz="2400" dirty="0"/>
        </a:p>
      </dgm:t>
    </dgm:pt>
    <dgm:pt modelId="{F4BC8CAE-1864-44F4-B7F3-576D93F448BC}" type="parTrans" cxnId="{7D41C474-FD76-4EA9-9593-AA7748E15CDB}">
      <dgm:prSet/>
      <dgm:spPr/>
      <dgm:t>
        <a:bodyPr/>
        <a:lstStyle/>
        <a:p>
          <a:endParaRPr lang="en-US"/>
        </a:p>
      </dgm:t>
    </dgm:pt>
    <dgm:pt modelId="{CCC88A36-60A4-4FDE-A6B6-CCCBC0C99F3B}" type="sibTrans" cxnId="{7D41C474-FD76-4EA9-9593-AA7748E15CDB}">
      <dgm:prSet/>
      <dgm:spPr/>
      <dgm:t>
        <a:bodyPr/>
        <a:lstStyle/>
        <a:p>
          <a:endParaRPr lang="en-US"/>
        </a:p>
      </dgm:t>
    </dgm:pt>
    <dgm:pt modelId="{3CF0135D-3EFB-4708-89B1-D9984C9210DA}">
      <dgm:prSet custT="1"/>
      <dgm:spPr/>
      <dgm:t>
        <a:bodyPr/>
        <a:lstStyle/>
        <a:p>
          <a:r>
            <a:rPr lang="en-US" sz="2400" b="1" dirty="0"/>
            <a:t>Primary driver of loss of nurses from workforce</a:t>
          </a:r>
          <a:endParaRPr lang="en-US" sz="2400" dirty="0"/>
        </a:p>
      </dgm:t>
    </dgm:pt>
    <dgm:pt modelId="{85B45616-0579-48ED-9FCD-86F4096DB12B}" type="parTrans" cxnId="{08A51DA5-AB6B-4C8C-8F23-4A3B43C025BF}">
      <dgm:prSet/>
      <dgm:spPr/>
      <dgm:t>
        <a:bodyPr/>
        <a:lstStyle/>
        <a:p>
          <a:endParaRPr lang="en-US"/>
        </a:p>
      </dgm:t>
    </dgm:pt>
    <dgm:pt modelId="{BA4FBC36-8676-439E-8AE8-41A011D6468E}" type="sibTrans" cxnId="{08A51DA5-AB6B-4C8C-8F23-4A3B43C025BF}">
      <dgm:prSet/>
      <dgm:spPr/>
      <dgm:t>
        <a:bodyPr/>
        <a:lstStyle/>
        <a:p>
          <a:endParaRPr lang="en-US"/>
        </a:p>
      </dgm:t>
    </dgm:pt>
    <dgm:pt modelId="{415D7137-5986-4938-9BBE-A282104C302B}">
      <dgm:prSet custT="1"/>
      <dgm:spPr/>
      <dgm:t>
        <a:bodyPr/>
        <a:lstStyle/>
        <a:p>
          <a:r>
            <a:rPr lang="en-US" sz="2400" dirty="0"/>
            <a:t>2012 BLS data – Nurses 5</a:t>
          </a:r>
          <a:r>
            <a:rPr lang="en-US" sz="2400" baseline="30000" dirty="0"/>
            <a:t>th</a:t>
          </a:r>
          <a:r>
            <a:rPr lang="en-US" sz="2400" dirty="0"/>
            <a:t> and NAs 2</a:t>
          </a:r>
          <a:r>
            <a:rPr lang="en-US" sz="2400" baseline="30000" dirty="0"/>
            <a:t>nd</a:t>
          </a:r>
          <a:r>
            <a:rPr lang="en-US" sz="2400" dirty="0"/>
            <a:t> of </a:t>
          </a:r>
          <a:r>
            <a:rPr lang="en-US" sz="2400" b="1" dirty="0"/>
            <a:t>all industry </a:t>
          </a:r>
          <a:r>
            <a:rPr lang="en-US" sz="2400" dirty="0"/>
            <a:t>workers (injuries with lost time days)</a:t>
          </a:r>
        </a:p>
      </dgm:t>
    </dgm:pt>
    <dgm:pt modelId="{817FE1EC-EC49-4FA4-91AB-A860F6600E6A}" type="parTrans" cxnId="{E4024115-802C-4513-9C4D-E8459B895897}">
      <dgm:prSet/>
      <dgm:spPr/>
      <dgm:t>
        <a:bodyPr/>
        <a:lstStyle/>
        <a:p>
          <a:endParaRPr lang="en-US"/>
        </a:p>
      </dgm:t>
    </dgm:pt>
    <dgm:pt modelId="{68C08417-30C3-42A7-A0B8-58FB19D53CAC}" type="sibTrans" cxnId="{E4024115-802C-4513-9C4D-E8459B895897}">
      <dgm:prSet/>
      <dgm:spPr/>
      <dgm:t>
        <a:bodyPr/>
        <a:lstStyle/>
        <a:p>
          <a:endParaRPr lang="en-US"/>
        </a:p>
      </dgm:t>
    </dgm:pt>
    <dgm:pt modelId="{4CF7C169-B6E1-43AA-B9B6-6863EE24F554}">
      <dgm:prSet custT="1"/>
      <dgm:spPr/>
      <dgm:t>
        <a:bodyPr/>
        <a:lstStyle/>
        <a:p>
          <a:r>
            <a:rPr lang="en-US" sz="2400" dirty="0"/>
            <a:t>Without lift equipment, </a:t>
          </a:r>
          <a:r>
            <a:rPr lang="en-US" sz="2400" b="1" dirty="0"/>
            <a:t>nurses </a:t>
          </a:r>
          <a:r>
            <a:rPr lang="en-US" sz="2400" b="0" u="sng" dirty="0"/>
            <a:t>lift 1.8 tons in 8 </a:t>
          </a:r>
          <a:r>
            <a:rPr lang="en-US" sz="2400" b="0" u="sng" dirty="0" err="1"/>
            <a:t>hrs</a:t>
          </a:r>
          <a:endParaRPr lang="en-US" sz="2400" b="0" u="sng" dirty="0"/>
        </a:p>
      </dgm:t>
    </dgm:pt>
    <dgm:pt modelId="{F13FE960-CFF7-4EFB-8775-DDDF75581643}" type="parTrans" cxnId="{110E1D82-56E9-4052-9B26-F9943A89F30B}">
      <dgm:prSet/>
      <dgm:spPr/>
      <dgm:t>
        <a:bodyPr/>
        <a:lstStyle/>
        <a:p>
          <a:endParaRPr lang="en-US"/>
        </a:p>
      </dgm:t>
    </dgm:pt>
    <dgm:pt modelId="{BDC862C7-AEE0-44BA-B981-6E4BCAB3A7B4}" type="sibTrans" cxnId="{110E1D82-56E9-4052-9B26-F9943A89F30B}">
      <dgm:prSet/>
      <dgm:spPr/>
      <dgm:t>
        <a:bodyPr/>
        <a:lstStyle/>
        <a:p>
          <a:endParaRPr lang="en-US"/>
        </a:p>
      </dgm:t>
    </dgm:pt>
    <dgm:pt modelId="{35657C64-8F00-4E14-8F04-8AB1F81E9C61}">
      <dgm:prSet custT="1"/>
      <dgm:spPr/>
      <dgm:t>
        <a:bodyPr/>
        <a:lstStyle/>
        <a:p>
          <a:r>
            <a:rPr lang="en-US" sz="2400" b="1" u="sng" dirty="0"/>
            <a:t>35 lb. patient lifting limit </a:t>
          </a:r>
          <a:r>
            <a:rPr lang="en-US" sz="2400" dirty="0"/>
            <a:t>under best of circumstances (cooperative, well-placed patients, no tubes, catheters, etc</a:t>
          </a:r>
          <a:r>
            <a:rPr lang="en-US" sz="500" dirty="0"/>
            <a:t>.)</a:t>
          </a:r>
        </a:p>
      </dgm:t>
    </dgm:pt>
    <dgm:pt modelId="{159C7ECE-3BF9-43BE-8FC1-480EDD258216}" type="parTrans" cxnId="{6AB2940F-8C8D-4C42-8E88-8F596D272875}">
      <dgm:prSet/>
      <dgm:spPr/>
      <dgm:t>
        <a:bodyPr/>
        <a:lstStyle/>
        <a:p>
          <a:endParaRPr lang="en-US"/>
        </a:p>
      </dgm:t>
    </dgm:pt>
    <dgm:pt modelId="{1909AA9F-EB6A-49DD-AEA2-93B2CCEC3D95}" type="sibTrans" cxnId="{6AB2940F-8C8D-4C42-8E88-8F596D272875}">
      <dgm:prSet/>
      <dgm:spPr/>
      <dgm:t>
        <a:bodyPr/>
        <a:lstStyle/>
        <a:p>
          <a:endParaRPr lang="en-US"/>
        </a:p>
      </dgm:t>
    </dgm:pt>
    <dgm:pt modelId="{EDA21AA9-E729-4940-8695-93499654D875}">
      <dgm:prSet custT="1"/>
      <dgm:spPr/>
      <dgm:t>
        <a:bodyPr/>
        <a:lstStyle/>
        <a:p>
          <a:r>
            <a:rPr lang="en-US" sz="2400" dirty="0"/>
            <a:t>Increasing injury rates in health care, but not in VA… VA rates are steadily declining </a:t>
          </a:r>
        </a:p>
      </dgm:t>
    </dgm:pt>
    <dgm:pt modelId="{D0A6308C-2FCC-45DD-A22E-0DA42657CD35}" type="parTrans" cxnId="{C86EACD6-6F5C-4713-90AC-0570D48742EA}">
      <dgm:prSet/>
      <dgm:spPr/>
      <dgm:t>
        <a:bodyPr/>
        <a:lstStyle/>
        <a:p>
          <a:endParaRPr lang="en-US"/>
        </a:p>
      </dgm:t>
    </dgm:pt>
    <dgm:pt modelId="{B9A9879A-57F9-4FDD-8882-2DB364857161}" type="sibTrans" cxnId="{C86EACD6-6F5C-4713-90AC-0570D48742EA}">
      <dgm:prSet/>
      <dgm:spPr/>
      <dgm:t>
        <a:bodyPr/>
        <a:lstStyle/>
        <a:p>
          <a:endParaRPr lang="en-US"/>
        </a:p>
      </dgm:t>
    </dgm:pt>
    <dgm:pt modelId="{29FF7943-8937-4341-8495-2BECFAF8AA8C}" type="pres">
      <dgm:prSet presAssocID="{4A3A640A-7E1F-4E1E-A7F4-A97ED734357C}" presName="linear" presStyleCnt="0">
        <dgm:presLayoutVars>
          <dgm:animLvl val="lvl"/>
          <dgm:resizeHandles val="exact"/>
        </dgm:presLayoutVars>
      </dgm:prSet>
      <dgm:spPr/>
    </dgm:pt>
    <dgm:pt modelId="{337BA25D-5275-4B6E-BEA4-8D41F926D240}" type="pres">
      <dgm:prSet presAssocID="{4E1B7B57-B600-46BD-96E7-661DA5239629}" presName="parentText" presStyleLbl="node1" presStyleIdx="0" presStyleCnt="6">
        <dgm:presLayoutVars>
          <dgm:chMax val="0"/>
          <dgm:bulletEnabled val="1"/>
        </dgm:presLayoutVars>
      </dgm:prSet>
      <dgm:spPr/>
    </dgm:pt>
    <dgm:pt modelId="{634A2BF5-80AB-465C-9B85-37587D55AC1F}" type="pres">
      <dgm:prSet presAssocID="{CCC88A36-60A4-4FDE-A6B6-CCCBC0C99F3B}" presName="spacer" presStyleCnt="0"/>
      <dgm:spPr/>
    </dgm:pt>
    <dgm:pt modelId="{300982CE-C758-4022-8985-808D021A9A5C}" type="pres">
      <dgm:prSet presAssocID="{3CF0135D-3EFB-4708-89B1-D9984C9210DA}" presName="parentText" presStyleLbl="node1" presStyleIdx="1" presStyleCnt="6" custLinFactY="-2192" custLinFactNeighborX="225" custLinFactNeighborY="-100000">
        <dgm:presLayoutVars>
          <dgm:chMax val="0"/>
          <dgm:bulletEnabled val="1"/>
        </dgm:presLayoutVars>
      </dgm:prSet>
      <dgm:spPr/>
    </dgm:pt>
    <dgm:pt modelId="{3C7A263C-D93A-49B2-9F4D-4823792C8A52}" type="pres">
      <dgm:prSet presAssocID="{BA4FBC36-8676-439E-8AE8-41A011D6468E}" presName="spacer" presStyleCnt="0"/>
      <dgm:spPr/>
    </dgm:pt>
    <dgm:pt modelId="{BDCF191C-BA8E-445D-BCB3-8C96A26E4C53}" type="pres">
      <dgm:prSet presAssocID="{415D7137-5986-4938-9BBE-A282104C302B}" presName="parentText" presStyleLbl="node1" presStyleIdx="2" presStyleCnt="6" custScaleY="101080">
        <dgm:presLayoutVars>
          <dgm:chMax val="0"/>
          <dgm:bulletEnabled val="1"/>
        </dgm:presLayoutVars>
      </dgm:prSet>
      <dgm:spPr/>
    </dgm:pt>
    <dgm:pt modelId="{266C482F-4178-4679-A874-CF326C97122C}" type="pres">
      <dgm:prSet presAssocID="{68C08417-30C3-42A7-A0B8-58FB19D53CAC}" presName="spacer" presStyleCnt="0"/>
      <dgm:spPr/>
    </dgm:pt>
    <dgm:pt modelId="{DFC0C80A-CEE8-4A60-AA6C-EF3C3BACD9D5}" type="pres">
      <dgm:prSet presAssocID="{4CF7C169-B6E1-43AA-B9B6-6863EE24F554}" presName="parentText" presStyleLbl="node1" presStyleIdx="3" presStyleCnt="6">
        <dgm:presLayoutVars>
          <dgm:chMax val="0"/>
          <dgm:bulletEnabled val="1"/>
        </dgm:presLayoutVars>
      </dgm:prSet>
      <dgm:spPr/>
    </dgm:pt>
    <dgm:pt modelId="{3182D3CF-3BE3-44AC-AB40-CFBE320384CB}" type="pres">
      <dgm:prSet presAssocID="{BDC862C7-AEE0-44BA-B981-6E4BCAB3A7B4}" presName="spacer" presStyleCnt="0"/>
      <dgm:spPr/>
    </dgm:pt>
    <dgm:pt modelId="{C2E546DA-C6E4-418C-9EF8-35207783EC74}" type="pres">
      <dgm:prSet presAssocID="{35657C64-8F00-4E14-8F04-8AB1F81E9C61}" presName="parentText" presStyleLbl="node1" presStyleIdx="4" presStyleCnt="6">
        <dgm:presLayoutVars>
          <dgm:chMax val="0"/>
          <dgm:bulletEnabled val="1"/>
        </dgm:presLayoutVars>
      </dgm:prSet>
      <dgm:spPr/>
    </dgm:pt>
    <dgm:pt modelId="{09EFD677-8FB2-4325-ABF6-7B6E74F501C6}" type="pres">
      <dgm:prSet presAssocID="{1909AA9F-EB6A-49DD-AEA2-93B2CCEC3D95}" presName="spacer" presStyleCnt="0"/>
      <dgm:spPr/>
    </dgm:pt>
    <dgm:pt modelId="{FCE4BF67-595A-4859-8EC9-68706302852E}" type="pres">
      <dgm:prSet presAssocID="{EDA21AA9-E729-4940-8695-93499654D875}" presName="parentText" presStyleLbl="node1" presStyleIdx="5" presStyleCnt="6">
        <dgm:presLayoutVars>
          <dgm:chMax val="0"/>
          <dgm:bulletEnabled val="1"/>
        </dgm:presLayoutVars>
      </dgm:prSet>
      <dgm:spPr/>
    </dgm:pt>
  </dgm:ptLst>
  <dgm:cxnLst>
    <dgm:cxn modelId="{6AB2940F-8C8D-4C42-8E88-8F596D272875}" srcId="{4A3A640A-7E1F-4E1E-A7F4-A97ED734357C}" destId="{35657C64-8F00-4E14-8F04-8AB1F81E9C61}" srcOrd="4" destOrd="0" parTransId="{159C7ECE-3BF9-43BE-8FC1-480EDD258216}" sibTransId="{1909AA9F-EB6A-49DD-AEA2-93B2CCEC3D95}"/>
    <dgm:cxn modelId="{61F40610-76B7-42F5-92E6-E70CE64D5ACA}" type="presOf" srcId="{3CF0135D-3EFB-4708-89B1-D9984C9210DA}" destId="{300982CE-C758-4022-8985-808D021A9A5C}" srcOrd="0" destOrd="0" presId="urn:microsoft.com/office/officeart/2005/8/layout/vList2"/>
    <dgm:cxn modelId="{E4024115-802C-4513-9C4D-E8459B895897}" srcId="{4A3A640A-7E1F-4E1E-A7F4-A97ED734357C}" destId="{415D7137-5986-4938-9BBE-A282104C302B}" srcOrd="2" destOrd="0" parTransId="{817FE1EC-EC49-4FA4-91AB-A860F6600E6A}" sibTransId="{68C08417-30C3-42A7-A0B8-58FB19D53CAC}"/>
    <dgm:cxn modelId="{7D41C474-FD76-4EA9-9593-AA7748E15CDB}" srcId="{4A3A640A-7E1F-4E1E-A7F4-A97ED734357C}" destId="{4E1B7B57-B600-46BD-96E7-661DA5239629}" srcOrd="0" destOrd="0" parTransId="{F4BC8CAE-1864-44F4-B7F3-576D93F448BC}" sibTransId="{CCC88A36-60A4-4FDE-A6B6-CCCBC0C99F3B}"/>
    <dgm:cxn modelId="{110E1D82-56E9-4052-9B26-F9943A89F30B}" srcId="{4A3A640A-7E1F-4E1E-A7F4-A97ED734357C}" destId="{4CF7C169-B6E1-43AA-B9B6-6863EE24F554}" srcOrd="3" destOrd="0" parTransId="{F13FE960-CFF7-4EFB-8775-DDDF75581643}" sibTransId="{BDC862C7-AEE0-44BA-B981-6E4BCAB3A7B4}"/>
    <dgm:cxn modelId="{346BDC89-D7F9-438F-9485-231329F1A564}" type="presOf" srcId="{EDA21AA9-E729-4940-8695-93499654D875}" destId="{FCE4BF67-595A-4859-8EC9-68706302852E}" srcOrd="0" destOrd="0" presId="urn:microsoft.com/office/officeart/2005/8/layout/vList2"/>
    <dgm:cxn modelId="{DB27A196-50C3-42C1-BF34-BC6A0B63B162}" type="presOf" srcId="{4CF7C169-B6E1-43AA-B9B6-6863EE24F554}" destId="{DFC0C80A-CEE8-4A60-AA6C-EF3C3BACD9D5}" srcOrd="0" destOrd="0" presId="urn:microsoft.com/office/officeart/2005/8/layout/vList2"/>
    <dgm:cxn modelId="{5A58B799-7637-4356-93A8-21DC09F65AE0}" type="presOf" srcId="{4A3A640A-7E1F-4E1E-A7F4-A97ED734357C}" destId="{29FF7943-8937-4341-8495-2BECFAF8AA8C}" srcOrd="0" destOrd="0" presId="urn:microsoft.com/office/officeart/2005/8/layout/vList2"/>
    <dgm:cxn modelId="{08A51DA5-AB6B-4C8C-8F23-4A3B43C025BF}" srcId="{4A3A640A-7E1F-4E1E-A7F4-A97ED734357C}" destId="{3CF0135D-3EFB-4708-89B1-D9984C9210DA}" srcOrd="1" destOrd="0" parTransId="{85B45616-0579-48ED-9FCD-86F4096DB12B}" sibTransId="{BA4FBC36-8676-439E-8AE8-41A011D6468E}"/>
    <dgm:cxn modelId="{B8E497BC-FC8C-460A-9F6C-AD7F3F8654B2}" type="presOf" srcId="{415D7137-5986-4938-9BBE-A282104C302B}" destId="{BDCF191C-BA8E-445D-BCB3-8C96A26E4C53}" srcOrd="0" destOrd="0" presId="urn:microsoft.com/office/officeart/2005/8/layout/vList2"/>
    <dgm:cxn modelId="{A5011ACE-B126-4184-B0BD-845E52D80398}" type="presOf" srcId="{4E1B7B57-B600-46BD-96E7-661DA5239629}" destId="{337BA25D-5275-4B6E-BEA4-8D41F926D240}" srcOrd="0" destOrd="0" presId="urn:microsoft.com/office/officeart/2005/8/layout/vList2"/>
    <dgm:cxn modelId="{C86EACD6-6F5C-4713-90AC-0570D48742EA}" srcId="{4A3A640A-7E1F-4E1E-A7F4-A97ED734357C}" destId="{EDA21AA9-E729-4940-8695-93499654D875}" srcOrd="5" destOrd="0" parTransId="{D0A6308C-2FCC-45DD-A22E-0DA42657CD35}" sibTransId="{B9A9879A-57F9-4FDD-8882-2DB364857161}"/>
    <dgm:cxn modelId="{95CA9CE3-E8EF-4796-A770-716B9A6B2542}" type="presOf" srcId="{35657C64-8F00-4E14-8F04-8AB1F81E9C61}" destId="{C2E546DA-C6E4-418C-9EF8-35207783EC74}" srcOrd="0" destOrd="0" presId="urn:microsoft.com/office/officeart/2005/8/layout/vList2"/>
    <dgm:cxn modelId="{93E4226E-BA97-4140-A82A-6224CA024405}" type="presParOf" srcId="{29FF7943-8937-4341-8495-2BECFAF8AA8C}" destId="{337BA25D-5275-4B6E-BEA4-8D41F926D240}" srcOrd="0" destOrd="0" presId="urn:microsoft.com/office/officeart/2005/8/layout/vList2"/>
    <dgm:cxn modelId="{20C3E096-981A-4941-A8AD-58AC8F75B736}" type="presParOf" srcId="{29FF7943-8937-4341-8495-2BECFAF8AA8C}" destId="{634A2BF5-80AB-465C-9B85-37587D55AC1F}" srcOrd="1" destOrd="0" presId="urn:microsoft.com/office/officeart/2005/8/layout/vList2"/>
    <dgm:cxn modelId="{21960E82-1276-4937-A873-B18DC21727F1}" type="presParOf" srcId="{29FF7943-8937-4341-8495-2BECFAF8AA8C}" destId="{300982CE-C758-4022-8985-808D021A9A5C}" srcOrd="2" destOrd="0" presId="urn:microsoft.com/office/officeart/2005/8/layout/vList2"/>
    <dgm:cxn modelId="{42A1BCC4-E8BC-4B5B-8CA4-D3C4DA5AF951}" type="presParOf" srcId="{29FF7943-8937-4341-8495-2BECFAF8AA8C}" destId="{3C7A263C-D93A-49B2-9F4D-4823792C8A52}" srcOrd="3" destOrd="0" presId="urn:microsoft.com/office/officeart/2005/8/layout/vList2"/>
    <dgm:cxn modelId="{2566A993-9A27-4ACC-AC96-768308D9A3FA}" type="presParOf" srcId="{29FF7943-8937-4341-8495-2BECFAF8AA8C}" destId="{BDCF191C-BA8E-445D-BCB3-8C96A26E4C53}" srcOrd="4" destOrd="0" presId="urn:microsoft.com/office/officeart/2005/8/layout/vList2"/>
    <dgm:cxn modelId="{FA4F3210-349F-4490-881A-1819E02EC183}" type="presParOf" srcId="{29FF7943-8937-4341-8495-2BECFAF8AA8C}" destId="{266C482F-4178-4679-A874-CF326C97122C}" srcOrd="5" destOrd="0" presId="urn:microsoft.com/office/officeart/2005/8/layout/vList2"/>
    <dgm:cxn modelId="{471BF775-9916-449C-A67B-875B665E355F}" type="presParOf" srcId="{29FF7943-8937-4341-8495-2BECFAF8AA8C}" destId="{DFC0C80A-CEE8-4A60-AA6C-EF3C3BACD9D5}" srcOrd="6" destOrd="0" presId="urn:microsoft.com/office/officeart/2005/8/layout/vList2"/>
    <dgm:cxn modelId="{7EF5E7C4-CF47-46E3-87A8-79C7A97DEA90}" type="presParOf" srcId="{29FF7943-8937-4341-8495-2BECFAF8AA8C}" destId="{3182D3CF-3BE3-44AC-AB40-CFBE320384CB}" srcOrd="7" destOrd="0" presId="urn:microsoft.com/office/officeart/2005/8/layout/vList2"/>
    <dgm:cxn modelId="{BB8DC742-E0C9-4582-BD29-23D12E498C60}" type="presParOf" srcId="{29FF7943-8937-4341-8495-2BECFAF8AA8C}" destId="{C2E546DA-C6E4-418C-9EF8-35207783EC74}" srcOrd="8" destOrd="0" presId="urn:microsoft.com/office/officeart/2005/8/layout/vList2"/>
    <dgm:cxn modelId="{F7C03AC9-B171-4836-A795-88681DE804F5}" type="presParOf" srcId="{29FF7943-8937-4341-8495-2BECFAF8AA8C}" destId="{09EFD677-8FB2-4325-ABF6-7B6E74F501C6}" srcOrd="9" destOrd="0" presId="urn:microsoft.com/office/officeart/2005/8/layout/vList2"/>
    <dgm:cxn modelId="{0322D657-D363-4DF7-8D6C-3110D3EBBD5B}" type="presParOf" srcId="{29FF7943-8937-4341-8495-2BECFAF8AA8C}" destId="{FCE4BF67-595A-4859-8EC9-68706302852E}" srcOrd="1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361AED-AC7C-4402-8159-7172BBD3CD2E}" type="doc">
      <dgm:prSet loTypeId="urn:microsoft.com/office/officeart/2005/8/layout/default" loCatId="list" qsTypeId="urn:microsoft.com/office/officeart/2005/8/quickstyle/simple4" qsCatId="simple" csTypeId="urn:microsoft.com/office/officeart/2005/8/colors/accent1_2" csCatId="accent1"/>
      <dgm:spPr/>
      <dgm:t>
        <a:bodyPr/>
        <a:lstStyle/>
        <a:p>
          <a:endParaRPr lang="en-US"/>
        </a:p>
      </dgm:t>
    </dgm:pt>
    <dgm:pt modelId="{1A02532B-D5A3-4949-937B-EEF559614944}">
      <dgm:prSet/>
      <dgm:spPr/>
      <dgm:t>
        <a:bodyPr/>
        <a:lstStyle/>
        <a:p>
          <a:r>
            <a:rPr lang="en-US" dirty="0"/>
            <a:t>Use the Safe Patient Handling Equipment to</a:t>
          </a:r>
        </a:p>
      </dgm:t>
    </dgm:pt>
    <dgm:pt modelId="{92E988CE-CCB0-49B6-9B14-D17807C8D74D}" type="parTrans" cxnId="{25F7B655-867E-443C-94ED-93FFF2DAB87A}">
      <dgm:prSet/>
      <dgm:spPr/>
      <dgm:t>
        <a:bodyPr/>
        <a:lstStyle/>
        <a:p>
          <a:endParaRPr lang="en-US"/>
        </a:p>
      </dgm:t>
    </dgm:pt>
    <dgm:pt modelId="{2AE34FF4-67F1-4858-BFEB-2D82B07C6A00}" type="sibTrans" cxnId="{25F7B655-867E-443C-94ED-93FFF2DAB87A}">
      <dgm:prSet/>
      <dgm:spPr/>
      <dgm:t>
        <a:bodyPr/>
        <a:lstStyle/>
        <a:p>
          <a:endParaRPr lang="en-US"/>
        </a:p>
      </dgm:t>
    </dgm:pt>
    <dgm:pt modelId="{C6FE0798-1945-4187-813A-E2DDC30CA6BF}">
      <dgm:prSet/>
      <dgm:spPr/>
      <dgm:t>
        <a:bodyPr/>
        <a:lstStyle/>
        <a:p>
          <a:r>
            <a:rPr lang="en-US"/>
            <a:t>SAVE YOUR SPINE</a:t>
          </a:r>
        </a:p>
      </dgm:t>
    </dgm:pt>
    <dgm:pt modelId="{07F263CC-C1A6-485D-94AA-2CC35822CAA4}" type="parTrans" cxnId="{A3175D3C-88F8-42C2-B556-C5D00C21BADA}">
      <dgm:prSet/>
      <dgm:spPr/>
      <dgm:t>
        <a:bodyPr/>
        <a:lstStyle/>
        <a:p>
          <a:endParaRPr lang="en-US"/>
        </a:p>
      </dgm:t>
    </dgm:pt>
    <dgm:pt modelId="{0BF8E7A7-F600-486B-AB1E-C0C03D6E6353}" type="sibTrans" cxnId="{A3175D3C-88F8-42C2-B556-C5D00C21BADA}">
      <dgm:prSet/>
      <dgm:spPr/>
      <dgm:t>
        <a:bodyPr/>
        <a:lstStyle/>
        <a:p>
          <a:endParaRPr lang="en-US"/>
        </a:p>
      </dgm:t>
    </dgm:pt>
    <dgm:pt modelId="{E6D8FEDA-C002-482F-AFDB-61D4A18754BF}" type="pres">
      <dgm:prSet presAssocID="{3C361AED-AC7C-4402-8159-7172BBD3CD2E}" presName="diagram" presStyleCnt="0">
        <dgm:presLayoutVars>
          <dgm:dir/>
          <dgm:resizeHandles val="exact"/>
        </dgm:presLayoutVars>
      </dgm:prSet>
      <dgm:spPr/>
    </dgm:pt>
    <dgm:pt modelId="{9D3D18DB-91AB-4481-9283-AE2AB29A4AEF}" type="pres">
      <dgm:prSet presAssocID="{1A02532B-D5A3-4949-937B-EEF559614944}" presName="node" presStyleLbl="node1" presStyleIdx="0" presStyleCnt="2">
        <dgm:presLayoutVars>
          <dgm:bulletEnabled val="1"/>
        </dgm:presLayoutVars>
      </dgm:prSet>
      <dgm:spPr/>
    </dgm:pt>
    <dgm:pt modelId="{56C3408E-3072-40F2-994B-F68B17797F4F}" type="pres">
      <dgm:prSet presAssocID="{2AE34FF4-67F1-4858-BFEB-2D82B07C6A00}" presName="sibTrans" presStyleCnt="0"/>
      <dgm:spPr/>
    </dgm:pt>
    <dgm:pt modelId="{EEB64F5C-E5C4-483D-B5CD-EE6AD7EF3973}" type="pres">
      <dgm:prSet presAssocID="{C6FE0798-1945-4187-813A-E2DDC30CA6BF}" presName="node" presStyleLbl="node1" presStyleIdx="1" presStyleCnt="2">
        <dgm:presLayoutVars>
          <dgm:bulletEnabled val="1"/>
        </dgm:presLayoutVars>
      </dgm:prSet>
      <dgm:spPr/>
    </dgm:pt>
  </dgm:ptLst>
  <dgm:cxnLst>
    <dgm:cxn modelId="{AA788E0F-B452-4BC7-9F09-FB74F515E727}" type="presOf" srcId="{C6FE0798-1945-4187-813A-E2DDC30CA6BF}" destId="{EEB64F5C-E5C4-483D-B5CD-EE6AD7EF3973}" srcOrd="0" destOrd="0" presId="urn:microsoft.com/office/officeart/2005/8/layout/default"/>
    <dgm:cxn modelId="{A3175D3C-88F8-42C2-B556-C5D00C21BADA}" srcId="{3C361AED-AC7C-4402-8159-7172BBD3CD2E}" destId="{C6FE0798-1945-4187-813A-E2DDC30CA6BF}" srcOrd="1" destOrd="0" parTransId="{07F263CC-C1A6-485D-94AA-2CC35822CAA4}" sibTransId="{0BF8E7A7-F600-486B-AB1E-C0C03D6E6353}"/>
    <dgm:cxn modelId="{17591047-053A-4183-9301-D024F3028969}" type="presOf" srcId="{1A02532B-D5A3-4949-937B-EEF559614944}" destId="{9D3D18DB-91AB-4481-9283-AE2AB29A4AEF}" srcOrd="0" destOrd="0" presId="urn:microsoft.com/office/officeart/2005/8/layout/default"/>
    <dgm:cxn modelId="{E1A96453-369D-4A60-BCB3-7C333046D3F1}" type="presOf" srcId="{3C361AED-AC7C-4402-8159-7172BBD3CD2E}" destId="{E6D8FEDA-C002-482F-AFDB-61D4A18754BF}" srcOrd="0" destOrd="0" presId="urn:microsoft.com/office/officeart/2005/8/layout/default"/>
    <dgm:cxn modelId="{25F7B655-867E-443C-94ED-93FFF2DAB87A}" srcId="{3C361AED-AC7C-4402-8159-7172BBD3CD2E}" destId="{1A02532B-D5A3-4949-937B-EEF559614944}" srcOrd="0" destOrd="0" parTransId="{92E988CE-CCB0-49B6-9B14-D17807C8D74D}" sibTransId="{2AE34FF4-67F1-4858-BFEB-2D82B07C6A00}"/>
    <dgm:cxn modelId="{D06A08A9-4CC7-4E92-8D32-9D2E1C298121}" type="presParOf" srcId="{E6D8FEDA-C002-482F-AFDB-61D4A18754BF}" destId="{9D3D18DB-91AB-4481-9283-AE2AB29A4AEF}" srcOrd="0" destOrd="0" presId="urn:microsoft.com/office/officeart/2005/8/layout/default"/>
    <dgm:cxn modelId="{737F11A1-B19A-4C5C-93E5-A35FE4E7C2A3}" type="presParOf" srcId="{E6D8FEDA-C002-482F-AFDB-61D4A18754BF}" destId="{56C3408E-3072-40F2-994B-F68B17797F4F}" srcOrd="1" destOrd="0" presId="urn:microsoft.com/office/officeart/2005/8/layout/default"/>
    <dgm:cxn modelId="{042D0879-370F-4802-A1E7-4DD2FBAF8929}" type="presParOf" srcId="{E6D8FEDA-C002-482F-AFDB-61D4A18754BF}" destId="{EEB64F5C-E5C4-483D-B5CD-EE6AD7EF3973}"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2D3ACC-B6EE-45B8-8B42-BCDF561B9A9F}">
      <dsp:nvSpPr>
        <dsp:cNvPr id="0" name=""/>
        <dsp:cNvSpPr/>
      </dsp:nvSpPr>
      <dsp:spPr>
        <a:xfrm>
          <a:off x="0" y="0"/>
          <a:ext cx="5006206" cy="4728115"/>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0303" tIns="330200" rIns="390303" bIns="330200" numCol="1" spcCol="1270" anchor="t" anchorCtr="0">
          <a:noAutofit/>
        </a:bodyPr>
        <a:lstStyle/>
        <a:p>
          <a:pPr marL="0" lvl="0" indent="0" algn="l" defTabSz="1155700">
            <a:lnSpc>
              <a:spcPct val="90000"/>
            </a:lnSpc>
            <a:spcBef>
              <a:spcPct val="0"/>
            </a:spcBef>
            <a:spcAft>
              <a:spcPct val="35000"/>
            </a:spcAft>
            <a:buNone/>
          </a:pPr>
          <a:r>
            <a:rPr lang="en-US" sz="2600" kern="1200" dirty="0"/>
            <a:t>National Directive 1611 establishes Safe Patient Handling and Mobility as a Veterans Administration Priority. </a:t>
          </a:r>
        </a:p>
      </dsp:txBody>
      <dsp:txXfrm>
        <a:off x="0" y="1796683"/>
        <a:ext cx="5006206" cy="2836869"/>
      </dsp:txXfrm>
    </dsp:sp>
    <dsp:sp modelId="{D215D34B-58AD-4B43-8E9C-BD29DFF79314}">
      <dsp:nvSpPr>
        <dsp:cNvPr id="0" name=""/>
        <dsp:cNvSpPr/>
      </dsp:nvSpPr>
      <dsp:spPr>
        <a:xfrm>
          <a:off x="1795169" y="472811"/>
          <a:ext cx="1418434" cy="1418434"/>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10587" tIns="12700" rIns="110587"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2002894" y="680536"/>
        <a:ext cx="1002984" cy="1002984"/>
      </dsp:txXfrm>
    </dsp:sp>
    <dsp:sp modelId="{6872B321-E546-46D3-B4BC-09C46ECDE8DC}">
      <dsp:nvSpPr>
        <dsp:cNvPr id="0" name=""/>
        <dsp:cNvSpPr/>
      </dsp:nvSpPr>
      <dsp:spPr>
        <a:xfrm>
          <a:off x="1283" y="4728042"/>
          <a:ext cx="5006206" cy="72"/>
        </a:xfrm>
        <a:prstGeom prst="rect">
          <a:avLst/>
        </a:prstGeom>
        <a:solidFill>
          <a:schemeClr val="accent2">
            <a:hueOff val="-279374"/>
            <a:satOff val="-3219"/>
            <a:lumOff val="720"/>
            <a:alphaOff val="0"/>
          </a:schemeClr>
        </a:solidFill>
        <a:ln w="12700" cap="flat" cmpd="sng" algn="ctr">
          <a:solidFill>
            <a:schemeClr val="accent2">
              <a:hueOff val="-279374"/>
              <a:satOff val="-3219"/>
              <a:lumOff val="72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115CE93C-607C-403E-BEC9-62DE43E64F01}">
      <dsp:nvSpPr>
        <dsp:cNvPr id="0" name=""/>
        <dsp:cNvSpPr/>
      </dsp:nvSpPr>
      <dsp:spPr>
        <a:xfrm>
          <a:off x="5508110" y="0"/>
          <a:ext cx="5006206" cy="4728115"/>
        </a:xfrm>
        <a:prstGeom prst="rect">
          <a:avLst/>
        </a:prstGeom>
        <a:solidFill>
          <a:schemeClr val="accent2">
            <a:tint val="40000"/>
            <a:alpha val="90000"/>
            <a:hueOff val="-1452578"/>
            <a:satOff val="-133"/>
            <a:lumOff val="39"/>
            <a:alphaOff val="0"/>
          </a:schemeClr>
        </a:solidFill>
        <a:ln w="12700" cap="flat" cmpd="sng" algn="ctr">
          <a:solidFill>
            <a:schemeClr val="accent2">
              <a:tint val="40000"/>
              <a:alpha val="90000"/>
              <a:hueOff val="-1452578"/>
              <a:satOff val="-133"/>
              <a:lumOff val="3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0303" tIns="330200" rIns="390303" bIns="330200" numCol="1" spcCol="1270" anchor="t" anchorCtr="0">
          <a:noAutofit/>
        </a:bodyPr>
        <a:lstStyle/>
        <a:p>
          <a:pPr marL="0" lvl="0" indent="0" algn="l" defTabSz="1155700">
            <a:lnSpc>
              <a:spcPct val="90000"/>
            </a:lnSpc>
            <a:spcBef>
              <a:spcPct val="0"/>
            </a:spcBef>
            <a:spcAft>
              <a:spcPct val="35000"/>
            </a:spcAft>
            <a:buNone/>
          </a:pPr>
          <a:r>
            <a:rPr lang="en-US" sz="2600" kern="1200" dirty="0"/>
            <a:t>Medical Center Policy 118-21-013 establishes the Safe Patient Handling and Mobility policy for the VACCHS.  </a:t>
          </a:r>
        </a:p>
      </dsp:txBody>
      <dsp:txXfrm>
        <a:off x="5508110" y="1796683"/>
        <a:ext cx="5006206" cy="2836869"/>
      </dsp:txXfrm>
    </dsp:sp>
    <dsp:sp modelId="{001E5A51-F2E3-4D20-852F-FEDE8095C5C3}">
      <dsp:nvSpPr>
        <dsp:cNvPr id="0" name=""/>
        <dsp:cNvSpPr/>
      </dsp:nvSpPr>
      <dsp:spPr>
        <a:xfrm>
          <a:off x="7301996" y="472811"/>
          <a:ext cx="1418434" cy="1418434"/>
        </a:xfrm>
        <a:prstGeom prst="ellipse">
          <a:avLst/>
        </a:prstGeom>
        <a:solidFill>
          <a:schemeClr val="accent2">
            <a:hueOff val="-558749"/>
            <a:satOff val="-6439"/>
            <a:lumOff val="1439"/>
            <a:alphaOff val="0"/>
          </a:schemeClr>
        </a:solidFill>
        <a:ln w="12700" cap="flat" cmpd="sng" algn="ctr">
          <a:solidFill>
            <a:schemeClr val="accent2">
              <a:hueOff val="-558749"/>
              <a:satOff val="-6439"/>
              <a:lumOff val="1439"/>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10587" tIns="12700" rIns="110587"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7509721" y="680536"/>
        <a:ext cx="1002984" cy="1002984"/>
      </dsp:txXfrm>
    </dsp:sp>
    <dsp:sp modelId="{2F1A5268-CCEA-4E8A-A870-C7916ADAF43D}">
      <dsp:nvSpPr>
        <dsp:cNvPr id="0" name=""/>
        <dsp:cNvSpPr/>
      </dsp:nvSpPr>
      <dsp:spPr>
        <a:xfrm>
          <a:off x="5508110" y="4728042"/>
          <a:ext cx="5006206" cy="72"/>
        </a:xfrm>
        <a:prstGeom prst="rect">
          <a:avLst/>
        </a:prstGeom>
        <a:solidFill>
          <a:schemeClr val="accent2">
            <a:hueOff val="-838123"/>
            <a:satOff val="-9658"/>
            <a:lumOff val="2159"/>
            <a:alphaOff val="0"/>
          </a:schemeClr>
        </a:solidFill>
        <a:ln w="12700" cap="flat" cmpd="sng" algn="ctr">
          <a:solidFill>
            <a:schemeClr val="accent2">
              <a:hueOff val="-838123"/>
              <a:satOff val="-9658"/>
              <a:lumOff val="2159"/>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7BA25D-5275-4B6E-BEA4-8D41F926D240}">
      <dsp:nvSpPr>
        <dsp:cNvPr id="0" name=""/>
        <dsp:cNvSpPr/>
      </dsp:nvSpPr>
      <dsp:spPr>
        <a:xfrm>
          <a:off x="0" y="32686"/>
          <a:ext cx="5744684" cy="991899"/>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1" kern="1200" dirty="0"/>
            <a:t>Musculoskeletal Injuries in Caregivers</a:t>
          </a:r>
          <a:endParaRPr lang="en-US" sz="2400" kern="1200" dirty="0"/>
        </a:p>
      </dsp:txBody>
      <dsp:txXfrm>
        <a:off x="48421" y="81107"/>
        <a:ext cx="5647842" cy="895057"/>
      </dsp:txXfrm>
    </dsp:sp>
    <dsp:sp modelId="{300982CE-C758-4022-8985-808D021A9A5C}">
      <dsp:nvSpPr>
        <dsp:cNvPr id="0" name=""/>
        <dsp:cNvSpPr/>
      </dsp:nvSpPr>
      <dsp:spPr>
        <a:xfrm>
          <a:off x="0" y="1002844"/>
          <a:ext cx="5744684" cy="991899"/>
        </a:xfrm>
        <a:prstGeom prst="roundRect">
          <a:avLst/>
        </a:prstGeom>
        <a:solidFill>
          <a:schemeClr val="accent5">
            <a:hueOff val="-367427"/>
            <a:satOff val="54"/>
            <a:lumOff val="-12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Primary driver of loss of nurses from workforce</a:t>
          </a:r>
          <a:endParaRPr lang="en-US" sz="2400" kern="1200" dirty="0"/>
        </a:p>
      </dsp:txBody>
      <dsp:txXfrm>
        <a:off x="48421" y="1051265"/>
        <a:ext cx="5647842" cy="895057"/>
      </dsp:txXfrm>
    </dsp:sp>
    <dsp:sp modelId="{BDCF191C-BA8E-445D-BCB3-8C96A26E4C53}">
      <dsp:nvSpPr>
        <dsp:cNvPr id="0" name=""/>
        <dsp:cNvSpPr/>
      </dsp:nvSpPr>
      <dsp:spPr>
        <a:xfrm>
          <a:off x="0" y="2038086"/>
          <a:ext cx="5744684" cy="1002612"/>
        </a:xfrm>
        <a:prstGeom prst="roundRect">
          <a:avLst/>
        </a:prstGeom>
        <a:solidFill>
          <a:schemeClr val="accent5">
            <a:hueOff val="-734855"/>
            <a:satOff val="108"/>
            <a:lumOff val="-2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2012 BLS data – Nurses 5</a:t>
          </a:r>
          <a:r>
            <a:rPr lang="en-US" sz="2400" kern="1200" baseline="30000" dirty="0"/>
            <a:t>th</a:t>
          </a:r>
          <a:r>
            <a:rPr lang="en-US" sz="2400" kern="1200" dirty="0"/>
            <a:t> and NAs 2</a:t>
          </a:r>
          <a:r>
            <a:rPr lang="en-US" sz="2400" kern="1200" baseline="30000" dirty="0"/>
            <a:t>nd</a:t>
          </a:r>
          <a:r>
            <a:rPr lang="en-US" sz="2400" kern="1200" dirty="0"/>
            <a:t> of </a:t>
          </a:r>
          <a:r>
            <a:rPr lang="en-US" sz="2400" b="1" kern="1200" dirty="0"/>
            <a:t>all industry </a:t>
          </a:r>
          <a:r>
            <a:rPr lang="en-US" sz="2400" kern="1200" dirty="0"/>
            <a:t>workers (injuries with lost time days)</a:t>
          </a:r>
        </a:p>
      </dsp:txBody>
      <dsp:txXfrm>
        <a:off x="48943" y="2087029"/>
        <a:ext cx="5646798" cy="904726"/>
      </dsp:txXfrm>
    </dsp:sp>
    <dsp:sp modelId="{DFC0C80A-CEE8-4A60-AA6C-EF3C3BACD9D5}">
      <dsp:nvSpPr>
        <dsp:cNvPr id="0" name=""/>
        <dsp:cNvSpPr/>
      </dsp:nvSpPr>
      <dsp:spPr>
        <a:xfrm>
          <a:off x="0" y="3051498"/>
          <a:ext cx="5744684" cy="991899"/>
        </a:xfrm>
        <a:prstGeom prst="roundRect">
          <a:avLst/>
        </a:prstGeom>
        <a:solidFill>
          <a:schemeClr val="accent5">
            <a:hueOff val="-1102282"/>
            <a:satOff val="162"/>
            <a:lumOff val="-3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Without lift equipment, </a:t>
          </a:r>
          <a:r>
            <a:rPr lang="en-US" sz="2400" b="1" kern="1200" dirty="0"/>
            <a:t>nurses </a:t>
          </a:r>
          <a:r>
            <a:rPr lang="en-US" sz="2400" b="0" u="sng" kern="1200" dirty="0"/>
            <a:t>lift 1.8 tons in 8 </a:t>
          </a:r>
          <a:r>
            <a:rPr lang="en-US" sz="2400" b="0" u="sng" kern="1200" dirty="0" err="1"/>
            <a:t>hrs</a:t>
          </a:r>
          <a:endParaRPr lang="en-US" sz="2400" b="0" u="sng" kern="1200" dirty="0"/>
        </a:p>
      </dsp:txBody>
      <dsp:txXfrm>
        <a:off x="48421" y="3099919"/>
        <a:ext cx="5647842" cy="895057"/>
      </dsp:txXfrm>
    </dsp:sp>
    <dsp:sp modelId="{C2E546DA-C6E4-418C-9EF8-35207783EC74}">
      <dsp:nvSpPr>
        <dsp:cNvPr id="0" name=""/>
        <dsp:cNvSpPr/>
      </dsp:nvSpPr>
      <dsp:spPr>
        <a:xfrm>
          <a:off x="0" y="4054198"/>
          <a:ext cx="5744684" cy="991899"/>
        </a:xfrm>
        <a:prstGeom prst="roundRect">
          <a:avLst/>
        </a:prstGeom>
        <a:solidFill>
          <a:schemeClr val="accent5">
            <a:hueOff val="-1469710"/>
            <a:satOff val="216"/>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u="sng" kern="1200" dirty="0"/>
            <a:t>35 lb. patient lifting limit </a:t>
          </a:r>
          <a:r>
            <a:rPr lang="en-US" sz="2400" kern="1200" dirty="0"/>
            <a:t>under best of circumstances (cooperative, well-placed patients, no tubes, catheters, etc</a:t>
          </a:r>
          <a:r>
            <a:rPr lang="en-US" sz="500" kern="1200" dirty="0"/>
            <a:t>.)</a:t>
          </a:r>
        </a:p>
      </dsp:txBody>
      <dsp:txXfrm>
        <a:off x="48421" y="4102619"/>
        <a:ext cx="5647842" cy="895057"/>
      </dsp:txXfrm>
    </dsp:sp>
    <dsp:sp modelId="{FCE4BF67-595A-4859-8EC9-68706302852E}">
      <dsp:nvSpPr>
        <dsp:cNvPr id="0" name=""/>
        <dsp:cNvSpPr/>
      </dsp:nvSpPr>
      <dsp:spPr>
        <a:xfrm>
          <a:off x="0" y="5056898"/>
          <a:ext cx="5744684" cy="991899"/>
        </a:xfrm>
        <a:prstGeom prst="roundRect">
          <a:avLst/>
        </a:prstGeom>
        <a:solidFill>
          <a:schemeClr val="accent5">
            <a:hueOff val="-1837137"/>
            <a:satOff val="270"/>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Increasing injury rates in health care, but not in VA… VA rates are steadily declining </a:t>
          </a:r>
        </a:p>
      </dsp:txBody>
      <dsp:txXfrm>
        <a:off x="48421" y="5105319"/>
        <a:ext cx="5647842" cy="8950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3D18DB-91AB-4481-9283-AE2AB29A4AEF}">
      <dsp:nvSpPr>
        <dsp:cNvPr id="0" name=""/>
        <dsp:cNvSpPr/>
      </dsp:nvSpPr>
      <dsp:spPr>
        <a:xfrm>
          <a:off x="540413" y="424"/>
          <a:ext cx="4492749" cy="269564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dirty="0"/>
            <a:t>Use the Safe Patient Handling Equipment to</a:t>
          </a:r>
        </a:p>
      </dsp:txBody>
      <dsp:txXfrm>
        <a:off x="540413" y="424"/>
        <a:ext cx="4492749" cy="2695649"/>
      </dsp:txXfrm>
    </dsp:sp>
    <dsp:sp modelId="{EEB64F5C-E5C4-483D-B5CD-EE6AD7EF3973}">
      <dsp:nvSpPr>
        <dsp:cNvPr id="0" name=""/>
        <dsp:cNvSpPr/>
      </dsp:nvSpPr>
      <dsp:spPr>
        <a:xfrm>
          <a:off x="5482437" y="424"/>
          <a:ext cx="4492749" cy="269564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a:t>SAVE YOUR SPINE</a:t>
          </a:r>
        </a:p>
      </dsp:txBody>
      <dsp:txXfrm>
        <a:off x="5482437" y="424"/>
        <a:ext cx="4492749" cy="2695649"/>
      </dsp:txXfrm>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ABFC35-9F80-485A-8E64-57CFA34AAEE0}"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EE084-A76B-4047-8552-94CAE4B1AA74}" type="slidenum">
              <a:rPr lang="en-US" smtClean="0"/>
              <a:t>‹#›</a:t>
            </a:fld>
            <a:endParaRPr lang="en-US"/>
          </a:p>
        </p:txBody>
      </p:sp>
    </p:spTree>
    <p:extLst>
      <p:ext uri="{BB962C8B-B14F-4D97-AF65-F5344CB8AC3E}">
        <p14:creationId xmlns:p14="http://schemas.microsoft.com/office/powerpoint/2010/main" val="2147206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PLAY ANA video!</a:t>
            </a:r>
          </a:p>
        </p:txBody>
      </p:sp>
      <p:sp>
        <p:nvSpPr>
          <p:cNvPr id="4" name="Slide Number Placeholder 3"/>
          <p:cNvSpPr>
            <a:spLocks noGrp="1"/>
          </p:cNvSpPr>
          <p:nvPr>
            <p:ph type="sldNum" sz="quarter" idx="5"/>
          </p:nvPr>
        </p:nvSpPr>
        <p:spPr/>
        <p:txBody>
          <a:bodyPr/>
          <a:lstStyle/>
          <a:p>
            <a:fld id="{92FE55AC-C721-4ADC-AB93-0D667CB886F2}" type="slidenum">
              <a:rPr lang="en-US" smtClean="0"/>
              <a:t>2</a:t>
            </a:fld>
            <a:endParaRPr lang="en-US"/>
          </a:p>
        </p:txBody>
      </p:sp>
    </p:spTree>
    <p:extLst>
      <p:ext uri="{BB962C8B-B14F-4D97-AF65-F5344CB8AC3E}">
        <p14:creationId xmlns:p14="http://schemas.microsoft.com/office/powerpoint/2010/main" val="2085037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DEE084-A76B-4047-8552-94CAE4B1AA74}" type="slidenum">
              <a:rPr lang="en-US" smtClean="0"/>
              <a:t>4</a:t>
            </a:fld>
            <a:endParaRPr lang="en-US"/>
          </a:p>
        </p:txBody>
      </p:sp>
    </p:spTree>
    <p:extLst>
      <p:ext uri="{BB962C8B-B14F-4D97-AF65-F5344CB8AC3E}">
        <p14:creationId xmlns:p14="http://schemas.microsoft.com/office/powerpoint/2010/main" val="3831762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3200" dirty="0"/>
              <a:t>Musculoskeletal Injuries in Caregivers</a:t>
            </a:r>
          </a:p>
          <a:p>
            <a:pPr lvl="1"/>
            <a:r>
              <a:rPr lang="en-US" sz="2800" dirty="0"/>
              <a:t>Primary driver of loss of nurses from workforce</a:t>
            </a:r>
          </a:p>
          <a:p>
            <a:pPr lvl="1"/>
            <a:r>
              <a:rPr lang="en-US" sz="2800" dirty="0"/>
              <a:t>Increasing rates in health care; up 6% in 2011 to 283 cases with days away from work/10,000 FTE</a:t>
            </a:r>
          </a:p>
          <a:p>
            <a:pPr lvl="1"/>
            <a:r>
              <a:rPr lang="en-US" sz="2800" dirty="0"/>
              <a:t>2012 BLS data – Nurses 5</a:t>
            </a:r>
            <a:r>
              <a:rPr lang="en-US" sz="2800" baseline="30000" dirty="0"/>
              <a:t>th</a:t>
            </a:r>
            <a:r>
              <a:rPr lang="en-US" sz="2800" dirty="0"/>
              <a:t> and NAs 2</a:t>
            </a:r>
            <a:r>
              <a:rPr lang="en-US" sz="2800" baseline="30000" dirty="0"/>
              <a:t>nd</a:t>
            </a:r>
            <a:r>
              <a:rPr lang="en-US" sz="2800" dirty="0"/>
              <a:t> of all industry workers (injuries with lost time days)</a:t>
            </a:r>
          </a:p>
          <a:p>
            <a:pPr lvl="1"/>
            <a:r>
              <a:rPr lang="en-US" sz="2800" dirty="0"/>
              <a:t>Effect on burnout, turnover, preventable disability, and early retirement</a:t>
            </a:r>
          </a:p>
        </p:txBody>
      </p:sp>
      <p:sp>
        <p:nvSpPr>
          <p:cNvPr id="4" name="Slide Number Placeholder 3"/>
          <p:cNvSpPr>
            <a:spLocks noGrp="1"/>
          </p:cNvSpPr>
          <p:nvPr>
            <p:ph type="sldNum" sz="quarter" idx="10"/>
          </p:nvPr>
        </p:nvSpPr>
        <p:spPr/>
        <p:txBody>
          <a:bodyPr/>
          <a:lstStyle/>
          <a:p>
            <a:fld id="{0BCFBA4F-BC66-4DD2-993F-EFAA9773340F}"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3200" dirty="0"/>
              <a:t>Musculoskeletal Injuries in Caregivers</a:t>
            </a:r>
          </a:p>
          <a:p>
            <a:pPr lvl="1"/>
            <a:r>
              <a:rPr lang="en-US" sz="2800" dirty="0"/>
              <a:t>Primary driver of loss of nurses from workforce</a:t>
            </a:r>
          </a:p>
          <a:p>
            <a:pPr lvl="1"/>
            <a:r>
              <a:rPr lang="en-US" sz="2800" dirty="0"/>
              <a:t>Increasing rates in health care; up 6% in 2011 to 283 cases with days away from work/10,000 FTE</a:t>
            </a:r>
          </a:p>
          <a:p>
            <a:pPr lvl="1"/>
            <a:r>
              <a:rPr lang="en-US" sz="2800" dirty="0"/>
              <a:t>2012 BLS data – Nurses 5</a:t>
            </a:r>
            <a:r>
              <a:rPr lang="en-US" sz="2800" baseline="30000" dirty="0"/>
              <a:t>th</a:t>
            </a:r>
            <a:r>
              <a:rPr lang="en-US" sz="2800" dirty="0"/>
              <a:t> and NAs 2</a:t>
            </a:r>
            <a:r>
              <a:rPr lang="en-US" sz="2800" baseline="30000" dirty="0"/>
              <a:t>nd</a:t>
            </a:r>
            <a:r>
              <a:rPr lang="en-US" sz="2800" dirty="0"/>
              <a:t> of all industry workers (injuries with lost time days)</a:t>
            </a:r>
          </a:p>
          <a:p>
            <a:pPr lvl="1"/>
            <a:r>
              <a:rPr lang="en-US" sz="2800" dirty="0"/>
              <a:t>Effect on burnout, turnover, preventable disability, and early retirement</a:t>
            </a:r>
          </a:p>
        </p:txBody>
      </p:sp>
      <p:sp>
        <p:nvSpPr>
          <p:cNvPr id="4" name="Slide Number Placeholder 3"/>
          <p:cNvSpPr>
            <a:spLocks noGrp="1"/>
          </p:cNvSpPr>
          <p:nvPr>
            <p:ph type="sldNum" sz="quarter" idx="10"/>
          </p:nvPr>
        </p:nvSpPr>
        <p:spPr/>
        <p:txBody>
          <a:bodyPr/>
          <a:lstStyle/>
          <a:p>
            <a:fld id="{0BCFBA4F-BC66-4DD2-993F-EFAA9773340F}" type="slidenum">
              <a:rPr lang="en-US" smtClean="0"/>
              <a:pPr/>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“SPHM is about preventing injuries through planning, teamwork, and the consistent use of available equipment. Reporting barriers and near misses helps us improve the system, not place blame.”</a:t>
            </a:r>
          </a:p>
        </p:txBody>
      </p:sp>
      <p:sp>
        <p:nvSpPr>
          <p:cNvPr id="4" name="Slide Number Placeholder 3"/>
          <p:cNvSpPr>
            <a:spLocks noGrp="1"/>
          </p:cNvSpPr>
          <p:nvPr>
            <p:ph type="sldNum" sz="quarter" idx="5"/>
          </p:nvPr>
        </p:nvSpPr>
        <p:spPr/>
        <p:txBody>
          <a:bodyPr/>
          <a:lstStyle/>
          <a:p>
            <a:fld id="{C5DEE084-A76B-4047-8552-94CAE4B1AA74}" type="slidenum">
              <a:rPr lang="en-US" smtClean="0"/>
              <a:t>13</a:t>
            </a:fld>
            <a:endParaRPr lang="en-US"/>
          </a:p>
        </p:txBody>
      </p:sp>
    </p:spTree>
    <p:extLst>
      <p:ext uri="{BB962C8B-B14F-4D97-AF65-F5344CB8AC3E}">
        <p14:creationId xmlns:p14="http://schemas.microsoft.com/office/powerpoint/2010/main" val="150300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upper left, in a circle: Ceiling</a:t>
            </a:r>
            <a:r>
              <a:rPr lang="en-US" baseline="0" dirty="0"/>
              <a:t> lift with </a:t>
            </a:r>
            <a:r>
              <a:rPr lang="en-US" dirty="0"/>
              <a:t>Repositioning sling; Ceiling lift</a:t>
            </a:r>
            <a:r>
              <a:rPr lang="en-US" baseline="0" dirty="0"/>
              <a:t> with seated sling; Floor lift with seated sling; walking sling; turning sling; Evacuation Hoverjack; Hovermatt; bariatric capacity sit to stand lift; non-powered stand aid; limb lifter.</a:t>
            </a:r>
            <a:endParaRPr lang="en-US" dirty="0"/>
          </a:p>
        </p:txBody>
      </p:sp>
      <p:sp>
        <p:nvSpPr>
          <p:cNvPr id="4" name="Slide Number Placeholder 3"/>
          <p:cNvSpPr>
            <a:spLocks noGrp="1"/>
          </p:cNvSpPr>
          <p:nvPr>
            <p:ph type="sldNum" sz="quarter" idx="10"/>
          </p:nvPr>
        </p:nvSpPr>
        <p:spPr/>
        <p:txBody>
          <a:bodyPr/>
          <a:lstStyle/>
          <a:p>
            <a:fld id="{0BCFBA4F-BC66-4DD2-993F-EFAA9773340F}" type="slidenum">
              <a:rPr lang="en-US" smtClean="0"/>
              <a:pPr/>
              <a:t>15</a:t>
            </a:fld>
            <a:endParaRPr lang="en-US"/>
          </a:p>
        </p:txBody>
      </p:sp>
    </p:spTree>
    <p:extLst>
      <p:ext uri="{BB962C8B-B14F-4D97-AF65-F5344CB8AC3E}">
        <p14:creationId xmlns:p14="http://schemas.microsoft.com/office/powerpoint/2010/main" val="1057654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upper left, in a circle: Slide sheet used to install a sling; car lift; turning shower trolley; ergonomic, hip-elevating hygiene</a:t>
            </a:r>
            <a:r>
              <a:rPr lang="en-US" baseline="0" dirty="0"/>
              <a:t> chair; powered, elevating toilet seat; motorized wheelchair mover; motorized stretcher.</a:t>
            </a:r>
            <a:endParaRPr lang="en-US" dirty="0"/>
          </a:p>
        </p:txBody>
      </p:sp>
      <p:sp>
        <p:nvSpPr>
          <p:cNvPr id="4" name="Slide Number Placeholder 3"/>
          <p:cNvSpPr>
            <a:spLocks noGrp="1"/>
          </p:cNvSpPr>
          <p:nvPr>
            <p:ph type="sldNum" sz="quarter" idx="10"/>
          </p:nvPr>
        </p:nvSpPr>
        <p:spPr/>
        <p:txBody>
          <a:bodyPr/>
          <a:lstStyle/>
          <a:p>
            <a:fld id="{0BCFBA4F-BC66-4DD2-993F-EFAA9773340F}" type="slidenum">
              <a:rPr lang="en-US" smtClean="0"/>
              <a:pPr/>
              <a:t>16</a:t>
            </a:fld>
            <a:endParaRPr lang="en-US"/>
          </a:p>
        </p:txBody>
      </p:sp>
    </p:spTree>
    <p:extLst>
      <p:ext uri="{BB962C8B-B14F-4D97-AF65-F5344CB8AC3E}">
        <p14:creationId xmlns:p14="http://schemas.microsoft.com/office/powerpoint/2010/main" val="1210688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FB048EA6-40C9-4CB8-A76C-55AF44D8E93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EADFBDEE-7207-496D-876F-E771B5975E98}" type="slidenum">
              <a:rPr lang="en-US" altLang="en-US"/>
              <a:pPr/>
              <a:t>19</a:t>
            </a:fld>
            <a:endParaRPr lang="en-US" altLang="en-US"/>
          </a:p>
        </p:txBody>
      </p:sp>
      <p:sp>
        <p:nvSpPr>
          <p:cNvPr id="20483" name="Rectangle 2">
            <a:extLst>
              <a:ext uri="{FF2B5EF4-FFF2-40B4-BE49-F238E27FC236}">
                <a16:creationId xmlns:a16="http://schemas.microsoft.com/office/drawing/2014/main" id="{FDB0D6EF-4ADE-4574-AC46-4CBF2A50008F}"/>
              </a:ext>
            </a:extLst>
          </p:cNvPr>
          <p:cNvSpPr>
            <a:spLocks noGrp="1" noRot="1" noChangeAspect="1" noChangeArrowheads="1" noTextEdit="1"/>
          </p:cNvSpPr>
          <p:nvPr>
            <p:ph type="sldImg"/>
          </p:nvPr>
        </p:nvSpPr>
        <p:spPr bwMode="auto">
          <a:xfrm>
            <a:off x="393700" y="692150"/>
            <a:ext cx="607060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4" name="Rectangle 3">
            <a:extLst>
              <a:ext uri="{FF2B5EF4-FFF2-40B4-BE49-F238E27FC236}">
                <a16:creationId xmlns:a16="http://schemas.microsoft.com/office/drawing/2014/main" id="{16383EB8-2F25-4484-82E7-5D2490DF52C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dirty="0"/>
              <a:t>Thanks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32123-2A5E-4927-A437-4D0ABDCCC8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68CBB4-43C8-4512-A241-36DE1E1E49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DC7D88-02C6-4F73-901A-5A41E540437B}"/>
              </a:ext>
            </a:extLst>
          </p:cNvPr>
          <p:cNvSpPr>
            <a:spLocks noGrp="1"/>
          </p:cNvSpPr>
          <p:nvPr>
            <p:ph type="dt" sz="half" idx="10"/>
          </p:nvPr>
        </p:nvSpPr>
        <p:spPr/>
        <p:txBody>
          <a:bodyPr/>
          <a:lstStyle/>
          <a:p>
            <a:fld id="{2F2391CA-1A8E-48ED-AE26-338E218E53F9}" type="datetimeFigureOut">
              <a:rPr lang="en-US" smtClean="0"/>
              <a:t>9/8/2026</a:t>
            </a:fld>
            <a:endParaRPr lang="en-US"/>
          </a:p>
        </p:txBody>
      </p:sp>
      <p:sp>
        <p:nvSpPr>
          <p:cNvPr id="5" name="Footer Placeholder 4">
            <a:extLst>
              <a:ext uri="{FF2B5EF4-FFF2-40B4-BE49-F238E27FC236}">
                <a16:creationId xmlns:a16="http://schemas.microsoft.com/office/drawing/2014/main" id="{0BFEC352-D8D2-4067-87AF-EE3626DF52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72D24E-1AD7-4C45-854E-F1FCE9786230}"/>
              </a:ext>
            </a:extLst>
          </p:cNvPr>
          <p:cNvSpPr>
            <a:spLocks noGrp="1"/>
          </p:cNvSpPr>
          <p:nvPr>
            <p:ph type="sldNum" sz="quarter" idx="12"/>
          </p:nvPr>
        </p:nvSpPr>
        <p:spPr/>
        <p:txBody>
          <a:bodyPr/>
          <a:lstStyle/>
          <a:p>
            <a:fld id="{66C692B3-1D4A-4D70-81CF-3C2852706BC8}" type="slidenum">
              <a:rPr lang="en-US" smtClean="0"/>
              <a:t>‹#›</a:t>
            </a:fld>
            <a:endParaRPr lang="en-US"/>
          </a:p>
        </p:txBody>
      </p:sp>
    </p:spTree>
    <p:extLst>
      <p:ext uri="{BB962C8B-B14F-4D97-AF65-F5344CB8AC3E}">
        <p14:creationId xmlns:p14="http://schemas.microsoft.com/office/powerpoint/2010/main" val="523612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E4583-2C9C-4469-A6F7-3F85E1C542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0AC07F-818F-42B9-AEC3-7CFE09895D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F3E60E-C44E-4DD2-A34D-AFF90EBAA42B}"/>
              </a:ext>
            </a:extLst>
          </p:cNvPr>
          <p:cNvSpPr>
            <a:spLocks noGrp="1"/>
          </p:cNvSpPr>
          <p:nvPr>
            <p:ph type="dt" sz="half" idx="10"/>
          </p:nvPr>
        </p:nvSpPr>
        <p:spPr/>
        <p:txBody>
          <a:bodyPr/>
          <a:lstStyle/>
          <a:p>
            <a:fld id="{2F2391CA-1A8E-48ED-AE26-338E218E53F9}" type="datetimeFigureOut">
              <a:rPr lang="en-US" smtClean="0"/>
              <a:t>9/8/2026</a:t>
            </a:fld>
            <a:endParaRPr lang="en-US"/>
          </a:p>
        </p:txBody>
      </p:sp>
      <p:sp>
        <p:nvSpPr>
          <p:cNvPr id="5" name="Footer Placeholder 4">
            <a:extLst>
              <a:ext uri="{FF2B5EF4-FFF2-40B4-BE49-F238E27FC236}">
                <a16:creationId xmlns:a16="http://schemas.microsoft.com/office/drawing/2014/main" id="{8F3C9D0D-D540-4E14-B009-0375540B00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223FD3-5794-4EA9-B419-B0EDFD80814A}"/>
              </a:ext>
            </a:extLst>
          </p:cNvPr>
          <p:cNvSpPr>
            <a:spLocks noGrp="1"/>
          </p:cNvSpPr>
          <p:nvPr>
            <p:ph type="sldNum" sz="quarter" idx="12"/>
          </p:nvPr>
        </p:nvSpPr>
        <p:spPr/>
        <p:txBody>
          <a:bodyPr/>
          <a:lstStyle/>
          <a:p>
            <a:fld id="{66C692B3-1D4A-4D70-81CF-3C2852706BC8}" type="slidenum">
              <a:rPr lang="en-US" smtClean="0"/>
              <a:t>‹#›</a:t>
            </a:fld>
            <a:endParaRPr lang="en-US"/>
          </a:p>
        </p:txBody>
      </p:sp>
    </p:spTree>
    <p:extLst>
      <p:ext uri="{BB962C8B-B14F-4D97-AF65-F5344CB8AC3E}">
        <p14:creationId xmlns:p14="http://schemas.microsoft.com/office/powerpoint/2010/main" val="432294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239DC-AB91-4171-866B-A22CF8C4AF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58510D-01C8-47BD-9132-CF18493455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F99D5E-4F30-425F-B46E-B65F83AC60FB}"/>
              </a:ext>
            </a:extLst>
          </p:cNvPr>
          <p:cNvSpPr>
            <a:spLocks noGrp="1"/>
          </p:cNvSpPr>
          <p:nvPr>
            <p:ph type="dt" sz="half" idx="10"/>
          </p:nvPr>
        </p:nvSpPr>
        <p:spPr/>
        <p:txBody>
          <a:bodyPr/>
          <a:lstStyle/>
          <a:p>
            <a:fld id="{2F2391CA-1A8E-48ED-AE26-338E218E53F9}" type="datetimeFigureOut">
              <a:rPr lang="en-US" smtClean="0"/>
              <a:t>9/8/2026</a:t>
            </a:fld>
            <a:endParaRPr lang="en-US"/>
          </a:p>
        </p:txBody>
      </p:sp>
      <p:sp>
        <p:nvSpPr>
          <p:cNvPr id="5" name="Footer Placeholder 4">
            <a:extLst>
              <a:ext uri="{FF2B5EF4-FFF2-40B4-BE49-F238E27FC236}">
                <a16:creationId xmlns:a16="http://schemas.microsoft.com/office/drawing/2014/main" id="{871C63F4-1B0A-4740-AA10-697916FB0F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867A44-513F-4104-8662-798FED8E2B63}"/>
              </a:ext>
            </a:extLst>
          </p:cNvPr>
          <p:cNvSpPr>
            <a:spLocks noGrp="1"/>
          </p:cNvSpPr>
          <p:nvPr>
            <p:ph type="sldNum" sz="quarter" idx="12"/>
          </p:nvPr>
        </p:nvSpPr>
        <p:spPr/>
        <p:txBody>
          <a:bodyPr/>
          <a:lstStyle/>
          <a:p>
            <a:fld id="{66C692B3-1D4A-4D70-81CF-3C2852706BC8}" type="slidenum">
              <a:rPr lang="en-US" smtClean="0"/>
              <a:t>‹#›</a:t>
            </a:fld>
            <a:endParaRPr lang="en-US"/>
          </a:p>
        </p:txBody>
      </p:sp>
    </p:spTree>
    <p:extLst>
      <p:ext uri="{BB962C8B-B14F-4D97-AF65-F5344CB8AC3E}">
        <p14:creationId xmlns:p14="http://schemas.microsoft.com/office/powerpoint/2010/main" val="3005454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D6B55-68DF-47F5-85B5-B959E3D384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A9E623-EF10-4926-8116-3731C10D06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DE0190-308E-4CA3-AD8F-26B8F2DF3F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86536F-CE2D-4E3F-BD1F-493D9DF9B69A}"/>
              </a:ext>
            </a:extLst>
          </p:cNvPr>
          <p:cNvSpPr>
            <a:spLocks noGrp="1"/>
          </p:cNvSpPr>
          <p:nvPr>
            <p:ph type="dt" sz="half" idx="10"/>
          </p:nvPr>
        </p:nvSpPr>
        <p:spPr/>
        <p:txBody>
          <a:bodyPr/>
          <a:lstStyle/>
          <a:p>
            <a:fld id="{2F2391CA-1A8E-48ED-AE26-338E218E53F9}" type="datetimeFigureOut">
              <a:rPr lang="en-US" smtClean="0"/>
              <a:t>9/8/2026</a:t>
            </a:fld>
            <a:endParaRPr lang="en-US"/>
          </a:p>
        </p:txBody>
      </p:sp>
      <p:sp>
        <p:nvSpPr>
          <p:cNvPr id="6" name="Footer Placeholder 5">
            <a:extLst>
              <a:ext uri="{FF2B5EF4-FFF2-40B4-BE49-F238E27FC236}">
                <a16:creationId xmlns:a16="http://schemas.microsoft.com/office/drawing/2014/main" id="{ABAF8A8F-AD25-45F4-859B-4F256380B6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6421DD-4ADB-4C17-8C55-E17DE5EB8EA3}"/>
              </a:ext>
            </a:extLst>
          </p:cNvPr>
          <p:cNvSpPr>
            <a:spLocks noGrp="1"/>
          </p:cNvSpPr>
          <p:nvPr>
            <p:ph type="sldNum" sz="quarter" idx="12"/>
          </p:nvPr>
        </p:nvSpPr>
        <p:spPr/>
        <p:txBody>
          <a:bodyPr/>
          <a:lstStyle/>
          <a:p>
            <a:fld id="{66C692B3-1D4A-4D70-81CF-3C2852706BC8}" type="slidenum">
              <a:rPr lang="en-US" smtClean="0"/>
              <a:t>‹#›</a:t>
            </a:fld>
            <a:endParaRPr lang="en-US"/>
          </a:p>
        </p:txBody>
      </p:sp>
    </p:spTree>
    <p:extLst>
      <p:ext uri="{BB962C8B-B14F-4D97-AF65-F5344CB8AC3E}">
        <p14:creationId xmlns:p14="http://schemas.microsoft.com/office/powerpoint/2010/main" val="1450215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58FA2-33D4-4D4C-83D7-413827B84C4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847BB2-7220-4338-AEB6-7C78D581D6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15C058-4D93-4259-9CFB-A2E6E9F80F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B0E2872-EC2C-4452-AF31-AFE1BDBDFC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A41CE9-5D10-4A34-866B-FDDDAC70B9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B46342-E2A2-4704-91CB-0F7094DF9C55}"/>
              </a:ext>
            </a:extLst>
          </p:cNvPr>
          <p:cNvSpPr>
            <a:spLocks noGrp="1"/>
          </p:cNvSpPr>
          <p:nvPr>
            <p:ph type="dt" sz="half" idx="10"/>
          </p:nvPr>
        </p:nvSpPr>
        <p:spPr/>
        <p:txBody>
          <a:bodyPr/>
          <a:lstStyle/>
          <a:p>
            <a:fld id="{2F2391CA-1A8E-48ED-AE26-338E218E53F9}" type="datetimeFigureOut">
              <a:rPr lang="en-US" smtClean="0"/>
              <a:t>9/8/2026</a:t>
            </a:fld>
            <a:endParaRPr lang="en-US"/>
          </a:p>
        </p:txBody>
      </p:sp>
      <p:sp>
        <p:nvSpPr>
          <p:cNvPr id="8" name="Footer Placeholder 7">
            <a:extLst>
              <a:ext uri="{FF2B5EF4-FFF2-40B4-BE49-F238E27FC236}">
                <a16:creationId xmlns:a16="http://schemas.microsoft.com/office/drawing/2014/main" id="{A506C880-A628-422D-994A-8F8A72CB89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06F4FD-47CE-4AA1-B126-CBB0BF5D9E46}"/>
              </a:ext>
            </a:extLst>
          </p:cNvPr>
          <p:cNvSpPr>
            <a:spLocks noGrp="1"/>
          </p:cNvSpPr>
          <p:nvPr>
            <p:ph type="sldNum" sz="quarter" idx="12"/>
          </p:nvPr>
        </p:nvSpPr>
        <p:spPr/>
        <p:txBody>
          <a:bodyPr/>
          <a:lstStyle/>
          <a:p>
            <a:fld id="{66C692B3-1D4A-4D70-81CF-3C2852706BC8}" type="slidenum">
              <a:rPr lang="en-US" smtClean="0"/>
              <a:t>‹#›</a:t>
            </a:fld>
            <a:endParaRPr lang="en-US"/>
          </a:p>
        </p:txBody>
      </p:sp>
    </p:spTree>
    <p:extLst>
      <p:ext uri="{BB962C8B-B14F-4D97-AF65-F5344CB8AC3E}">
        <p14:creationId xmlns:p14="http://schemas.microsoft.com/office/powerpoint/2010/main" val="1560003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C0BCB-F143-4660-9848-2D74C055DD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73AF93-4E7D-490E-A699-ECED331379AE}"/>
              </a:ext>
            </a:extLst>
          </p:cNvPr>
          <p:cNvSpPr>
            <a:spLocks noGrp="1"/>
          </p:cNvSpPr>
          <p:nvPr>
            <p:ph type="dt" sz="half" idx="10"/>
          </p:nvPr>
        </p:nvSpPr>
        <p:spPr/>
        <p:txBody>
          <a:bodyPr/>
          <a:lstStyle/>
          <a:p>
            <a:fld id="{2F2391CA-1A8E-48ED-AE26-338E218E53F9}" type="datetimeFigureOut">
              <a:rPr lang="en-US" smtClean="0"/>
              <a:t>9/8/2026</a:t>
            </a:fld>
            <a:endParaRPr lang="en-US"/>
          </a:p>
        </p:txBody>
      </p:sp>
      <p:sp>
        <p:nvSpPr>
          <p:cNvPr id="4" name="Footer Placeholder 3">
            <a:extLst>
              <a:ext uri="{FF2B5EF4-FFF2-40B4-BE49-F238E27FC236}">
                <a16:creationId xmlns:a16="http://schemas.microsoft.com/office/drawing/2014/main" id="{17DDABA8-E490-415B-AB32-B7E9B9D7AB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174F91-3638-434A-B731-74365077DA9C}"/>
              </a:ext>
            </a:extLst>
          </p:cNvPr>
          <p:cNvSpPr>
            <a:spLocks noGrp="1"/>
          </p:cNvSpPr>
          <p:nvPr>
            <p:ph type="sldNum" sz="quarter" idx="12"/>
          </p:nvPr>
        </p:nvSpPr>
        <p:spPr/>
        <p:txBody>
          <a:bodyPr/>
          <a:lstStyle/>
          <a:p>
            <a:fld id="{66C692B3-1D4A-4D70-81CF-3C2852706BC8}" type="slidenum">
              <a:rPr lang="en-US" smtClean="0"/>
              <a:t>‹#›</a:t>
            </a:fld>
            <a:endParaRPr lang="en-US"/>
          </a:p>
        </p:txBody>
      </p:sp>
    </p:spTree>
    <p:extLst>
      <p:ext uri="{BB962C8B-B14F-4D97-AF65-F5344CB8AC3E}">
        <p14:creationId xmlns:p14="http://schemas.microsoft.com/office/powerpoint/2010/main" val="564791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49564F-03A8-414D-84C3-F0844C87564C}"/>
              </a:ext>
            </a:extLst>
          </p:cNvPr>
          <p:cNvSpPr>
            <a:spLocks noGrp="1"/>
          </p:cNvSpPr>
          <p:nvPr>
            <p:ph type="dt" sz="half" idx="10"/>
          </p:nvPr>
        </p:nvSpPr>
        <p:spPr/>
        <p:txBody>
          <a:bodyPr/>
          <a:lstStyle/>
          <a:p>
            <a:fld id="{2F2391CA-1A8E-48ED-AE26-338E218E53F9}" type="datetimeFigureOut">
              <a:rPr lang="en-US" smtClean="0"/>
              <a:t>9/8/2026</a:t>
            </a:fld>
            <a:endParaRPr lang="en-US"/>
          </a:p>
        </p:txBody>
      </p:sp>
      <p:sp>
        <p:nvSpPr>
          <p:cNvPr id="3" name="Footer Placeholder 2">
            <a:extLst>
              <a:ext uri="{FF2B5EF4-FFF2-40B4-BE49-F238E27FC236}">
                <a16:creationId xmlns:a16="http://schemas.microsoft.com/office/drawing/2014/main" id="{0EFC0573-250F-46F7-AAB2-EAFE53DB3C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BBAF3E-9668-4D40-BE67-E3ED0BD72D9A}"/>
              </a:ext>
            </a:extLst>
          </p:cNvPr>
          <p:cNvSpPr>
            <a:spLocks noGrp="1"/>
          </p:cNvSpPr>
          <p:nvPr>
            <p:ph type="sldNum" sz="quarter" idx="12"/>
          </p:nvPr>
        </p:nvSpPr>
        <p:spPr/>
        <p:txBody>
          <a:bodyPr/>
          <a:lstStyle/>
          <a:p>
            <a:fld id="{66C692B3-1D4A-4D70-81CF-3C2852706BC8}" type="slidenum">
              <a:rPr lang="en-US" smtClean="0"/>
              <a:t>‹#›</a:t>
            </a:fld>
            <a:endParaRPr lang="en-US"/>
          </a:p>
        </p:txBody>
      </p:sp>
    </p:spTree>
    <p:extLst>
      <p:ext uri="{BB962C8B-B14F-4D97-AF65-F5344CB8AC3E}">
        <p14:creationId xmlns:p14="http://schemas.microsoft.com/office/powerpoint/2010/main" val="2076457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A0430-2F61-45BC-8FE7-A169E3582E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D1BCCD-DCA2-4A91-9F1A-FFD1D7CB87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0272CF-F4BC-46AB-B842-D6B1792156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2C88AC-1DA7-4EB7-A189-7F6490B08692}"/>
              </a:ext>
            </a:extLst>
          </p:cNvPr>
          <p:cNvSpPr>
            <a:spLocks noGrp="1"/>
          </p:cNvSpPr>
          <p:nvPr>
            <p:ph type="dt" sz="half" idx="10"/>
          </p:nvPr>
        </p:nvSpPr>
        <p:spPr/>
        <p:txBody>
          <a:bodyPr/>
          <a:lstStyle/>
          <a:p>
            <a:fld id="{2F2391CA-1A8E-48ED-AE26-338E218E53F9}" type="datetimeFigureOut">
              <a:rPr lang="en-US" smtClean="0"/>
              <a:t>9/8/2026</a:t>
            </a:fld>
            <a:endParaRPr lang="en-US"/>
          </a:p>
        </p:txBody>
      </p:sp>
      <p:sp>
        <p:nvSpPr>
          <p:cNvPr id="6" name="Footer Placeholder 5">
            <a:extLst>
              <a:ext uri="{FF2B5EF4-FFF2-40B4-BE49-F238E27FC236}">
                <a16:creationId xmlns:a16="http://schemas.microsoft.com/office/drawing/2014/main" id="{DA7EA8FF-27D1-4F4E-9D34-D50B3AE080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D67293-E292-4338-9A74-DCCD21162571}"/>
              </a:ext>
            </a:extLst>
          </p:cNvPr>
          <p:cNvSpPr>
            <a:spLocks noGrp="1"/>
          </p:cNvSpPr>
          <p:nvPr>
            <p:ph type="sldNum" sz="quarter" idx="12"/>
          </p:nvPr>
        </p:nvSpPr>
        <p:spPr/>
        <p:txBody>
          <a:bodyPr/>
          <a:lstStyle/>
          <a:p>
            <a:fld id="{66C692B3-1D4A-4D70-81CF-3C2852706BC8}" type="slidenum">
              <a:rPr lang="en-US" smtClean="0"/>
              <a:t>‹#›</a:t>
            </a:fld>
            <a:endParaRPr lang="en-US"/>
          </a:p>
        </p:txBody>
      </p:sp>
    </p:spTree>
    <p:extLst>
      <p:ext uri="{BB962C8B-B14F-4D97-AF65-F5344CB8AC3E}">
        <p14:creationId xmlns:p14="http://schemas.microsoft.com/office/powerpoint/2010/main" val="1293442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D8297-BD74-4296-B51A-A22D52E617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EB3BDD-3C76-4E9E-851D-34701A5194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3FBC8D-77E9-4FCC-A04D-6975FF6D23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CF4814-A255-4082-973C-E47E31772615}"/>
              </a:ext>
            </a:extLst>
          </p:cNvPr>
          <p:cNvSpPr>
            <a:spLocks noGrp="1"/>
          </p:cNvSpPr>
          <p:nvPr>
            <p:ph type="dt" sz="half" idx="10"/>
          </p:nvPr>
        </p:nvSpPr>
        <p:spPr/>
        <p:txBody>
          <a:bodyPr/>
          <a:lstStyle/>
          <a:p>
            <a:fld id="{2F2391CA-1A8E-48ED-AE26-338E218E53F9}" type="datetimeFigureOut">
              <a:rPr lang="en-US" smtClean="0"/>
              <a:t>9/8/2026</a:t>
            </a:fld>
            <a:endParaRPr lang="en-US"/>
          </a:p>
        </p:txBody>
      </p:sp>
      <p:sp>
        <p:nvSpPr>
          <p:cNvPr id="6" name="Footer Placeholder 5">
            <a:extLst>
              <a:ext uri="{FF2B5EF4-FFF2-40B4-BE49-F238E27FC236}">
                <a16:creationId xmlns:a16="http://schemas.microsoft.com/office/drawing/2014/main" id="{A3DE0B87-A19A-409E-BC89-FCB09E121A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ED0248-9053-4455-BF67-A055A2149DA3}"/>
              </a:ext>
            </a:extLst>
          </p:cNvPr>
          <p:cNvSpPr>
            <a:spLocks noGrp="1"/>
          </p:cNvSpPr>
          <p:nvPr>
            <p:ph type="sldNum" sz="quarter" idx="12"/>
          </p:nvPr>
        </p:nvSpPr>
        <p:spPr/>
        <p:txBody>
          <a:bodyPr/>
          <a:lstStyle/>
          <a:p>
            <a:fld id="{66C692B3-1D4A-4D70-81CF-3C2852706BC8}" type="slidenum">
              <a:rPr lang="en-US" smtClean="0"/>
              <a:t>‹#›</a:t>
            </a:fld>
            <a:endParaRPr lang="en-US"/>
          </a:p>
        </p:txBody>
      </p:sp>
    </p:spTree>
    <p:extLst>
      <p:ext uri="{BB962C8B-B14F-4D97-AF65-F5344CB8AC3E}">
        <p14:creationId xmlns:p14="http://schemas.microsoft.com/office/powerpoint/2010/main" val="3586470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79B30-CCB8-4E89-B9A8-D8C2594DC2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99A82E-E8E3-4598-B264-FC7615DBF5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F0C034-3CD5-4B7C-9AB5-54790ABD0570}"/>
              </a:ext>
            </a:extLst>
          </p:cNvPr>
          <p:cNvSpPr>
            <a:spLocks noGrp="1"/>
          </p:cNvSpPr>
          <p:nvPr>
            <p:ph type="dt" sz="half" idx="10"/>
          </p:nvPr>
        </p:nvSpPr>
        <p:spPr/>
        <p:txBody>
          <a:bodyPr/>
          <a:lstStyle/>
          <a:p>
            <a:fld id="{2F2391CA-1A8E-48ED-AE26-338E218E53F9}" type="datetimeFigureOut">
              <a:rPr lang="en-US" smtClean="0"/>
              <a:t>9/8/2026</a:t>
            </a:fld>
            <a:endParaRPr lang="en-US"/>
          </a:p>
        </p:txBody>
      </p:sp>
      <p:sp>
        <p:nvSpPr>
          <p:cNvPr id="5" name="Footer Placeholder 4">
            <a:extLst>
              <a:ext uri="{FF2B5EF4-FFF2-40B4-BE49-F238E27FC236}">
                <a16:creationId xmlns:a16="http://schemas.microsoft.com/office/drawing/2014/main" id="{18639F2D-F2B6-47A4-9942-0D79AB0659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B8E15E-A34C-4937-8DFF-6798E030D4D4}"/>
              </a:ext>
            </a:extLst>
          </p:cNvPr>
          <p:cNvSpPr>
            <a:spLocks noGrp="1"/>
          </p:cNvSpPr>
          <p:nvPr>
            <p:ph type="sldNum" sz="quarter" idx="12"/>
          </p:nvPr>
        </p:nvSpPr>
        <p:spPr/>
        <p:txBody>
          <a:bodyPr/>
          <a:lstStyle/>
          <a:p>
            <a:fld id="{66C692B3-1D4A-4D70-81CF-3C2852706BC8}" type="slidenum">
              <a:rPr lang="en-US" smtClean="0"/>
              <a:t>‹#›</a:t>
            </a:fld>
            <a:endParaRPr lang="en-US"/>
          </a:p>
        </p:txBody>
      </p:sp>
    </p:spTree>
    <p:extLst>
      <p:ext uri="{BB962C8B-B14F-4D97-AF65-F5344CB8AC3E}">
        <p14:creationId xmlns:p14="http://schemas.microsoft.com/office/powerpoint/2010/main" val="3853028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414842-84F1-49AB-9C68-DA5CBD99E3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6EED45-46E7-416F-A97D-AEB41A65E8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8777F-ED45-4955-81DD-197A2F282955}"/>
              </a:ext>
            </a:extLst>
          </p:cNvPr>
          <p:cNvSpPr>
            <a:spLocks noGrp="1"/>
          </p:cNvSpPr>
          <p:nvPr>
            <p:ph type="dt" sz="half" idx="10"/>
          </p:nvPr>
        </p:nvSpPr>
        <p:spPr/>
        <p:txBody>
          <a:bodyPr/>
          <a:lstStyle/>
          <a:p>
            <a:fld id="{2F2391CA-1A8E-48ED-AE26-338E218E53F9}" type="datetimeFigureOut">
              <a:rPr lang="en-US" smtClean="0"/>
              <a:t>9/8/2026</a:t>
            </a:fld>
            <a:endParaRPr lang="en-US"/>
          </a:p>
        </p:txBody>
      </p:sp>
      <p:sp>
        <p:nvSpPr>
          <p:cNvPr id="5" name="Footer Placeholder 4">
            <a:extLst>
              <a:ext uri="{FF2B5EF4-FFF2-40B4-BE49-F238E27FC236}">
                <a16:creationId xmlns:a16="http://schemas.microsoft.com/office/drawing/2014/main" id="{1C5388D7-CAFB-4589-BF26-D6FF8AFB1E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2F0BCA-6145-410F-A80D-ADF25C3FBA68}"/>
              </a:ext>
            </a:extLst>
          </p:cNvPr>
          <p:cNvSpPr>
            <a:spLocks noGrp="1"/>
          </p:cNvSpPr>
          <p:nvPr>
            <p:ph type="sldNum" sz="quarter" idx="12"/>
          </p:nvPr>
        </p:nvSpPr>
        <p:spPr/>
        <p:txBody>
          <a:bodyPr/>
          <a:lstStyle/>
          <a:p>
            <a:fld id="{66C692B3-1D4A-4D70-81CF-3C2852706BC8}" type="slidenum">
              <a:rPr lang="en-US" smtClean="0"/>
              <a:t>‹#›</a:t>
            </a:fld>
            <a:endParaRPr lang="en-US"/>
          </a:p>
        </p:txBody>
      </p:sp>
    </p:spTree>
    <p:extLst>
      <p:ext uri="{BB962C8B-B14F-4D97-AF65-F5344CB8AC3E}">
        <p14:creationId xmlns:p14="http://schemas.microsoft.com/office/powerpoint/2010/main" val="2103064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D7AC10-45DD-48C5-899D-7B3F00B248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04CE76-2834-48B6-BB43-CC5DBBBD73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7AEE9A-0F59-4755-8C56-6C492C5C33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2391CA-1A8E-48ED-AE26-338E218E53F9}" type="datetimeFigureOut">
              <a:rPr lang="en-US" smtClean="0"/>
              <a:t>9/8/2026</a:t>
            </a:fld>
            <a:endParaRPr lang="en-US"/>
          </a:p>
        </p:txBody>
      </p:sp>
      <p:sp>
        <p:nvSpPr>
          <p:cNvPr id="5" name="Footer Placeholder 4">
            <a:extLst>
              <a:ext uri="{FF2B5EF4-FFF2-40B4-BE49-F238E27FC236}">
                <a16:creationId xmlns:a16="http://schemas.microsoft.com/office/drawing/2014/main" id="{3EA2EC1E-B687-428D-95A1-0B43E08A78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D70531-9C94-4372-9C10-4740D549F0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692B3-1D4A-4D70-81CF-3C2852706BC8}" type="slidenum">
              <a:rPr lang="en-US" smtClean="0"/>
              <a:t>‹#›</a:t>
            </a:fld>
            <a:endParaRPr lang="en-US"/>
          </a:p>
        </p:txBody>
      </p:sp>
    </p:spTree>
    <p:extLst>
      <p:ext uri="{BB962C8B-B14F-4D97-AF65-F5344CB8AC3E}">
        <p14:creationId xmlns:p14="http://schemas.microsoft.com/office/powerpoint/2010/main" val="1690936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video" Target="https://www.youtube.com/embed/Bss2VEvrdcw?feature=oembed" TargetMode="External"/><Relationship Id="rId4" Type="http://schemas.openxmlformats.org/officeDocument/2006/relationships/hyperlink" Target="https://youtu.be/Bss2VEvrdcw?si=Qpu0fF4hVdrUp18e"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jpe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www1.va.gov/vhapublications/ViewPublication.asp?pub_ID=2260"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jpeg"/><Relationship Id="rId7" Type="http://schemas.openxmlformats.org/officeDocument/2006/relationships/image" Target="../media/image16.jpeg"/><Relationship Id="rId12"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jpeg"/><Relationship Id="rId11" Type="http://schemas.openxmlformats.org/officeDocument/2006/relationships/image" Target="../media/image20.jpeg"/><Relationship Id="rId5" Type="http://schemas.openxmlformats.org/officeDocument/2006/relationships/image" Target="../media/image14.jpeg"/><Relationship Id="rId10" Type="http://schemas.openxmlformats.org/officeDocument/2006/relationships/image" Target="../media/image19.jpeg"/><Relationship Id="rId4" Type="http://schemas.openxmlformats.org/officeDocument/2006/relationships/image" Target="../media/image13.jpeg"/><Relationship Id="rId9" Type="http://schemas.openxmlformats.org/officeDocument/2006/relationships/image" Target="../media/image18.jpeg"/></Relationships>
</file>

<file path=ppt/slides/_rels/slide1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jpe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 Id="rId9" Type="http://schemas.openxmlformats.org/officeDocument/2006/relationships/image" Target="../media/image28.png"/></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0.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X:\Marie_Temp\Safe Patient Handling\National Documents\Safe Patient Log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9196" r="9089" b="12627"/>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77980" y="383011"/>
            <a:ext cx="4023360" cy="3204134"/>
          </a:xfrm>
        </p:spPr>
        <p:txBody>
          <a:bodyPr anchor="b">
            <a:normAutofit/>
          </a:bodyPr>
          <a:lstStyle/>
          <a:p>
            <a:pPr algn="l"/>
            <a:r>
              <a:rPr lang="en-US" sz="3700" i="1" dirty="0"/>
              <a:t>The Safe Patient Handling and Mobility Program: </a:t>
            </a:r>
            <a:br>
              <a:rPr lang="en-US" sz="3700" i="1" dirty="0"/>
            </a:br>
            <a:r>
              <a:rPr lang="en-US" sz="3700" i="1" dirty="0"/>
              <a:t>How it relates to you and your job</a:t>
            </a:r>
          </a:p>
        </p:txBody>
      </p:sp>
      <p:sp>
        <p:nvSpPr>
          <p:cNvPr id="3" name="Subtitle 2"/>
          <p:cNvSpPr>
            <a:spLocks noGrp="1"/>
          </p:cNvSpPr>
          <p:nvPr>
            <p:ph type="subTitle" idx="1"/>
          </p:nvPr>
        </p:nvSpPr>
        <p:spPr>
          <a:xfrm>
            <a:off x="477980" y="4872922"/>
            <a:ext cx="4023359" cy="1208141"/>
          </a:xfrm>
        </p:spPr>
        <p:txBody>
          <a:bodyPr>
            <a:normAutofit/>
          </a:bodyPr>
          <a:lstStyle/>
          <a:p>
            <a:pPr algn="l"/>
            <a:r>
              <a:rPr lang="en-US" sz="2000" dirty="0"/>
              <a:t>Daniel Agbogidi, BSN, RN</a:t>
            </a:r>
          </a:p>
          <a:p>
            <a:pPr algn="l"/>
            <a:r>
              <a:rPr lang="en-US" sz="2000" dirty="0"/>
              <a:t>Safe Patient Handling &amp; Mobility</a:t>
            </a:r>
          </a:p>
          <a:p>
            <a:pPr algn="l"/>
            <a:r>
              <a:rPr lang="en-US" sz="2000" dirty="0"/>
              <a:t>Program Manager</a:t>
            </a:r>
          </a:p>
        </p:txBody>
      </p:sp>
      <p:sp>
        <p:nvSpPr>
          <p:cNvPr id="75" name="Rectangle 7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7" name="Rectangle 7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926046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D53098D-8EFF-9421-F0A9-6848E392E80F}"/>
              </a:ext>
            </a:extLst>
          </p:cNvPr>
          <p:cNvPicPr>
            <a:picLocks noChangeAspect="1"/>
          </p:cNvPicPr>
          <p:nvPr/>
        </p:nvPicPr>
        <p:blipFill>
          <a:blip r:embed="rId3">
            <a:duotone>
              <a:schemeClr val="bg2">
                <a:shade val="45000"/>
                <a:satMod val="135000"/>
              </a:schemeClr>
              <a:prstClr val="white"/>
            </a:duotone>
          </a:blip>
          <a:srcRect t="15730"/>
          <a:stretch>
            <a:fillRect/>
          </a:stretch>
        </p:blipFill>
        <p:spPr>
          <a:xfrm>
            <a:off x="83147" y="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E092A18-BA96-4444-9034-BBFF6D905602}"/>
              </a:ext>
            </a:extLst>
          </p:cNvPr>
          <p:cNvSpPr txBox="1"/>
          <p:nvPr/>
        </p:nvSpPr>
        <p:spPr>
          <a:xfrm>
            <a:off x="643466" y="5143761"/>
            <a:ext cx="10843491" cy="584775"/>
          </a:xfrm>
          <a:prstGeom prst="rect">
            <a:avLst/>
          </a:prstGeom>
          <a:noFill/>
        </p:spPr>
        <p:txBody>
          <a:bodyPr wrap="square" rtlCol="0">
            <a:spAutoFit/>
          </a:bodyPr>
          <a:lstStyle/>
          <a:p>
            <a:pPr algn="ctr">
              <a:spcAft>
                <a:spcPts val="600"/>
              </a:spcAft>
            </a:pPr>
            <a:r>
              <a:rPr lang="en-US" sz="3200" dirty="0"/>
              <a:t>Safe Patient Handling and Mobility is of nationwide importance.</a:t>
            </a:r>
          </a:p>
        </p:txBody>
      </p:sp>
      <p:graphicFrame>
        <p:nvGraphicFramePr>
          <p:cNvPr id="5" name="Content Placeholder 2">
            <a:extLst>
              <a:ext uri="{FF2B5EF4-FFF2-40B4-BE49-F238E27FC236}">
                <a16:creationId xmlns:a16="http://schemas.microsoft.com/office/drawing/2014/main" id="{20D21248-8CF3-5286-7DDD-EE68B5FE1A91}"/>
              </a:ext>
            </a:extLst>
          </p:cNvPr>
          <p:cNvGraphicFramePr>
            <a:graphicFrameLocks noGrp="1"/>
          </p:cNvGraphicFramePr>
          <p:nvPr>
            <p:ph idx="1"/>
            <p:extLst>
              <p:ext uri="{D42A27DB-BD31-4B8C-83A1-F6EECF244321}">
                <p14:modId xmlns:p14="http://schemas.microsoft.com/office/powerpoint/2010/main" val="2146211456"/>
              </p:ext>
            </p:extLst>
          </p:nvPr>
        </p:nvGraphicFramePr>
        <p:xfrm>
          <a:off x="838200" y="415636"/>
          <a:ext cx="10515600" cy="472811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extBox 1">
            <a:extLst>
              <a:ext uri="{FF2B5EF4-FFF2-40B4-BE49-F238E27FC236}">
                <a16:creationId xmlns:a16="http://schemas.microsoft.com/office/drawing/2014/main" id="{18B22CE4-0D33-CA68-2AFD-4677224D2D1F}"/>
              </a:ext>
            </a:extLst>
          </p:cNvPr>
          <p:cNvSpPr txBox="1"/>
          <p:nvPr/>
        </p:nvSpPr>
        <p:spPr>
          <a:xfrm>
            <a:off x="838201" y="6196263"/>
            <a:ext cx="10515600" cy="584775"/>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255928944"/>
      </p:ext>
    </p:extLst>
  </p:cSld>
  <p:clrMapOvr>
    <a:masterClrMapping/>
  </p:clrMapOvr>
  <mc:AlternateContent xmlns:mc="http://schemas.openxmlformats.org/markup-compatibility/2006" xmlns:p14="http://schemas.microsoft.com/office/powerpoint/2010/main">
    <mc:Choice Requires="p14">
      <p:transition spd="slow" p14:dur="2000" advTm="29616"/>
    </mc:Choice>
    <mc:Fallback xmlns="">
      <p:transition spd="slow" advTm="2961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3C4E0-DC4D-2DC9-CD12-177C60163A31}"/>
              </a:ext>
            </a:extLst>
          </p:cNvPr>
          <p:cNvSpPr>
            <a:spLocks noGrp="1"/>
          </p:cNvSpPr>
          <p:nvPr>
            <p:ph type="title"/>
          </p:nvPr>
        </p:nvSpPr>
        <p:spPr/>
        <p:txBody>
          <a:bodyPr>
            <a:normAutofit/>
          </a:bodyPr>
          <a:lstStyle/>
          <a:p>
            <a:r>
              <a:rPr lang="en-US" sz="4000" b="1" dirty="0"/>
              <a:t>ANA Presents Safe Patient Handling and Mobility</a:t>
            </a:r>
            <a:endParaRPr lang="en-US" sz="4000" dirty="0"/>
          </a:p>
        </p:txBody>
      </p:sp>
      <p:pic>
        <p:nvPicPr>
          <p:cNvPr id="4" name="Online Media 3" title="ANA Presents Safe Patient Handling and Mobility">
            <a:hlinkClick r:id="" action="ppaction://media"/>
            <a:extLst>
              <a:ext uri="{FF2B5EF4-FFF2-40B4-BE49-F238E27FC236}">
                <a16:creationId xmlns:a16="http://schemas.microsoft.com/office/drawing/2014/main" id="{8B7CB6A3-4122-FB52-ABA4-8B095CEB0251}"/>
              </a:ext>
            </a:extLst>
          </p:cNvPr>
          <p:cNvPicPr>
            <a:picLocks noGrp="1" noRot="1" noChangeAspect="1"/>
          </p:cNvPicPr>
          <p:nvPr>
            <p:ph idx="1"/>
            <a:videoFile r:link="rId1"/>
          </p:nvPr>
        </p:nvPicPr>
        <p:blipFill>
          <a:blip r:embed="rId3"/>
          <a:stretch>
            <a:fillRect/>
          </a:stretch>
        </p:blipFill>
        <p:spPr>
          <a:xfrm>
            <a:off x="2244725" y="1825625"/>
            <a:ext cx="7700963" cy="4351338"/>
          </a:xfrm>
          <a:prstGeom prst="rect">
            <a:avLst/>
          </a:prstGeom>
        </p:spPr>
      </p:pic>
      <p:sp>
        <p:nvSpPr>
          <p:cNvPr id="5" name="TextBox 4">
            <a:extLst>
              <a:ext uri="{FF2B5EF4-FFF2-40B4-BE49-F238E27FC236}">
                <a16:creationId xmlns:a16="http://schemas.microsoft.com/office/drawing/2014/main" id="{0EA0A612-AFDC-AAA1-B04C-3F79C5DC5D87}"/>
              </a:ext>
            </a:extLst>
          </p:cNvPr>
          <p:cNvSpPr txBox="1"/>
          <p:nvPr/>
        </p:nvSpPr>
        <p:spPr>
          <a:xfrm>
            <a:off x="962526" y="6280484"/>
            <a:ext cx="10287000" cy="369332"/>
          </a:xfrm>
          <a:prstGeom prst="rect">
            <a:avLst/>
          </a:prstGeom>
          <a:noFill/>
        </p:spPr>
        <p:txBody>
          <a:bodyPr wrap="square" rtlCol="0">
            <a:spAutoFit/>
          </a:bodyPr>
          <a:lstStyle/>
          <a:p>
            <a:pPr algn="ctr"/>
            <a:r>
              <a:rPr lang="en-US" dirty="0">
                <a:solidFill>
                  <a:srgbClr val="00B0F0"/>
                </a:solidFill>
                <a:hlinkClick r:id="rId4">
                  <a:extLst>
                    <a:ext uri="{A12FA001-AC4F-418D-AE19-62706E023703}">
                      <ahyp:hlinkClr xmlns:ahyp="http://schemas.microsoft.com/office/drawing/2018/hyperlinkcolor" val="tx"/>
                    </a:ext>
                  </a:extLst>
                </a:hlinkClick>
              </a:rPr>
              <a:t>https://youtu.be/Bss2VEvrdcw?si=Qpu0fF4hVdrUp18e</a:t>
            </a:r>
            <a:r>
              <a:rPr lang="en-US" dirty="0">
                <a:solidFill>
                  <a:srgbClr val="00B0F0"/>
                </a:solidFill>
              </a:rPr>
              <a:t> </a:t>
            </a:r>
          </a:p>
        </p:txBody>
      </p:sp>
    </p:spTree>
    <p:extLst>
      <p:ext uri="{BB962C8B-B14F-4D97-AF65-F5344CB8AC3E}">
        <p14:creationId xmlns:p14="http://schemas.microsoft.com/office/powerpoint/2010/main" val="2553165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FA01CCA7-43A7-48FA-AE0F-57A7D3D5DE2A}"/>
              </a:ext>
            </a:extLst>
          </p:cNvPr>
          <p:cNvSpPr>
            <a:spLocks noGrp="1"/>
          </p:cNvSpPr>
          <p:nvPr>
            <p:ph type="title"/>
          </p:nvPr>
        </p:nvSpPr>
        <p:spPr>
          <a:xfrm>
            <a:off x="838201" y="3998018"/>
            <a:ext cx="3981854" cy="2216513"/>
          </a:xfrm>
        </p:spPr>
        <p:txBody>
          <a:bodyPr vert="horz" lIns="91440" tIns="45720" rIns="91440" bIns="45720" rtlCol="0" anchor="ctr">
            <a:normAutofit/>
          </a:bodyPr>
          <a:lstStyle/>
          <a:p>
            <a:r>
              <a:rPr lang="en-US" kern="1200">
                <a:solidFill>
                  <a:schemeClr val="tx1"/>
                </a:solidFill>
                <a:latin typeface="+mj-lt"/>
                <a:ea typeface="+mj-ea"/>
                <a:cs typeface="+mj-cs"/>
              </a:rPr>
              <a:t>VHA Directive</a:t>
            </a:r>
          </a:p>
        </p:txBody>
      </p:sp>
      <p:sp>
        <p:nvSpPr>
          <p:cNvPr id="21" name="Arc 20">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2DFA1D40-EAB1-C8BC-1AA1-5FB30DF095A3}"/>
              </a:ext>
            </a:extLst>
          </p:cNvPr>
          <p:cNvPicPr>
            <a:picLocks noChangeAspect="1"/>
          </p:cNvPicPr>
          <p:nvPr/>
        </p:nvPicPr>
        <p:blipFill>
          <a:blip r:embed="rId3"/>
          <a:stretch>
            <a:fillRect/>
          </a:stretch>
        </p:blipFill>
        <p:spPr>
          <a:xfrm>
            <a:off x="659914" y="799458"/>
            <a:ext cx="10872172" cy="2767563"/>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14" name="TextBox 13">
            <a:extLst>
              <a:ext uri="{FF2B5EF4-FFF2-40B4-BE49-F238E27FC236}">
                <a16:creationId xmlns:a16="http://schemas.microsoft.com/office/drawing/2014/main" id="{70C54F40-AB74-C794-389C-C0ECA4E4B20E}"/>
              </a:ext>
            </a:extLst>
          </p:cNvPr>
          <p:cNvSpPr txBox="1"/>
          <p:nvPr/>
        </p:nvSpPr>
        <p:spPr>
          <a:xfrm>
            <a:off x="4970835" y="3998019"/>
            <a:ext cx="6382966" cy="2216512"/>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100"/>
              <a:t>1. POLICY</a:t>
            </a:r>
          </a:p>
          <a:p>
            <a:pPr indent="-228600">
              <a:lnSpc>
                <a:spcPct val="90000"/>
              </a:lnSpc>
              <a:spcAft>
                <a:spcPts val="600"/>
              </a:spcAft>
              <a:buFont typeface="Arial" panose="020B0604020202020204" pitchFamily="34" charset="0"/>
              <a:buChar char="•"/>
            </a:pPr>
            <a:r>
              <a:rPr lang="en-US" sz="1100"/>
              <a:t>It is Veterans Health Administration (VHA) policy that a Safe Patient Handling and Mobility (SPHM) program be implemented in every Department of Veterans Affairs (VA) medical facility and that SPHM technology be incorporated as appropriate in the planning, design and construction of new construction and renovation projects, to protect VHA health care workers and Veterans from injuries due to patient handling and mobility, ensure that all Veterans have equitable opportunity to access SPHM technology, as needed, and to meet and improve Veteran care needs. </a:t>
            </a:r>
            <a:r>
              <a:rPr lang="en-US" sz="1100">
                <a:highlight>
                  <a:srgbClr val="FFFF00"/>
                </a:highlight>
              </a:rPr>
              <a:t>Employees must utilize SPHM technology for routine and urgent patient handling tasks that require lifting </a:t>
            </a:r>
            <a:r>
              <a:rPr lang="en-US" sz="1100" u="sng">
                <a:highlight>
                  <a:srgbClr val="FFFF00"/>
                </a:highlight>
              </a:rPr>
              <a:t>over 35 pounds </a:t>
            </a:r>
            <a:r>
              <a:rPr lang="en-US" sz="1100">
                <a:highlight>
                  <a:srgbClr val="FFFF00"/>
                </a:highlight>
              </a:rPr>
              <a:t>of patient weight or when performing tasks that require the generation of excessive force, such as repositioning a Veteran in a bed by pushing, pulling or supporting a Veteran during mobility. </a:t>
            </a:r>
            <a:r>
              <a:rPr lang="en-US" sz="1100"/>
              <a:t>In addition, all design projects in spaces used by Veterans must include VA medical facility SPHM Program Manager (PM) input. </a:t>
            </a:r>
          </a:p>
        </p:txBody>
      </p:sp>
    </p:spTree>
    <p:extLst>
      <p:ext uri="{BB962C8B-B14F-4D97-AF65-F5344CB8AC3E}">
        <p14:creationId xmlns:p14="http://schemas.microsoft.com/office/powerpoint/2010/main" val="3414124358"/>
      </p:ext>
    </p:extLst>
  </p:cSld>
  <p:clrMapOvr>
    <a:masterClrMapping/>
  </p:clrMapOvr>
  <mc:AlternateContent xmlns:mc="http://schemas.openxmlformats.org/markup-compatibility/2006" xmlns:p14="http://schemas.microsoft.com/office/powerpoint/2010/main">
    <mc:Choice Requires="p14">
      <p:transition spd="slow" p14:dur="2000" advTm="34379"/>
    </mc:Choice>
    <mc:Fallback xmlns="">
      <p:transition spd="slow" advTm="3437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1" y="803325"/>
            <a:ext cx="5314536" cy="1325563"/>
          </a:xfrm>
        </p:spPr>
        <p:txBody>
          <a:bodyPr>
            <a:noAutofit/>
          </a:bodyPr>
          <a:lstStyle/>
          <a:p>
            <a:r>
              <a:rPr lang="en-US" sz="4800" dirty="0">
                <a:effectLst>
                  <a:outerShdw blurRad="38100" dist="38100" dir="2700000" algn="tl">
                    <a:srgbClr val="000000">
                      <a:alpha val="43137"/>
                    </a:srgbClr>
                  </a:outerShdw>
                </a:effectLst>
              </a:rPr>
              <a:t>Why is there a need for a SPHM program?</a:t>
            </a:r>
          </a:p>
        </p:txBody>
      </p:sp>
      <p:sp>
        <p:nvSpPr>
          <p:cNvPr id="3" name="Content Placeholder 2"/>
          <p:cNvSpPr>
            <a:spLocks noGrp="1"/>
          </p:cNvSpPr>
          <p:nvPr>
            <p:ph idx="1"/>
          </p:nvPr>
        </p:nvSpPr>
        <p:spPr>
          <a:xfrm>
            <a:off x="762000" y="2886634"/>
            <a:ext cx="5314543" cy="2768303"/>
          </a:xfrm>
        </p:spPr>
        <p:txBody>
          <a:bodyPr anchor="t">
            <a:normAutofit/>
          </a:bodyPr>
          <a:lstStyle/>
          <a:p>
            <a:pPr>
              <a:buNone/>
            </a:pPr>
            <a:r>
              <a:rPr lang="en-US" dirty="0"/>
              <a:t>SPHM is changing the environment of care to make it possible to move patients safely and with dignity while improving patient outcomes.</a:t>
            </a:r>
          </a:p>
          <a:p>
            <a:pPr lvl="1"/>
            <a:endParaRPr lang="en-US" sz="1800" dirty="0"/>
          </a:p>
          <a:p>
            <a:pPr lvl="1"/>
            <a:endParaRPr lang="en-US" sz="1800" dirty="0"/>
          </a:p>
          <a:p>
            <a:endParaRPr lang="en-US" sz="1800" dirty="0"/>
          </a:p>
          <a:p>
            <a:endParaRPr lang="en-US" sz="1800" dirty="0"/>
          </a:p>
        </p:txBody>
      </p:sp>
      <p:sp>
        <p:nvSpPr>
          <p:cNvPr id="71" name="Freeform: Shape 70">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5072" r="-1" b="14652"/>
          <a:stretch/>
        </p:blipFill>
        <p:spPr bwMode="auto">
          <a:xfrm>
            <a:off x="6750141" y="-2"/>
            <a:ext cx="5441859" cy="5654940"/>
          </a:xfrm>
          <a:custGeom>
            <a:avLst/>
            <a:gdLst/>
            <a:ahLst/>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E468FBD-BF92-471A-84F2-82475E5247CA}"/>
              </a:ext>
            </a:extLst>
          </p:cNvPr>
          <p:cNvPicPr>
            <a:picLocks noChangeAspect="1"/>
          </p:cNvPicPr>
          <p:nvPr/>
        </p:nvPicPr>
        <p:blipFill rotWithShape="1">
          <a:blip r:embed="rId3">
            <a:alphaModFix amt="35000"/>
          </a:blip>
          <a:srcRect t="13071" b="2660"/>
          <a:stretch/>
        </p:blipFill>
        <p:spPr>
          <a:xfrm>
            <a:off x="20" y="1"/>
            <a:ext cx="12191980" cy="6857999"/>
          </a:xfrm>
          <a:prstGeom prst="rect">
            <a:avLst/>
          </a:prstGeom>
        </p:spPr>
      </p:pic>
      <p:sp>
        <p:nvSpPr>
          <p:cNvPr id="2" name="Title 1"/>
          <p:cNvSpPr>
            <a:spLocks noGrp="1"/>
          </p:cNvSpPr>
          <p:nvPr>
            <p:ph type="title"/>
          </p:nvPr>
        </p:nvSpPr>
        <p:spPr>
          <a:xfrm>
            <a:off x="838201" y="1065862"/>
            <a:ext cx="3313164" cy="4726276"/>
          </a:xfrm>
        </p:spPr>
        <p:txBody>
          <a:bodyPr>
            <a:normAutofit/>
          </a:bodyPr>
          <a:lstStyle/>
          <a:p>
            <a:pPr algn="r"/>
            <a:r>
              <a:rPr lang="en-US" dirty="0">
                <a:solidFill>
                  <a:srgbClr val="FFFFFF"/>
                </a:solidFill>
                <a:effectLst>
                  <a:outerShdw blurRad="38100" dist="38100" dir="2700000" algn="tl">
                    <a:srgbClr val="000000">
                      <a:alpha val="43137"/>
                    </a:srgbClr>
                  </a:outerShdw>
                </a:effectLst>
              </a:rPr>
              <a:t>Why is there a need for a SPHM program?</a:t>
            </a:r>
          </a:p>
        </p:txBody>
      </p:sp>
      <p:cxnSp>
        <p:nvCxnSpPr>
          <p:cNvPr id="12" name="Straight Connector 11">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3EDA823C-5615-4D38-AA5D-4ADD09D3B733}"/>
              </a:ext>
            </a:extLst>
          </p:cNvPr>
          <p:cNvGraphicFramePr>
            <a:graphicFrameLocks noGrp="1"/>
          </p:cNvGraphicFramePr>
          <p:nvPr>
            <p:ph idx="1"/>
            <p:extLst>
              <p:ext uri="{D42A27DB-BD31-4B8C-83A1-F6EECF244321}">
                <p14:modId xmlns:p14="http://schemas.microsoft.com/office/powerpoint/2010/main" val="1151898123"/>
              </p:ext>
            </p:extLst>
          </p:nvPr>
        </p:nvGraphicFramePr>
        <p:xfrm>
          <a:off x="5155380" y="206829"/>
          <a:ext cx="5744685" cy="608148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335298" name="Rectangle 2">
            <a:extLst>
              <a:ext uri="{FF2B5EF4-FFF2-40B4-BE49-F238E27FC236}">
                <a16:creationId xmlns:a16="http://schemas.microsoft.com/office/drawing/2014/main" id="{C60B51CF-58DA-41F6-BBE6-C692F4A179AB}"/>
              </a:ext>
            </a:extLst>
          </p:cNvPr>
          <p:cNvSpPr>
            <a:spLocks noGrp="1" noChangeArrowheads="1"/>
          </p:cNvSpPr>
          <p:nvPr>
            <p:ph type="title"/>
          </p:nvPr>
        </p:nvSpPr>
        <p:spPr>
          <a:xfrm>
            <a:off x="762001" y="803325"/>
            <a:ext cx="5314536" cy="1325563"/>
          </a:xfrm>
        </p:spPr>
        <p:txBody>
          <a:bodyPr vert="horz" lIns="91440" tIns="45720" rIns="91440" bIns="45720" rtlCol="0" anchor="ctr">
            <a:noAutofit/>
          </a:bodyPr>
          <a:lstStyle/>
          <a:p>
            <a:pPr>
              <a:defRPr/>
            </a:pPr>
            <a:r>
              <a:rPr lang="en-US" b="1" dirty="0"/>
              <a:t>Why are Patient Care Providers at </a:t>
            </a:r>
            <a:br>
              <a:rPr lang="en-US" b="1" dirty="0"/>
            </a:br>
            <a:r>
              <a:rPr lang="en-US" b="1" dirty="0"/>
              <a:t>High Risk?</a:t>
            </a:r>
          </a:p>
        </p:txBody>
      </p:sp>
      <p:sp>
        <p:nvSpPr>
          <p:cNvPr id="1335299" name="Rectangle 3">
            <a:extLst>
              <a:ext uri="{FF2B5EF4-FFF2-40B4-BE49-F238E27FC236}">
                <a16:creationId xmlns:a16="http://schemas.microsoft.com/office/drawing/2014/main" id="{0B246499-E6DD-4A8E-BCCD-471CDB44ACAB}"/>
              </a:ext>
            </a:extLst>
          </p:cNvPr>
          <p:cNvSpPr>
            <a:spLocks noGrp="1" noChangeArrowheads="1"/>
          </p:cNvSpPr>
          <p:nvPr>
            <p:ph sz="half" idx="1"/>
          </p:nvPr>
        </p:nvSpPr>
        <p:spPr>
          <a:xfrm>
            <a:off x="762000" y="2506133"/>
            <a:ext cx="5314543" cy="3548541"/>
          </a:xfrm>
        </p:spPr>
        <p:txBody>
          <a:bodyPr vert="horz" lIns="91440" tIns="45720" rIns="91440" bIns="45720" rtlCol="0" anchor="t">
            <a:normAutofit/>
          </a:bodyPr>
          <a:lstStyle/>
          <a:p>
            <a:pPr marL="274320">
              <a:buClr>
                <a:schemeClr val="accent3"/>
              </a:buClr>
              <a:defRPr/>
            </a:pPr>
            <a:r>
              <a:rPr lang="en-US" sz="2400" b="1" i="1" dirty="0"/>
              <a:t>Patients have changed…</a:t>
            </a:r>
          </a:p>
          <a:p>
            <a:pPr marL="640080" lvl="1">
              <a:defRPr/>
            </a:pPr>
            <a:r>
              <a:rPr lang="en-US" b="1" dirty="0"/>
              <a:t>Patients are sicker</a:t>
            </a:r>
            <a:endParaRPr lang="en-US" b="1" dirty="0">
              <a:effectLst>
                <a:outerShdw blurRad="38100" dist="38100" dir="2700000" algn="tl">
                  <a:srgbClr val="FFFFFF"/>
                </a:outerShdw>
              </a:effectLst>
            </a:endParaRPr>
          </a:p>
          <a:p>
            <a:pPr marL="640080" lvl="1">
              <a:defRPr/>
            </a:pPr>
            <a:r>
              <a:rPr lang="en-US" b="1" dirty="0"/>
              <a:t>Patients are more physically dependent on staff</a:t>
            </a:r>
          </a:p>
          <a:p>
            <a:pPr marL="640080" lvl="1">
              <a:defRPr/>
            </a:pPr>
            <a:r>
              <a:rPr lang="en-US" b="1" dirty="0"/>
              <a:t>Patients are larger</a:t>
            </a:r>
          </a:p>
          <a:p>
            <a:pPr marL="640080" lvl="1">
              <a:defRPr/>
            </a:pPr>
            <a:endParaRPr lang="en-US" b="1" dirty="0"/>
          </a:p>
          <a:p>
            <a:pPr marL="640080" lvl="1">
              <a:defRPr/>
            </a:pPr>
            <a:r>
              <a:rPr lang="en-US" b="1" dirty="0"/>
              <a:t>So…. there is more </a:t>
            </a:r>
            <a:br>
              <a:rPr lang="en-US" b="1" dirty="0"/>
            </a:br>
            <a:r>
              <a:rPr lang="en-US" b="1" dirty="0"/>
              <a:t>risk of injury to staff.</a:t>
            </a:r>
          </a:p>
        </p:txBody>
      </p:sp>
      <p:sp>
        <p:nvSpPr>
          <p:cNvPr id="136" name="Freeform: Shape 135">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7109" name="Picture 4" descr="Resize Wizard-1 copy">
            <a:extLst>
              <a:ext uri="{FF2B5EF4-FFF2-40B4-BE49-F238E27FC236}">
                <a16:creationId xmlns:a16="http://schemas.microsoft.com/office/drawing/2014/main" id="{4222D4EB-024B-4220-AAD0-13B734FF322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653" r="25711" b="1"/>
          <a:stretch/>
        </p:blipFill>
        <p:spPr bwMode="auto">
          <a:xfrm>
            <a:off x="6750141" y="-2"/>
            <a:ext cx="5441859" cy="5654940"/>
          </a:xfrm>
          <a:custGeom>
            <a:avLst/>
            <a:gdLst/>
            <a:ahLst/>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Slide Number Placeholder 6">
            <a:extLst>
              <a:ext uri="{FF2B5EF4-FFF2-40B4-BE49-F238E27FC236}">
                <a16:creationId xmlns:a16="http://schemas.microsoft.com/office/drawing/2014/main" id="{77602F5B-887A-4277-A698-007913C5268C}"/>
              </a:ext>
            </a:extLst>
          </p:cNvPr>
          <p:cNvSpPr>
            <a:spLocks noGrp="1" noChangeArrowheads="1"/>
          </p:cNvSpPr>
          <p:nvPr>
            <p:ph type="sldNum" sz="quarter" idx="12"/>
          </p:nvPr>
        </p:nvSpPr>
        <p:spPr bwMode="auto">
          <a:xfrm>
            <a:off x="11000232" y="6108192"/>
            <a:ext cx="548640" cy="548640"/>
          </a:xfrm>
          <a:prstGeom prst="ellipse">
            <a:avLst/>
          </a:prstGeom>
          <a:solidFill>
            <a:srgbClr val="464864"/>
          </a:solidFill>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Aft>
                <a:spcPts val="600"/>
              </a:spcAft>
              <a:defRPr/>
            </a:pPr>
            <a:fld id="{73E6D9A7-2134-43E5-AE85-EC88C9F69D80}" type="slidenum">
              <a:rPr lang="en-US" altLang="en-US" sz="1500">
                <a:solidFill>
                  <a:srgbClr val="FFFFFF"/>
                </a:solidFill>
                <a:latin typeface="Calibri" panose="020F0502020204030204"/>
              </a:rPr>
              <a:pPr algn="ctr">
                <a:spcAft>
                  <a:spcPts val="600"/>
                </a:spcAft>
                <a:defRPr/>
              </a:pPr>
              <a:t>7</a:t>
            </a:fld>
            <a:endParaRPr lang="en-US" altLang="en-US" sz="1500">
              <a:solidFill>
                <a:srgbClr val="FFFFFF"/>
              </a:solidFill>
              <a:latin typeface="Calibri" panose="020F0502020204030204"/>
            </a:endParaRPr>
          </a:p>
        </p:txBody>
      </p:sp>
    </p:spTree>
  </p:cSld>
  <p:clrMapOvr>
    <a:overrideClrMapping bg1="dk1" tx1="lt1" bg2="dk2" tx2="lt2" accent1="accent1" accent2="accent2" accent3="accent3" accent4="accent4" accent5="accent5" accent6="accent6" hlink="hlink" folHlink="folHlink"/>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Freeform: Shape 7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660041" y="478284"/>
            <a:ext cx="3014492" cy="5360728"/>
          </a:xfrm>
        </p:spPr>
        <p:txBody>
          <a:bodyPr vert="horz" lIns="91440" tIns="45720" rIns="91440" bIns="45720" rtlCol="0" anchor="t">
            <a:noAutofit/>
          </a:bodyPr>
          <a:lstStyle/>
          <a:p>
            <a:pPr>
              <a:defRPr/>
            </a:pPr>
            <a:r>
              <a:rPr lang="en-US" b="1" kern="1200" dirty="0">
                <a:solidFill>
                  <a:srgbClr val="FFFFFF"/>
                </a:solidFill>
                <a:latin typeface="+mj-lt"/>
                <a:ea typeface="+mj-ea"/>
                <a:cs typeface="+mj-cs"/>
              </a:rPr>
              <a:t>Half of Americans will be obese by 2030, if things continue the way they are now. </a:t>
            </a:r>
          </a:p>
        </p:txBody>
      </p:sp>
      <p:pic>
        <p:nvPicPr>
          <p:cNvPr id="47107"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02428" y="1288372"/>
            <a:ext cx="7225748" cy="428125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81000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1981200" y="704850"/>
            <a:ext cx="8229600" cy="819150"/>
          </a:xfrm>
        </p:spPr>
        <p:txBody>
          <a:bodyPr/>
          <a:lstStyle/>
          <a:p>
            <a:r>
              <a:rPr lang="en-US" altLang="en-US" b="1" dirty="0"/>
              <a:t>Bariatric Patient Handling Statistics</a:t>
            </a:r>
          </a:p>
        </p:txBody>
      </p:sp>
      <p:sp>
        <p:nvSpPr>
          <p:cNvPr id="49155" name="Content Placeholder 2"/>
          <p:cNvSpPr>
            <a:spLocks noGrp="1"/>
          </p:cNvSpPr>
          <p:nvPr>
            <p:ph idx="1"/>
          </p:nvPr>
        </p:nvSpPr>
        <p:spPr>
          <a:xfrm>
            <a:off x="5029200" y="2352675"/>
            <a:ext cx="5410200" cy="3352800"/>
          </a:xfrm>
        </p:spPr>
        <p:txBody>
          <a:bodyPr>
            <a:normAutofit/>
          </a:bodyPr>
          <a:lstStyle/>
          <a:p>
            <a:r>
              <a:rPr lang="en-US" altLang="en-US"/>
              <a:t>Patients with a BMI &gt; 35 comprise only 10 % of patient population</a:t>
            </a:r>
          </a:p>
          <a:p>
            <a:r>
              <a:rPr lang="en-US" altLang="en-US"/>
              <a:t>Handling patients with a BMI &gt; 35 was associated with </a:t>
            </a:r>
          </a:p>
          <a:p>
            <a:pPr lvl="1"/>
            <a:r>
              <a:rPr lang="en-US" altLang="en-US"/>
              <a:t>29.8 % of injuries</a:t>
            </a:r>
          </a:p>
          <a:p>
            <a:pPr lvl="1"/>
            <a:r>
              <a:rPr lang="en-US" altLang="en-US"/>
              <a:t>27.9 % of lost time</a:t>
            </a:r>
          </a:p>
          <a:p>
            <a:pPr lvl="1"/>
            <a:r>
              <a:rPr lang="en-US" altLang="en-US"/>
              <a:t>37.2 % of restricted time</a:t>
            </a:r>
          </a:p>
        </p:txBody>
      </p:sp>
      <p:pic>
        <p:nvPicPr>
          <p:cNvPr id="4915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1" y="2590800"/>
            <a:ext cx="2905125" cy="2876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9157" name="Rectangle 1"/>
          <p:cNvSpPr>
            <a:spLocks noChangeArrowheads="1"/>
          </p:cNvSpPr>
          <p:nvPr/>
        </p:nvSpPr>
        <p:spPr bwMode="auto">
          <a:xfrm>
            <a:off x="2022475" y="5943600"/>
            <a:ext cx="86106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BBB59"/>
              </a:buClr>
              <a:buSzPct val="95000"/>
              <a:buFont typeface="Wingdings 2" pitchFamily="18" charset="2"/>
              <a:buChar char=""/>
              <a:defRPr sz="2600">
                <a:solidFill>
                  <a:schemeClr val="tx1"/>
                </a:solidFill>
                <a:latin typeface="Constantia" pitchFamily="18" charset="0"/>
              </a:defRPr>
            </a:lvl1pPr>
            <a:lvl2pPr marL="742950" indent="-285750">
              <a:spcBef>
                <a:spcPct val="20000"/>
              </a:spcBef>
              <a:buClr>
                <a:schemeClr val="accent1"/>
              </a:buClr>
              <a:buSzPct val="85000"/>
              <a:buFont typeface="Wingdings 2" pitchFamily="18" charset="2"/>
              <a:buChar char=""/>
              <a:defRPr sz="2400">
                <a:solidFill>
                  <a:schemeClr val="tx1"/>
                </a:solidFill>
                <a:latin typeface="Constantia" pitchFamily="18" charset="0"/>
              </a:defRPr>
            </a:lvl2pPr>
            <a:lvl3pPr marL="1143000" indent="-228600">
              <a:spcBef>
                <a:spcPct val="20000"/>
              </a:spcBef>
              <a:buClr>
                <a:schemeClr val="accent2"/>
              </a:buClr>
              <a:buSzPct val="70000"/>
              <a:buFont typeface="Wingdings 2" pitchFamily="18" charset="2"/>
              <a:buChar char=""/>
              <a:defRPr sz="2100">
                <a:solidFill>
                  <a:schemeClr val="tx1"/>
                </a:solidFill>
                <a:latin typeface="Constantia" pitchFamily="18" charset="0"/>
              </a:defRPr>
            </a:lvl3pPr>
            <a:lvl4pPr marL="1600200" indent="-228600">
              <a:spcBef>
                <a:spcPct val="20000"/>
              </a:spcBef>
              <a:buClr>
                <a:srgbClr val="9BBB59"/>
              </a:buClr>
              <a:buSzPct val="65000"/>
              <a:buFont typeface="Wingdings 2" pitchFamily="18" charset="2"/>
              <a:buChar char=""/>
              <a:defRPr sz="2000">
                <a:solidFill>
                  <a:schemeClr val="tx1"/>
                </a:solidFill>
                <a:latin typeface="Constantia" pitchFamily="18" charset="0"/>
              </a:defRPr>
            </a:lvl4pPr>
            <a:lvl5pPr marL="2057400" indent="-228600">
              <a:spcBef>
                <a:spcPct val="20000"/>
              </a:spcBef>
              <a:buClr>
                <a:srgbClr val="8064A2"/>
              </a:buClr>
              <a:buSzPct val="65000"/>
              <a:buFont typeface="Wingdings 2" pitchFamily="18" charset="2"/>
              <a:buChar char=""/>
              <a:defRPr sz="2000">
                <a:solidFill>
                  <a:schemeClr val="tx1"/>
                </a:solidFill>
                <a:latin typeface="Constantia" pitchFamily="18" charset="0"/>
              </a:defRPr>
            </a:lvl5pPr>
            <a:lvl6pPr marL="2514600" indent="-228600" eaLnBrk="0" fontAlgn="base" hangingPunct="0">
              <a:spcBef>
                <a:spcPct val="20000"/>
              </a:spcBef>
              <a:spcAft>
                <a:spcPct val="0"/>
              </a:spcAft>
              <a:buClr>
                <a:srgbClr val="8064A2"/>
              </a:buClr>
              <a:buSzPct val="65000"/>
              <a:buFont typeface="Wingdings 2" pitchFamily="18" charset="2"/>
              <a:buChar char=""/>
              <a:defRPr sz="2000">
                <a:solidFill>
                  <a:schemeClr val="tx1"/>
                </a:solidFill>
                <a:latin typeface="Constantia" pitchFamily="18" charset="0"/>
              </a:defRPr>
            </a:lvl6pPr>
            <a:lvl7pPr marL="2971800" indent="-228600" eaLnBrk="0" fontAlgn="base" hangingPunct="0">
              <a:spcBef>
                <a:spcPct val="20000"/>
              </a:spcBef>
              <a:spcAft>
                <a:spcPct val="0"/>
              </a:spcAft>
              <a:buClr>
                <a:srgbClr val="8064A2"/>
              </a:buClr>
              <a:buSzPct val="65000"/>
              <a:buFont typeface="Wingdings 2" pitchFamily="18" charset="2"/>
              <a:buChar char=""/>
              <a:defRPr sz="2000">
                <a:solidFill>
                  <a:schemeClr val="tx1"/>
                </a:solidFill>
                <a:latin typeface="Constantia" pitchFamily="18" charset="0"/>
              </a:defRPr>
            </a:lvl7pPr>
            <a:lvl8pPr marL="3429000" indent="-228600" eaLnBrk="0" fontAlgn="base" hangingPunct="0">
              <a:spcBef>
                <a:spcPct val="20000"/>
              </a:spcBef>
              <a:spcAft>
                <a:spcPct val="0"/>
              </a:spcAft>
              <a:buClr>
                <a:srgbClr val="8064A2"/>
              </a:buClr>
              <a:buSzPct val="65000"/>
              <a:buFont typeface="Wingdings 2" pitchFamily="18" charset="2"/>
              <a:buChar char=""/>
              <a:defRPr sz="2000">
                <a:solidFill>
                  <a:schemeClr val="tx1"/>
                </a:solidFill>
                <a:latin typeface="Constantia" pitchFamily="18" charset="0"/>
              </a:defRPr>
            </a:lvl8pPr>
            <a:lvl9pPr marL="3886200" indent="-228600" eaLnBrk="0" fontAlgn="base" hangingPunct="0">
              <a:spcBef>
                <a:spcPct val="20000"/>
              </a:spcBef>
              <a:spcAft>
                <a:spcPct val="0"/>
              </a:spcAft>
              <a:buClr>
                <a:srgbClr val="8064A2"/>
              </a:buClr>
              <a:buSzPct val="65000"/>
              <a:buFont typeface="Wingdings 2" pitchFamily="18" charset="2"/>
              <a:buChar char=""/>
              <a:defRPr sz="2000">
                <a:solidFill>
                  <a:schemeClr val="tx1"/>
                </a:solidFill>
                <a:latin typeface="Constantia" pitchFamily="18" charset="0"/>
              </a:defRPr>
            </a:lvl9pPr>
          </a:lstStyle>
          <a:p>
            <a:pPr eaLnBrk="1" hangingPunct="1">
              <a:spcBef>
                <a:spcPct val="0"/>
              </a:spcBef>
              <a:buClrTx/>
              <a:buSzTx/>
              <a:buFontTx/>
              <a:buNone/>
            </a:pPr>
            <a:endParaRPr lang="en-US" altLang="en-US" sz="1800">
              <a:latin typeface="Arial" pitchFamily="34" charset="0"/>
            </a:endParaRPr>
          </a:p>
          <a:p>
            <a:pPr eaLnBrk="1" hangingPunct="1">
              <a:spcBef>
                <a:spcPct val="0"/>
              </a:spcBef>
              <a:buClrTx/>
              <a:buSzTx/>
              <a:buFontTx/>
              <a:buNone/>
            </a:pPr>
            <a:r>
              <a:rPr lang="en-US" altLang="en-US" sz="1400">
                <a:solidFill>
                  <a:schemeClr val="bg1"/>
                </a:solidFill>
                <a:latin typeface="Arial" pitchFamily="34" charset="0"/>
              </a:rPr>
              <a:t>(Randall SB, Pories WJ, Pearson A, Drake DJ. Expanded occupational safety and health administration 300 log as metric for bariatric patient-handling staff injuries. Surg Obes Relat Dis. 2009;5(4):463–468.) </a:t>
            </a:r>
          </a:p>
        </p:txBody>
      </p:sp>
    </p:spTree>
    <p:extLst>
      <p:ext uri="{BB962C8B-B14F-4D97-AF65-F5344CB8AC3E}">
        <p14:creationId xmlns:p14="http://schemas.microsoft.com/office/powerpoint/2010/main" val="3902561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838200"/>
            <a:ext cx="8763000" cy="533400"/>
          </a:xfrm>
        </p:spPr>
        <p:txBody>
          <a:bodyPr>
            <a:noAutofit/>
          </a:bodyPr>
          <a:lstStyle/>
          <a:p>
            <a:r>
              <a:rPr lang="en-US" sz="4000" dirty="0">
                <a:effectLst>
                  <a:outerShdw blurRad="38100" dist="38100" dir="2700000" algn="tl">
                    <a:srgbClr val="000000">
                      <a:alpha val="43137"/>
                    </a:srgbClr>
                  </a:outerShdw>
                </a:effectLst>
              </a:rPr>
              <a:t>Why is there a need for a SPHM program?</a:t>
            </a:r>
          </a:p>
        </p:txBody>
      </p:sp>
      <p:sp>
        <p:nvSpPr>
          <p:cNvPr id="3" name="Content Placeholder 2"/>
          <p:cNvSpPr>
            <a:spLocks noGrp="1"/>
          </p:cNvSpPr>
          <p:nvPr>
            <p:ph idx="1"/>
          </p:nvPr>
        </p:nvSpPr>
        <p:spPr>
          <a:xfrm>
            <a:off x="781396" y="1752600"/>
            <a:ext cx="6533804" cy="4953000"/>
          </a:xfrm>
        </p:spPr>
        <p:txBody>
          <a:bodyPr>
            <a:normAutofit/>
          </a:bodyPr>
          <a:lstStyle/>
          <a:p>
            <a:r>
              <a:rPr lang="en-US" sz="3200" dirty="0"/>
              <a:t>Decrease the risk of musculoskeletal injuries   for ALL healthcare workers</a:t>
            </a:r>
          </a:p>
          <a:p>
            <a:r>
              <a:rPr lang="en-US" sz="3200" dirty="0"/>
              <a:t>Facilitate patient mobilization and resultant benefits</a:t>
            </a:r>
          </a:p>
          <a:p>
            <a:r>
              <a:rPr lang="en-US" sz="3200" dirty="0"/>
              <a:t>Improve the quality of care and the quality of life of our veteran patients/residents</a:t>
            </a:r>
          </a:p>
          <a:p>
            <a:pPr lvl="1"/>
            <a:endParaRPr lang="en-US" sz="1200" dirty="0"/>
          </a:p>
          <a:p>
            <a:endParaRPr 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1" y="1981200"/>
            <a:ext cx="2994025"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E17E911-875F-4DE5-8699-99D9F1805A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Freeform: Shape 7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Rectangle 8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effectLst>
                  <a:outerShdw blurRad="38100" dist="38100" dir="2700000" algn="tl">
                    <a:srgbClr val="000000">
                      <a:alpha val="43137"/>
                    </a:srgbClr>
                  </a:outerShdw>
                </a:effectLst>
              </a:rPr>
              <a:t>What is the VA SPHM Program?</a:t>
            </a:r>
            <a:endParaRPr lang="en-US" sz="4000">
              <a:solidFill>
                <a:srgbClr val="FFFFFF"/>
              </a:solidFill>
            </a:endParaRPr>
          </a:p>
        </p:txBody>
      </p:sp>
      <p:sp>
        <p:nvSpPr>
          <p:cNvPr id="3" name="Content Placeholder 2"/>
          <p:cNvSpPr>
            <a:spLocks noGrp="1"/>
          </p:cNvSpPr>
          <p:nvPr>
            <p:ph idx="1"/>
          </p:nvPr>
        </p:nvSpPr>
        <p:spPr>
          <a:xfrm>
            <a:off x="4581727" y="649480"/>
            <a:ext cx="3025303" cy="5546047"/>
          </a:xfrm>
        </p:spPr>
        <p:txBody>
          <a:bodyPr anchor="ctr">
            <a:normAutofit/>
          </a:bodyPr>
          <a:lstStyle/>
          <a:p>
            <a:pPr>
              <a:buNone/>
            </a:pPr>
            <a:r>
              <a:rPr lang="en-US" sz="2400" b="1" i="1" dirty="0"/>
              <a:t>National SPHM Directive</a:t>
            </a:r>
          </a:p>
          <a:p>
            <a:r>
              <a:rPr lang="en-US" sz="2400" dirty="0">
                <a:hlinkClick r:id="rId2"/>
              </a:rPr>
              <a:t>VHA Directive 2010-032 </a:t>
            </a:r>
            <a:r>
              <a:rPr lang="en-US" sz="2400" dirty="0"/>
              <a:t>- </a:t>
            </a:r>
            <a:r>
              <a:rPr lang="en-US" sz="2400" b="1" i="1" dirty="0"/>
              <a:t>Safe Patient Handling Program and </a:t>
            </a:r>
            <a:r>
              <a:rPr lang="en-US" sz="2400" b="1" i="1" dirty="0">
                <a:effectLst>
                  <a:outerShdw blurRad="38100" dist="38100" dir="2700000" algn="tl">
                    <a:srgbClr val="000000">
                      <a:alpha val="43137"/>
                    </a:srgbClr>
                  </a:outerShdw>
                </a:effectLst>
              </a:rPr>
              <a:t>Facility Design </a:t>
            </a:r>
          </a:p>
          <a:p>
            <a:r>
              <a:rPr lang="en-US" sz="2400" dirty="0"/>
              <a:t>Requires a SPHM Program in each facility </a:t>
            </a:r>
          </a:p>
          <a:p>
            <a:r>
              <a:rPr lang="en-US" sz="2400" dirty="0"/>
              <a:t>Program includes common elements</a:t>
            </a:r>
          </a:p>
          <a:p>
            <a:r>
              <a:rPr lang="en-US" sz="2400" dirty="0"/>
              <a:t>Requires </a:t>
            </a:r>
            <a:r>
              <a:rPr lang="en-US" sz="2400" b="1" dirty="0"/>
              <a:t>planning for  SPHM in design &amp; construction </a:t>
            </a:r>
            <a:endParaRPr lang="en-US" sz="2400" b="1" dirty="0">
              <a:hlinkClick r:id="rId2"/>
            </a:endParaRPr>
          </a:p>
          <a:p>
            <a:endParaRPr lang="en-US" sz="2000" dirty="0">
              <a:hlinkClick r:id="rId2"/>
            </a:endParaRPr>
          </a:p>
          <a:p>
            <a:endParaRPr lang="en-US" sz="2000" dirty="0"/>
          </a:p>
        </p:txBody>
      </p:sp>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7818" r="17535"/>
          <a:stretch/>
        </p:blipFill>
        <p:spPr bwMode="auto">
          <a:xfrm>
            <a:off x="8109502" y="10"/>
            <a:ext cx="4082498" cy="685799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7499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64F718-7FAC-4056-9FA9-A603EC682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0"/>
            <a:ext cx="121904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74639F7-E3C7-4165-A83E-6386A86BA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6356349" cy="6858000"/>
          </a:xfrm>
          <a:custGeom>
            <a:avLst/>
            <a:gdLst>
              <a:gd name="connsiteX0" fmla="*/ 7539895 w 7539895"/>
              <a:gd name="connsiteY0" fmla="*/ 6858000 h 6858000"/>
              <a:gd name="connsiteX1" fmla="*/ 0 w 7539895"/>
              <a:gd name="connsiteY1" fmla="*/ 6858000 h 6858000"/>
              <a:gd name="connsiteX2" fmla="*/ 0 w 7539895"/>
              <a:gd name="connsiteY2" fmla="*/ 0 h 6858000"/>
              <a:gd name="connsiteX3" fmla="*/ 4363741 w 7539895"/>
              <a:gd name="connsiteY3" fmla="*/ 0 h 6858000"/>
            </a:gdLst>
            <a:ahLst/>
            <a:cxnLst>
              <a:cxn ang="0">
                <a:pos x="connsiteX0" y="connsiteY0"/>
              </a:cxn>
              <a:cxn ang="0">
                <a:pos x="connsiteX1" y="connsiteY1"/>
              </a:cxn>
              <a:cxn ang="0">
                <a:pos x="connsiteX2" y="connsiteY2"/>
              </a:cxn>
              <a:cxn ang="0">
                <a:pos x="connsiteX3" y="connsiteY3"/>
              </a:cxn>
            </a:cxnLst>
            <a:rect l="l" t="t" r="r" b="b"/>
            <a:pathLst>
              <a:path w="7539895" h="6858000">
                <a:moveTo>
                  <a:pt x="7539895" y="6858000"/>
                </a:moveTo>
                <a:lnTo>
                  <a:pt x="0" y="6858000"/>
                </a:lnTo>
                <a:lnTo>
                  <a:pt x="0" y="0"/>
                </a:lnTo>
                <a:lnTo>
                  <a:pt x="4363741" y="0"/>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8B3AF0F1-707A-463E-B5EE-33C63A40CF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5979591" cy="6858000"/>
          </a:xfrm>
          <a:custGeom>
            <a:avLst/>
            <a:gdLst>
              <a:gd name="connsiteX0" fmla="*/ 7092985 w 7092985"/>
              <a:gd name="connsiteY0" fmla="*/ 6858000 h 6858000"/>
              <a:gd name="connsiteX1" fmla="*/ 0 w 7092985"/>
              <a:gd name="connsiteY1" fmla="*/ 6858000 h 6858000"/>
              <a:gd name="connsiteX2" fmla="*/ 0 w 7092985"/>
              <a:gd name="connsiteY2" fmla="*/ 0 h 6858000"/>
              <a:gd name="connsiteX3" fmla="*/ 3916831 w 7092985"/>
              <a:gd name="connsiteY3" fmla="*/ 0 h 6858000"/>
            </a:gdLst>
            <a:ahLst/>
            <a:cxnLst>
              <a:cxn ang="0">
                <a:pos x="connsiteX0" y="connsiteY0"/>
              </a:cxn>
              <a:cxn ang="0">
                <a:pos x="connsiteX1" y="connsiteY1"/>
              </a:cxn>
              <a:cxn ang="0">
                <a:pos x="connsiteX2" y="connsiteY2"/>
              </a:cxn>
              <a:cxn ang="0">
                <a:pos x="connsiteX3" y="connsiteY3"/>
              </a:cxn>
            </a:cxnLst>
            <a:rect l="l" t="t" r="r" b="b"/>
            <a:pathLst>
              <a:path w="7092985" h="6858000">
                <a:moveTo>
                  <a:pt x="7092985" y="6858000"/>
                </a:moveTo>
                <a:lnTo>
                  <a:pt x="0" y="6858000"/>
                </a:lnTo>
                <a:lnTo>
                  <a:pt x="0" y="0"/>
                </a:lnTo>
                <a:lnTo>
                  <a:pt x="391683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704088"/>
            <a:ext cx="3529953" cy="2980944"/>
          </a:xfrm>
        </p:spPr>
        <p:txBody>
          <a:bodyPr>
            <a:normAutofit/>
          </a:bodyPr>
          <a:lstStyle/>
          <a:p>
            <a:r>
              <a:rPr lang="en-US">
                <a:solidFill>
                  <a:schemeClr val="bg1"/>
                </a:solidFill>
                <a:effectLst>
                  <a:outerShdw blurRad="38100" dist="38100" dir="2700000" algn="tl">
                    <a:srgbClr val="000000">
                      <a:alpha val="43137"/>
                    </a:srgbClr>
                  </a:outerShdw>
                </a:effectLst>
              </a:rPr>
              <a:t>What is the VA SPHM Program?</a:t>
            </a:r>
          </a:p>
        </p:txBody>
      </p:sp>
      <p:sp>
        <p:nvSpPr>
          <p:cNvPr id="3" name="Content Placeholder 2"/>
          <p:cNvSpPr>
            <a:spLocks noGrp="1"/>
          </p:cNvSpPr>
          <p:nvPr>
            <p:ph idx="1"/>
          </p:nvPr>
        </p:nvSpPr>
        <p:spPr>
          <a:xfrm>
            <a:off x="6212410" y="254000"/>
            <a:ext cx="5135293" cy="6146800"/>
          </a:xfrm>
        </p:spPr>
        <p:txBody>
          <a:bodyPr anchor="ctr">
            <a:normAutofit fontScale="85000" lnSpcReduction="20000"/>
          </a:bodyPr>
          <a:lstStyle/>
          <a:p>
            <a:pPr>
              <a:buNone/>
            </a:pPr>
            <a:r>
              <a:rPr lang="en-US" b="1" i="1" dirty="0"/>
              <a:t>SPHM Program Elements:</a:t>
            </a:r>
          </a:p>
          <a:p>
            <a:r>
              <a:rPr lang="en-US" dirty="0"/>
              <a:t>SPHM Facility Policy</a:t>
            </a:r>
          </a:p>
          <a:p>
            <a:r>
              <a:rPr lang="en-US" b="1" dirty="0"/>
              <a:t>Leadership:</a:t>
            </a:r>
          </a:p>
          <a:p>
            <a:pPr lvl="1"/>
            <a:r>
              <a:rPr lang="en-US" sz="2800" b="1" dirty="0"/>
              <a:t>Program Manager</a:t>
            </a:r>
            <a:r>
              <a:rPr lang="en-US" sz="2800" dirty="0"/>
              <a:t>, at least 1 FTE</a:t>
            </a:r>
          </a:p>
          <a:p>
            <a:pPr lvl="1"/>
            <a:r>
              <a:rPr lang="en-US" sz="2800" dirty="0"/>
              <a:t>Unit Peer Leader program (1 per shift per clinical area)</a:t>
            </a:r>
          </a:p>
          <a:p>
            <a:pPr lvl="1"/>
            <a:r>
              <a:rPr lang="en-US" sz="2800" dirty="0"/>
              <a:t>VISN POC</a:t>
            </a:r>
          </a:p>
          <a:p>
            <a:r>
              <a:rPr lang="en-US" dirty="0"/>
              <a:t>Training (multiple services and levels)</a:t>
            </a:r>
          </a:p>
          <a:p>
            <a:r>
              <a:rPr lang="en-US" dirty="0"/>
              <a:t>Patient assessment process used to recommend equipment for individual needs of each patient</a:t>
            </a:r>
          </a:p>
          <a:p>
            <a:r>
              <a:rPr lang="en-US" dirty="0"/>
              <a:t>Oversight from a facility committee (ARB, EOC or other)</a:t>
            </a:r>
          </a:p>
          <a:p>
            <a:r>
              <a:rPr lang="en-US" b="1" dirty="0"/>
              <a:t>Equipment </a:t>
            </a:r>
          </a:p>
          <a:p>
            <a:pPr lvl="1"/>
            <a:r>
              <a:rPr lang="en-US" sz="2800" dirty="0"/>
              <a:t>Overhead lift systems and other equipment as necessary</a:t>
            </a:r>
          </a:p>
          <a:p>
            <a:pPr lvl="1"/>
            <a:r>
              <a:rPr lang="en-US" sz="2800" dirty="0"/>
              <a:t>Determined by unit-based ergonomic assessments</a:t>
            </a:r>
          </a:p>
          <a:p>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22D9F-9E86-74BB-E566-0EC09CD003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419664-7195-E795-292A-9D735731906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522A61C-6B9E-6D71-5E17-A5A3BC97A212}"/>
              </a:ext>
            </a:extLst>
          </p:cNvPr>
          <p:cNvPicPr>
            <a:picLocks noChangeAspect="1"/>
          </p:cNvPicPr>
          <p:nvPr/>
        </p:nvPicPr>
        <p:blipFill>
          <a:blip r:embed="rId3"/>
          <a:stretch>
            <a:fillRect/>
          </a:stretch>
        </p:blipFill>
        <p:spPr>
          <a:xfrm>
            <a:off x="3239" y="0"/>
            <a:ext cx="12185522" cy="6858000"/>
          </a:xfrm>
          <a:prstGeom prst="rect">
            <a:avLst/>
          </a:prstGeom>
        </p:spPr>
      </p:pic>
      <p:sp>
        <p:nvSpPr>
          <p:cNvPr id="6" name="TextBox 5">
            <a:extLst>
              <a:ext uri="{FF2B5EF4-FFF2-40B4-BE49-F238E27FC236}">
                <a16:creationId xmlns:a16="http://schemas.microsoft.com/office/drawing/2014/main" id="{D8CDC491-5040-9509-72CB-84DD5E3C28C6}"/>
              </a:ext>
            </a:extLst>
          </p:cNvPr>
          <p:cNvSpPr txBox="1"/>
          <p:nvPr/>
        </p:nvSpPr>
        <p:spPr>
          <a:xfrm>
            <a:off x="0" y="144379"/>
            <a:ext cx="6629400" cy="523220"/>
          </a:xfrm>
          <a:prstGeom prst="rect">
            <a:avLst/>
          </a:prstGeom>
          <a:noFill/>
        </p:spPr>
        <p:txBody>
          <a:bodyPr wrap="square" rtlCol="0">
            <a:spAutoFit/>
          </a:bodyPr>
          <a:lstStyle/>
          <a:p>
            <a:r>
              <a:rPr lang="en-US" sz="2800" b="1" dirty="0"/>
              <a:t>Safe Patient Handling: Use the Right Tools</a:t>
            </a:r>
            <a:endParaRPr lang="en-US" sz="2800" dirty="0"/>
          </a:p>
        </p:txBody>
      </p:sp>
      <p:sp>
        <p:nvSpPr>
          <p:cNvPr id="7" name="TextBox 6">
            <a:extLst>
              <a:ext uri="{FF2B5EF4-FFF2-40B4-BE49-F238E27FC236}">
                <a16:creationId xmlns:a16="http://schemas.microsoft.com/office/drawing/2014/main" id="{D912508A-61A3-6C40-4EDB-5ABBDBC802CD}"/>
              </a:ext>
            </a:extLst>
          </p:cNvPr>
          <p:cNvSpPr txBox="1"/>
          <p:nvPr/>
        </p:nvSpPr>
        <p:spPr>
          <a:xfrm>
            <a:off x="24063" y="1010653"/>
            <a:ext cx="4042611" cy="5909310"/>
          </a:xfrm>
          <a:prstGeom prst="rect">
            <a:avLst/>
          </a:prstGeom>
          <a:noFill/>
        </p:spPr>
        <p:txBody>
          <a:bodyPr wrap="square" rtlCol="0">
            <a:spAutoFit/>
          </a:bodyPr>
          <a:lstStyle/>
          <a:p>
            <a:r>
              <a:rPr lang="en-US" b="1" dirty="0"/>
              <a:t>Using SPHM equipment helps protect both staff and Veterans.</a:t>
            </a:r>
            <a:endParaRPr lang="en-US" dirty="0"/>
          </a:p>
          <a:p>
            <a:pPr lvl="0"/>
            <a:endParaRPr lang="en-US" dirty="0"/>
          </a:p>
          <a:p>
            <a:pPr marL="285750" lvl="0" indent="-285750">
              <a:buFont typeface="Arial" panose="020B0604020202020204" pitchFamily="34" charset="0"/>
              <a:buChar char="•"/>
            </a:pPr>
            <a:r>
              <a:rPr lang="en-US" dirty="0"/>
              <a:t>Use the appropriate SPHM equipment for patient-handling and mobility tasks.</a:t>
            </a:r>
          </a:p>
          <a:p>
            <a:pPr marL="285750" lvl="0" indent="-285750">
              <a:buFont typeface="Arial" panose="020B0604020202020204" pitchFamily="34" charset="0"/>
              <a:buChar char="•"/>
            </a:pPr>
            <a:r>
              <a:rPr lang="en-US" dirty="0"/>
              <a:t>Equipment is most effective when it is readily available, in working order, and staff are trained to use it.</a:t>
            </a:r>
          </a:p>
          <a:p>
            <a:pPr marL="285750" lvl="0" indent="-285750">
              <a:buFont typeface="Arial" panose="020B0604020202020204" pitchFamily="34" charset="0"/>
              <a:buChar char="•"/>
            </a:pPr>
            <a:r>
              <a:rPr lang="en-US" dirty="0"/>
              <a:t>If equipment cannot be used, communicate the barrier and seek assistance before proceeding whenever possible.</a:t>
            </a:r>
          </a:p>
          <a:p>
            <a:pPr marL="285750" lvl="0" indent="-285750">
              <a:buFont typeface="Arial" panose="020B0604020202020204" pitchFamily="34" charset="0"/>
              <a:buChar char="•"/>
            </a:pPr>
            <a:r>
              <a:rPr lang="en-US" dirty="0"/>
              <a:t>After an injury or near miss, report it promptly so the team can review what happened and improve safety.</a:t>
            </a:r>
          </a:p>
          <a:p>
            <a:endParaRPr lang="en-US" b="1" dirty="0"/>
          </a:p>
          <a:p>
            <a:r>
              <a:rPr lang="en-US" b="1" dirty="0"/>
              <a:t>Key message:</a:t>
            </a:r>
            <a:r>
              <a:rPr lang="en-US" dirty="0"/>
              <a:t> Safe patient handling is a shared responsibility—plan the move, use the equipment, and ask for help.</a:t>
            </a:r>
          </a:p>
          <a:p>
            <a:endParaRPr lang="en-US" dirty="0"/>
          </a:p>
        </p:txBody>
      </p:sp>
    </p:spTree>
    <p:extLst>
      <p:ext uri="{BB962C8B-B14F-4D97-AF65-F5344CB8AC3E}">
        <p14:creationId xmlns:p14="http://schemas.microsoft.com/office/powerpoint/2010/main" val="2655040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2" descr="X:\Marie_Temp\Safe Patient Handling\National Documents\Safe Patient Logo.jpg">
            <a:extLst>
              <a:ext uri="{FF2B5EF4-FFF2-40B4-BE49-F238E27FC236}">
                <a16:creationId xmlns:a16="http://schemas.microsoft.com/office/drawing/2014/main" id="{0223B847-FEB6-4EE4-AA99-D5562F2599A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192" t="3124" r="-1" b="5966"/>
          <a:stretch/>
        </p:blipFill>
        <p:spPr bwMode="auto">
          <a:xfrm>
            <a:off x="20" y="584909"/>
            <a:ext cx="5718616" cy="5509675"/>
          </a:xfrm>
          <a:custGeom>
            <a:avLst/>
            <a:gdLst/>
            <a:ahLst/>
            <a:cxnLst/>
            <a:rect l="l" t="t" r="r" b="b"/>
            <a:pathLst>
              <a:path w="5718636" h="5509675">
                <a:moveTo>
                  <a:pt x="0" y="0"/>
                </a:moveTo>
                <a:lnTo>
                  <a:pt x="2672821" y="0"/>
                </a:lnTo>
                <a:lnTo>
                  <a:pt x="2673116" y="639"/>
                </a:lnTo>
                <a:lnTo>
                  <a:pt x="3175662" y="639"/>
                </a:lnTo>
                <a:lnTo>
                  <a:pt x="5718636" y="5509675"/>
                </a:lnTo>
                <a:lnTo>
                  <a:pt x="502842" y="5509675"/>
                </a:lnTo>
                <a:lnTo>
                  <a:pt x="502842" y="5509036"/>
                </a:lnTo>
                <a:lnTo>
                  <a:pt x="0" y="5509036"/>
                </a:lnTo>
                <a:close/>
              </a:path>
            </a:pathLst>
          </a:custGeom>
          <a:noFill/>
          <a:extLst>
            <a:ext uri="{909E8E84-426E-40DD-AFC4-6F175D3DCCD1}">
              <a14:hiddenFill xmlns:a14="http://schemas.microsoft.com/office/drawing/2010/main">
                <a:solidFill>
                  <a:srgbClr val="FFFFFF"/>
                </a:solidFill>
              </a14:hiddenFill>
            </a:ext>
          </a:extLst>
        </p:spPr>
      </p:pic>
      <p:sp>
        <p:nvSpPr>
          <p:cNvPr id="1727492" name="Freeform: Shape 71">
            <a:extLst>
              <a:ext uri="{FF2B5EF4-FFF2-40B4-BE49-F238E27FC236}">
                <a16:creationId xmlns:a16="http://schemas.microsoft.com/office/drawing/2014/main" id="{17CDB40A-75BB-4498-A20B-59C3984A3A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42619" y="585526"/>
            <a:ext cx="8349381" cy="5509038"/>
          </a:xfrm>
          <a:custGeom>
            <a:avLst/>
            <a:gdLst>
              <a:gd name="connsiteX0" fmla="*/ 0 w 8349381"/>
              <a:gd name="connsiteY0" fmla="*/ 0 h 5509038"/>
              <a:gd name="connsiteX1" fmla="*/ 8349381 w 8349381"/>
              <a:gd name="connsiteY1" fmla="*/ 0 h 5509038"/>
              <a:gd name="connsiteX2" fmla="*/ 5806407 w 8349381"/>
              <a:gd name="connsiteY2" fmla="*/ 5509038 h 5509038"/>
              <a:gd name="connsiteX3" fmla="*/ 0 w 8349381"/>
              <a:gd name="connsiteY3" fmla="*/ 5509038 h 5509038"/>
            </a:gdLst>
            <a:ahLst/>
            <a:cxnLst>
              <a:cxn ang="0">
                <a:pos x="connsiteX0" y="connsiteY0"/>
              </a:cxn>
              <a:cxn ang="0">
                <a:pos x="connsiteX1" y="connsiteY1"/>
              </a:cxn>
              <a:cxn ang="0">
                <a:pos x="connsiteX2" y="connsiteY2"/>
              </a:cxn>
              <a:cxn ang="0">
                <a:pos x="connsiteX3" y="connsiteY3"/>
              </a:cxn>
            </a:cxnLst>
            <a:rect l="l" t="t" r="r" b="b"/>
            <a:pathLst>
              <a:path w="8349381" h="5509038">
                <a:moveTo>
                  <a:pt x="0" y="0"/>
                </a:moveTo>
                <a:lnTo>
                  <a:pt x="8349381" y="0"/>
                </a:lnTo>
                <a:lnTo>
                  <a:pt x="5806407" y="5509038"/>
                </a:lnTo>
                <a:lnTo>
                  <a:pt x="0" y="5509038"/>
                </a:lnTo>
                <a:close/>
              </a:path>
            </a:pathLst>
          </a:cu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lumMod val="95000"/>
                </a:schemeClr>
              </a:solidFill>
            </a:endParaRPr>
          </a:p>
        </p:txBody>
      </p:sp>
      <p:sp>
        <p:nvSpPr>
          <p:cNvPr id="1727490" name="Rectangle 2">
            <a:extLst>
              <a:ext uri="{FF2B5EF4-FFF2-40B4-BE49-F238E27FC236}">
                <a16:creationId xmlns:a16="http://schemas.microsoft.com/office/drawing/2014/main" id="{26F7AC8A-F800-4160-85E2-4303E20E42F1}"/>
              </a:ext>
            </a:extLst>
          </p:cNvPr>
          <p:cNvSpPr>
            <a:spLocks noGrp="1" noChangeArrowheads="1"/>
          </p:cNvSpPr>
          <p:nvPr>
            <p:ph type="subTitle" idx="1"/>
          </p:nvPr>
        </p:nvSpPr>
        <p:spPr>
          <a:xfrm>
            <a:off x="6096000" y="2526452"/>
            <a:ext cx="5370576" cy="1117639"/>
          </a:xfrm>
        </p:spPr>
        <p:txBody>
          <a:bodyPr>
            <a:normAutofit fontScale="92500" lnSpcReduction="10000"/>
          </a:bodyPr>
          <a:lstStyle/>
          <a:p>
            <a:pPr algn="l">
              <a:defRPr/>
            </a:pPr>
            <a:r>
              <a:rPr lang="en-US" altLang="en-US" sz="3600" b="1" dirty="0">
                <a:solidFill>
                  <a:srgbClr val="FFFFFF"/>
                </a:solidFill>
              </a:rPr>
              <a:t>Patient Handling</a:t>
            </a:r>
          </a:p>
          <a:p>
            <a:pPr algn="l">
              <a:defRPr/>
            </a:pPr>
            <a:r>
              <a:rPr lang="en-US" altLang="en-US" sz="3600" b="1" dirty="0">
                <a:solidFill>
                  <a:srgbClr val="FFFFFF"/>
                </a:solidFill>
              </a:rPr>
              <a:t>Equipment &amp; Aids</a:t>
            </a:r>
          </a:p>
          <a:p>
            <a:pPr algn="l">
              <a:defRPr/>
            </a:pPr>
            <a:endParaRPr lang="en-US" altLang="en-US" sz="2000" b="1" dirty="0">
              <a:solidFill>
                <a:srgbClr val="FFFFFF"/>
              </a:solidFill>
              <a:latin typeface="Bookman Old Style" panose="02050604050505020204" pitchFamily="18" charset="0"/>
            </a:endParaRPr>
          </a:p>
        </p:txBody>
      </p:sp>
      <p:sp>
        <p:nvSpPr>
          <p:cNvPr id="5124" name="Rectangle 3">
            <a:extLst>
              <a:ext uri="{FF2B5EF4-FFF2-40B4-BE49-F238E27FC236}">
                <a16:creationId xmlns:a16="http://schemas.microsoft.com/office/drawing/2014/main" id="{A259DF1D-B562-42D6-8A8D-1D38236F9799}"/>
              </a:ext>
            </a:extLst>
          </p:cNvPr>
          <p:cNvSpPr>
            <a:spLocks noGrp="1" noChangeArrowheads="1"/>
          </p:cNvSpPr>
          <p:nvPr>
            <p:ph type="ctrTitle"/>
          </p:nvPr>
        </p:nvSpPr>
        <p:spPr>
          <a:xfrm>
            <a:off x="5673747" y="1408814"/>
            <a:ext cx="5683102" cy="2235277"/>
          </a:xfrm>
        </p:spPr>
        <p:txBody>
          <a:bodyPr>
            <a:normAutofit/>
          </a:bodyPr>
          <a:lstStyle/>
          <a:p>
            <a:pPr algn="l"/>
            <a:r>
              <a:rPr lang="en-US" altLang="en-US" sz="5400">
                <a:solidFill>
                  <a:srgbClr val="FFFFFF"/>
                </a:solidFill>
              </a:rPr>
              <a:t> </a:t>
            </a:r>
          </a:p>
        </p:txBody>
      </p:sp>
      <p:sp>
        <p:nvSpPr>
          <p:cNvPr id="4" name="Rectangle 14">
            <a:extLst>
              <a:ext uri="{FF2B5EF4-FFF2-40B4-BE49-F238E27FC236}">
                <a16:creationId xmlns:a16="http://schemas.microsoft.com/office/drawing/2014/main" id="{1C99A208-6492-4AD3-B4CD-DDDD53F7E810}"/>
              </a:ext>
            </a:extLst>
          </p:cNvPr>
          <p:cNvSpPr>
            <a:spLocks noGrp="1" noChangeArrowheads="1"/>
          </p:cNvSpPr>
          <p:nvPr>
            <p:ph type="sldNum" sz="quarter" idx="12"/>
          </p:nvPr>
        </p:nvSpPr>
        <p:spPr>
          <a:xfrm>
            <a:off x="8613648" y="6355080"/>
            <a:ext cx="2743200" cy="365125"/>
          </a:xfrm>
        </p:spPr>
        <p:txBody>
          <a:bodyPr>
            <a:normAutofit/>
          </a:bodyPr>
          <a:lstStyle>
            <a:lvl1pPr algn="ctr">
              <a:defRPr sz="2400">
                <a:solidFill>
                  <a:schemeClr val="tx1"/>
                </a:solidFill>
                <a:latin typeface="Arial" panose="020B0604020202020204" pitchFamily="34" charset="0"/>
              </a:defRPr>
            </a:lvl1pPr>
            <a:lvl2pPr marL="742950" indent="-285750" algn="ctr">
              <a:defRPr sz="2400">
                <a:solidFill>
                  <a:schemeClr val="tx1"/>
                </a:solidFill>
                <a:latin typeface="Arial" panose="020B0604020202020204" pitchFamily="34" charset="0"/>
              </a:defRPr>
            </a:lvl2pPr>
            <a:lvl3pPr marL="1143000" indent="-228600" algn="ctr">
              <a:defRPr sz="2400">
                <a:solidFill>
                  <a:schemeClr val="tx1"/>
                </a:solidFill>
                <a:latin typeface="Arial" panose="020B0604020202020204" pitchFamily="34" charset="0"/>
              </a:defRPr>
            </a:lvl3pPr>
            <a:lvl4pPr marL="1600200" indent="-228600" algn="ctr">
              <a:defRPr sz="2400">
                <a:solidFill>
                  <a:schemeClr val="tx1"/>
                </a:solidFill>
                <a:latin typeface="Arial" panose="020B0604020202020204" pitchFamily="34" charset="0"/>
              </a:defRPr>
            </a:lvl4pPr>
            <a:lvl5pPr marL="2057400" indent="-228600" algn="ctr">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nSpc>
                <a:spcPct val="90000"/>
              </a:lnSpc>
              <a:spcAft>
                <a:spcPts val="600"/>
              </a:spcAft>
            </a:pPr>
            <a:fld id="{52D54C94-6C61-4F12-BAC3-0EFA7878B324}" type="slidenum">
              <a:rPr lang="en-US" altLang="en-US" sz="1900">
                <a:solidFill>
                  <a:srgbClr val="898989"/>
                </a:solidFill>
              </a:rPr>
              <a:pPr>
                <a:lnSpc>
                  <a:spcPct val="90000"/>
                </a:lnSpc>
                <a:spcAft>
                  <a:spcPts val="600"/>
                </a:spcAft>
              </a:pPr>
              <a:t>14</a:t>
            </a:fld>
            <a:endParaRPr lang="en-US" altLang="en-US" sz="1900">
              <a:solidFill>
                <a:srgbClr val="89898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ttp://www.ARJO.com/admin/picture/maxisky600_20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02571" y="0"/>
            <a:ext cx="2128161" cy="3170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5" descr="\\vhantxhome\ntx home\vhantxmartim2\Marie_Temp\Safe Patient Handling\Pictures\5.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0" y="-10618"/>
            <a:ext cx="21844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3" descr="http://www.guldmann.net/files/Billeder/GuldmannProdukter/Guldmann/Sejlogloftetilbehor/Active%20Trainer/Galleri/5149_activetrainer_2008_frit_x.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72400" y="18738"/>
            <a:ext cx="3397458" cy="3170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9" descr="http://www.guldmann.net/Files/Billeder/GuldmannProdukter/Guldmann/Sejlogloftetilbehor/Engangssejl/Engangs%20Bensejl/ProductImage.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24000" y="2950867"/>
            <a:ext cx="3242650" cy="116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http://ezlifts.com/media/images/sub_products/StandAidInUse_92383BB370BF8.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90662" y="4038600"/>
            <a:ext cx="2217738"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http://ezlifts.com/media/images/sub_products/BarSmartStandInUse_D5CA5DB36AD93.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657600" y="4038600"/>
            <a:ext cx="270510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http://www.hovermatt.com/syncshow/uploaded_media/products/detailed/Hovermatt-1266331211.jpe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999089" y="5316142"/>
            <a:ext cx="1909190" cy="1541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file_id183" descr="http://www.hovermatt.com/syncshow/uploaded_media/products/detailed/HOV-Hover390x315-1274799234.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908279" y="4724400"/>
            <a:ext cx="2806768"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4" descr="http://www.liko.com/web/bildarkiv/golvo/hi-res/40-12.jp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791200" y="0"/>
            <a:ext cx="2340424" cy="317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8" descr="http://www.guldmann.com/Files/Billeder/GuldmannProdukter/Guldmann/Sejlogloftetilbehor/Loftetilbehor/Twin%20Turner/TwinTurner_ProductImage.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477000" y="3160968"/>
            <a:ext cx="4191000" cy="1292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2161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http://www.stryker.com/en-us/products/PatientHandlingEMSandEvacuationEquipment/Stretchers/GeneralPurposeTransportStretchers/PrimeSeriesStretchers/groups/public/documents/web_prod/da_14204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6800" y="2036762"/>
            <a:ext cx="4757738" cy="261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8" name="Picture 2" descr="ArjoHuntleigh Sliding Aids two caregivers with Bariatric patient MaxiSlides Sheet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14008" y="25"/>
            <a:ext cx="4048593" cy="227733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WheelChair Mover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95400" y="4407795"/>
            <a:ext cx="4495800" cy="2472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Shower trolley FORELLI"/>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16142" y="1140298"/>
            <a:ext cx="2751858" cy="3507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84746" y="-2"/>
            <a:ext cx="2817221" cy="254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105401" y="4292184"/>
            <a:ext cx="2772611"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916143" y="4221469"/>
            <a:ext cx="2751859" cy="2636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4526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Freeform: Shape 7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3"/>
          <p:cNvSpPr>
            <a:spLocks noGrp="1"/>
          </p:cNvSpPr>
          <p:nvPr>
            <p:ph type="title"/>
          </p:nvPr>
        </p:nvSpPr>
        <p:spPr>
          <a:xfrm>
            <a:off x="660041" y="1483417"/>
            <a:ext cx="2880828" cy="4355595"/>
          </a:xfrm>
        </p:spPr>
        <p:txBody>
          <a:bodyPr vert="horz" lIns="91440" tIns="45720" rIns="91440" bIns="45720" rtlCol="0" anchor="t">
            <a:normAutofit/>
          </a:bodyPr>
          <a:lstStyle/>
          <a:p>
            <a:pPr>
              <a:defRPr/>
            </a:pPr>
            <a:r>
              <a:rPr lang="en-US" sz="3100" kern="1200" dirty="0">
                <a:solidFill>
                  <a:srgbClr val="FFFFFF"/>
                </a:solidFill>
                <a:latin typeface="+mj-lt"/>
                <a:ea typeface="+mj-ea"/>
                <a:cs typeface="+mj-cs"/>
              </a:rPr>
              <a:t>Health Care Workers are the ONLY Occupation that Believe 100 pounds is light!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02428" y="954181"/>
            <a:ext cx="7225748" cy="4949637"/>
          </a:xfrm>
          <a:prstGeom prst="rect">
            <a:avLst/>
          </a:prstGeom>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09350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FAEDF91-DF20-42E5-88C9-DCEB45FFDA4C}"/>
              </a:ext>
            </a:extLst>
          </p:cNvPr>
          <p:cNvPicPr>
            <a:picLocks noChangeAspect="1"/>
          </p:cNvPicPr>
          <p:nvPr/>
        </p:nvPicPr>
        <p:blipFill rotWithShape="1">
          <a:blip r:embed="rId2">
            <a:alphaModFix amt="35000"/>
          </a:blip>
          <a:srcRect t="8018" b="7712"/>
          <a:stretch/>
        </p:blipFill>
        <p:spPr>
          <a:xfrm>
            <a:off x="20" y="10"/>
            <a:ext cx="12191980" cy="6857990"/>
          </a:xfrm>
          <a:prstGeom prst="rect">
            <a:avLst/>
          </a:prstGeom>
        </p:spPr>
      </p:pic>
      <p:sp>
        <p:nvSpPr>
          <p:cNvPr id="2" name="Title 1">
            <a:extLst>
              <a:ext uri="{FF2B5EF4-FFF2-40B4-BE49-F238E27FC236}">
                <a16:creationId xmlns:a16="http://schemas.microsoft.com/office/drawing/2014/main" id="{347A317A-FECC-48B3-9A13-5F4349A77803}"/>
              </a:ext>
            </a:extLst>
          </p:cNvPr>
          <p:cNvSpPr>
            <a:spLocks noGrp="1"/>
          </p:cNvSpPr>
          <p:nvPr>
            <p:ph type="title"/>
          </p:nvPr>
        </p:nvSpPr>
        <p:spPr>
          <a:xfrm>
            <a:off x="838200" y="365125"/>
            <a:ext cx="10515600" cy="1325563"/>
          </a:xfrm>
        </p:spPr>
        <p:txBody>
          <a:bodyPr>
            <a:normAutofit/>
          </a:bodyPr>
          <a:lstStyle/>
          <a:p>
            <a:r>
              <a:rPr lang="en-US" sz="6000" dirty="0">
                <a:solidFill>
                  <a:srgbClr val="FFFFFF"/>
                </a:solidFill>
              </a:rPr>
              <a:t>Take the TIME</a:t>
            </a:r>
          </a:p>
        </p:txBody>
      </p:sp>
      <p:graphicFrame>
        <p:nvGraphicFramePr>
          <p:cNvPr id="5" name="Content Placeholder 2">
            <a:extLst>
              <a:ext uri="{FF2B5EF4-FFF2-40B4-BE49-F238E27FC236}">
                <a16:creationId xmlns:a16="http://schemas.microsoft.com/office/drawing/2014/main" id="{5CC4E070-AA08-49FC-8DF5-7F2EEC2F23AF}"/>
              </a:ext>
            </a:extLst>
          </p:cNvPr>
          <p:cNvGraphicFramePr>
            <a:graphicFrameLocks noGrp="1"/>
          </p:cNvGraphicFramePr>
          <p:nvPr>
            <p:ph idx="1"/>
            <p:extLst>
              <p:ext uri="{D42A27DB-BD31-4B8C-83A1-F6EECF244321}">
                <p14:modId xmlns:p14="http://schemas.microsoft.com/office/powerpoint/2010/main" val="1471494928"/>
              </p:ext>
            </p:extLst>
          </p:nvPr>
        </p:nvGraphicFramePr>
        <p:xfrm>
          <a:off x="838200" y="1825625"/>
          <a:ext cx="10515600" cy="26964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19BFBE88-8A03-470E-B623-FFC48E1AA54E}"/>
              </a:ext>
            </a:extLst>
          </p:cNvPr>
          <p:cNvSpPr txBox="1"/>
          <p:nvPr/>
        </p:nvSpPr>
        <p:spPr>
          <a:xfrm>
            <a:off x="1270000" y="5286895"/>
            <a:ext cx="9296400" cy="707886"/>
          </a:xfrm>
          <a:prstGeom prst="rect">
            <a:avLst/>
          </a:prstGeom>
          <a:noFill/>
        </p:spPr>
        <p:txBody>
          <a:bodyPr wrap="square" rtlCol="0">
            <a:spAutoFit/>
          </a:bodyPr>
          <a:lstStyle/>
          <a:p>
            <a:r>
              <a:rPr lang="en-US" sz="4000" dirty="0"/>
              <a:t>REMEMBER:  Do not lift more than 35 lbs. !</a:t>
            </a:r>
          </a:p>
        </p:txBody>
      </p:sp>
    </p:spTree>
    <p:extLst>
      <p:ext uri="{BB962C8B-B14F-4D97-AF65-F5344CB8AC3E}">
        <p14:creationId xmlns:p14="http://schemas.microsoft.com/office/powerpoint/2010/main" val="3392695437"/>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3">
            <a:extLst>
              <a:ext uri="{FF2B5EF4-FFF2-40B4-BE49-F238E27FC236}">
                <a16:creationId xmlns:a16="http://schemas.microsoft.com/office/drawing/2014/main" id="{CC6B17DF-6246-4045-BEAA-57BA61FB17C3}"/>
              </a:ext>
            </a:extLst>
          </p:cNvPr>
          <p:cNvSpPr>
            <a:spLocks noGrp="1"/>
          </p:cNvSpPr>
          <p:nvPr>
            <p:ph type="sldNum" sz="quarter" idx="12"/>
          </p:nvPr>
        </p:nvSpPr>
        <p:spPr>
          <a:xfrm>
            <a:off x="11704320" y="6455664"/>
            <a:ext cx="448056" cy="365125"/>
          </a:xfrm>
        </p:spPr>
        <p:txBody>
          <a:bodyPr>
            <a:norm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Aft>
                <a:spcPts val="600"/>
              </a:spcAft>
            </a:pPr>
            <a:fld id="{29B9B485-C2A0-4FCE-B714-747C997790CB}" type="slidenum">
              <a:rPr lang="en-US" altLang="en-US" sz="1100">
                <a:solidFill>
                  <a:srgbClr val="FFFFFF"/>
                </a:solidFill>
              </a:rPr>
              <a:pPr>
                <a:spcAft>
                  <a:spcPts val="600"/>
                </a:spcAft>
              </a:pPr>
              <a:t>19</a:t>
            </a:fld>
            <a:endParaRPr lang="en-US" altLang="en-US" sz="1100">
              <a:solidFill>
                <a:srgbClr val="FFFFFF"/>
              </a:solidFill>
            </a:endParaRPr>
          </a:p>
        </p:txBody>
      </p:sp>
      <p:pic>
        <p:nvPicPr>
          <p:cNvPr id="2" name="Picture 1">
            <a:extLst>
              <a:ext uri="{FF2B5EF4-FFF2-40B4-BE49-F238E27FC236}">
                <a16:creationId xmlns:a16="http://schemas.microsoft.com/office/drawing/2014/main" id="{C8637255-AF6B-4014-8742-44DF0C100F9D}"/>
              </a:ext>
            </a:extLst>
          </p:cNvPr>
          <p:cNvPicPr>
            <a:picLocks noChangeAspect="1"/>
          </p:cNvPicPr>
          <p:nvPr/>
        </p:nvPicPr>
        <p:blipFill>
          <a:blip r:embed="rId3"/>
          <a:stretch>
            <a:fillRect/>
          </a:stretch>
        </p:blipFill>
        <p:spPr>
          <a:xfrm>
            <a:off x="1614246" y="832967"/>
            <a:ext cx="9070845" cy="5192066"/>
          </a:xfrm>
          <a:prstGeom prst="rect">
            <a:avLst/>
          </a:prstGeom>
        </p:spPr>
      </p:pic>
    </p:spTree>
  </p:cSld>
  <p:clrMapOvr>
    <a:masterClrMapping/>
  </p:clrMapOvr>
  <p:transition>
    <p:random/>
  </p:transition>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7134</TotalTime>
  <Words>1127</Words>
  <Application>Microsoft Office PowerPoint</Application>
  <PresentationFormat>Widescreen</PresentationFormat>
  <Paragraphs>107</Paragraphs>
  <Slides>19</Slides>
  <Notes>8</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Bookman Old Style</vt:lpstr>
      <vt:lpstr>Calibri</vt:lpstr>
      <vt:lpstr>Calibri Light</vt:lpstr>
      <vt:lpstr>Office Theme</vt:lpstr>
      <vt:lpstr>The Safe Patient Handling and Mobility Program:  How it relates to you and your job</vt:lpstr>
      <vt:lpstr>PowerPoint Presentation</vt:lpstr>
      <vt:lpstr>ANA Presents Safe Patient Handling and Mobility</vt:lpstr>
      <vt:lpstr>VHA Directive</vt:lpstr>
      <vt:lpstr>Why is there a need for a SPHM program?</vt:lpstr>
      <vt:lpstr>Why is there a need for a SPHM program?</vt:lpstr>
      <vt:lpstr>Why are Patient Care Providers at  High Risk?</vt:lpstr>
      <vt:lpstr>Half of Americans will be obese by 2030, if things continue the way they are now. </vt:lpstr>
      <vt:lpstr>Bariatric Patient Handling Statistics</vt:lpstr>
      <vt:lpstr>Why is there a need for a SPHM program?</vt:lpstr>
      <vt:lpstr>What is the VA SPHM Program?</vt:lpstr>
      <vt:lpstr>What is the VA SPHM Program?</vt:lpstr>
      <vt:lpstr>PowerPoint Presentation</vt:lpstr>
      <vt:lpstr> </vt:lpstr>
      <vt:lpstr>PowerPoint Presentation</vt:lpstr>
      <vt:lpstr>PowerPoint Presentation</vt:lpstr>
      <vt:lpstr>Health Care Workers are the ONLY Occupation that Believe 100 pounds is light!</vt:lpstr>
      <vt:lpstr>Take the TIME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Safe Patient Handling and Mobility Program:  How it relates to you and your job</dc:title>
  <dc:creator>Nicoloudis, Paula</dc:creator>
  <cp:lastModifiedBy>Agbogidi, Daniel J.</cp:lastModifiedBy>
  <cp:revision>22</cp:revision>
  <dcterms:created xsi:type="dcterms:W3CDTF">2021-09-21T19:59:03Z</dcterms:created>
  <dcterms:modified xsi:type="dcterms:W3CDTF">2026-09-10T16:52:26Z</dcterms:modified>
</cp:coreProperties>
</file>